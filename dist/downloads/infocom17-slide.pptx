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notesMasterIdLst>
    <p:notesMasterId r:id="rId40"/>
  </p:notesMasterIdLst>
  <p:sldIdLst>
    <p:sldId id="256" r:id="rId2"/>
    <p:sldId id="310" r:id="rId3"/>
    <p:sldId id="261" r:id="rId4"/>
    <p:sldId id="260" r:id="rId5"/>
    <p:sldId id="262" r:id="rId6"/>
    <p:sldId id="263" r:id="rId7"/>
    <p:sldId id="264" r:id="rId8"/>
    <p:sldId id="308" r:id="rId9"/>
    <p:sldId id="317" r:id="rId10"/>
    <p:sldId id="270" r:id="rId11"/>
    <p:sldId id="307" r:id="rId12"/>
    <p:sldId id="312" r:id="rId13"/>
    <p:sldId id="304" r:id="rId14"/>
    <p:sldId id="305" r:id="rId15"/>
    <p:sldId id="306" r:id="rId16"/>
    <p:sldId id="313" r:id="rId17"/>
    <p:sldId id="277" r:id="rId18"/>
    <p:sldId id="278" r:id="rId19"/>
    <p:sldId id="316" r:id="rId20"/>
    <p:sldId id="280" r:id="rId21"/>
    <p:sldId id="281" r:id="rId22"/>
    <p:sldId id="284" r:id="rId23"/>
    <p:sldId id="282" r:id="rId24"/>
    <p:sldId id="314" r:id="rId25"/>
    <p:sldId id="286" r:id="rId26"/>
    <p:sldId id="287" r:id="rId27"/>
    <p:sldId id="288" r:id="rId28"/>
    <p:sldId id="292" r:id="rId29"/>
    <p:sldId id="295" r:id="rId30"/>
    <p:sldId id="293" r:id="rId31"/>
    <p:sldId id="294" r:id="rId32"/>
    <p:sldId id="296" r:id="rId33"/>
    <p:sldId id="297" r:id="rId34"/>
    <p:sldId id="315" r:id="rId35"/>
    <p:sldId id="289" r:id="rId36"/>
    <p:sldId id="298" r:id="rId37"/>
    <p:sldId id="300" r:id="rId38"/>
    <p:sldId id="299" r:id="rId39"/>
  </p:sldIdLst>
  <p:sldSz cx="9144000" cy="6858000" type="screen4x3"/>
  <p:notesSz cx="6858000" cy="9144000"/>
  <p:defaultTextStyle>
    <a:defPPr>
      <a:defRPr lang="zh-CN"/>
    </a:defPPr>
    <a:lvl1pPr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1pPr>
    <a:lvl2pPr marL="4572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2pPr>
    <a:lvl3pPr marL="9144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3pPr>
    <a:lvl4pPr marL="13716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4pPr>
    <a:lvl5pPr marL="1828800" algn="l" rtl="0" eaLnBrk="0" fontAlgn="base" hangingPunct="0">
      <a:spcBef>
        <a:spcPct val="0"/>
      </a:spcBef>
      <a:spcAft>
        <a:spcPct val="0"/>
      </a:spcAft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panose="020B0604020202020204" pitchFamily="34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a registor" initials="ar" lastIdx="1" clrIdx="0">
    <p:extLst>
      <p:ext uri="{19B8F6BF-5375-455C-9EA6-DF929625EA0E}">
        <p15:presenceInfo xmlns:p15="http://schemas.microsoft.com/office/powerpoint/2012/main" userId="4bf493d06ebf7647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47E0A"/>
    <a:srgbClr val="0000FF"/>
    <a:srgbClr val="CCE9AD"/>
    <a:srgbClr val="B6DF89"/>
    <a:srgbClr val="FFFFFF"/>
    <a:srgbClr val="9AFC9F"/>
    <a:srgbClr val="05950C"/>
    <a:srgbClr val="C9C9FF"/>
    <a:srgbClr val="E7B1FD"/>
    <a:srgbClr val="FF979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301" autoAdjust="0"/>
  </p:normalViewPr>
  <p:slideViewPr>
    <p:cSldViewPr snapToGrid="0">
      <p:cViewPr varScale="1">
        <p:scale>
          <a:sx n="68" d="100"/>
          <a:sy n="68" d="100"/>
        </p:scale>
        <p:origin x="1446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Grid="0">
      <p:cViewPr varScale="1">
        <p:scale>
          <a:sx n="87" d="100"/>
          <a:sy n="87" d="100"/>
        </p:scale>
        <p:origin x="384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notesMaster" Target="notesMasters/notesMaster1.xml"/><Relationship Id="rId45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theme" Target="theme/theme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20" Type="http://schemas.openxmlformats.org/officeDocument/2006/relationships/slide" Target="slides/slide19.xml"/><Relationship Id="rId41" Type="http://schemas.openxmlformats.org/officeDocument/2006/relationships/commentAuthors" Target="commentAuthors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1C82D3AA-673C-423C-A23C-37C8B2F2CDC6}" type="doc">
      <dgm:prSet loTypeId="urn:microsoft.com/office/officeart/2005/8/layout/process1" loCatId="process" qsTypeId="urn:microsoft.com/office/officeart/2005/8/quickstyle/simple3" qsCatId="simple" csTypeId="urn:microsoft.com/office/officeart/2005/8/colors/accent1_2" csCatId="accent1" phldr="1"/>
      <dgm:spPr/>
    </dgm:pt>
    <dgm:pt modelId="{2F6DB65B-874E-46B4-80A0-2519961DED46}">
      <dgm:prSet phldrT="[文本]"/>
      <dgm:spPr/>
      <dgm:t>
        <a:bodyPr/>
        <a:lstStyle/>
        <a:p>
          <a:r>
            <a:rPr lang="en-US" altLang="zh-CN" dirty="0" smtClean="0"/>
            <a:t>Batching</a:t>
          </a:r>
          <a:endParaRPr lang="zh-CN" altLang="en-US" dirty="0"/>
        </a:p>
      </dgm:t>
    </dgm:pt>
    <dgm:pt modelId="{0837A760-15B7-40BD-8B0E-DE6D3F1AE453}" type="parTrans" cxnId="{899F7869-1639-4326-BF2D-88C2D059AAD0}">
      <dgm:prSet/>
      <dgm:spPr/>
      <dgm:t>
        <a:bodyPr/>
        <a:lstStyle/>
        <a:p>
          <a:endParaRPr lang="zh-CN" altLang="en-US"/>
        </a:p>
      </dgm:t>
    </dgm:pt>
    <dgm:pt modelId="{21BCE442-F176-4B1E-9406-0B248474D0C5}" type="sibTrans" cxnId="{899F7869-1639-4326-BF2D-88C2D059AAD0}">
      <dgm:prSet/>
      <dgm:spPr/>
      <dgm:t>
        <a:bodyPr/>
        <a:lstStyle/>
        <a:p>
          <a:endParaRPr lang="zh-CN" altLang="en-US"/>
        </a:p>
      </dgm:t>
    </dgm:pt>
    <dgm:pt modelId="{5E8CA3C5-DAB5-415B-8A51-D8665F4DA441}">
      <dgm:prSet phldrT="[文本]"/>
      <dgm:spPr/>
      <dgm:t>
        <a:bodyPr/>
        <a:lstStyle/>
        <a:p>
          <a:r>
            <a:rPr lang="en-US" altLang="zh-CN" dirty="0" smtClean="0"/>
            <a:t>Micro-burst</a:t>
          </a:r>
          <a:endParaRPr lang="zh-CN" altLang="en-US" dirty="0"/>
        </a:p>
      </dgm:t>
    </dgm:pt>
    <dgm:pt modelId="{C78CA2EC-C2C3-4AA6-A2CF-3E8CDAEC3A49}" type="parTrans" cxnId="{DFD28217-2214-4360-9A82-A81BC2E9FD7C}">
      <dgm:prSet/>
      <dgm:spPr/>
      <dgm:t>
        <a:bodyPr/>
        <a:lstStyle/>
        <a:p>
          <a:endParaRPr lang="zh-CN" altLang="en-US"/>
        </a:p>
      </dgm:t>
    </dgm:pt>
    <dgm:pt modelId="{E0DA6476-FBF7-4C1B-8870-D26CF08AC3A0}" type="sibTrans" cxnId="{DFD28217-2214-4360-9A82-A81BC2E9FD7C}">
      <dgm:prSet/>
      <dgm:spPr/>
      <dgm:t>
        <a:bodyPr/>
        <a:lstStyle/>
        <a:p>
          <a:endParaRPr lang="zh-CN" altLang="en-US"/>
        </a:p>
      </dgm:t>
    </dgm:pt>
    <dgm:pt modelId="{34B3228D-1430-4E82-A9D7-673AF6F44C1A}">
      <dgm:prSet phldrT="[文本]"/>
      <dgm:spPr/>
      <dgm:t>
        <a:bodyPr/>
        <a:lstStyle/>
        <a:p>
          <a:r>
            <a:rPr lang="en-US" altLang="zh-CN" dirty="0" smtClean="0"/>
            <a:t>Severe queue length oscillations</a:t>
          </a:r>
          <a:endParaRPr lang="zh-CN" altLang="en-US" dirty="0"/>
        </a:p>
      </dgm:t>
    </dgm:pt>
    <dgm:pt modelId="{681DB212-64A0-44BC-B043-043F6E7B4A86}" type="parTrans" cxnId="{399176DB-475C-4168-807C-C8EE28C28498}">
      <dgm:prSet/>
      <dgm:spPr/>
      <dgm:t>
        <a:bodyPr/>
        <a:lstStyle/>
        <a:p>
          <a:endParaRPr lang="zh-CN" altLang="en-US"/>
        </a:p>
      </dgm:t>
    </dgm:pt>
    <dgm:pt modelId="{5938E49D-3A63-4FA0-8D48-43AC8A8EC47F}" type="sibTrans" cxnId="{399176DB-475C-4168-807C-C8EE28C28498}">
      <dgm:prSet/>
      <dgm:spPr/>
      <dgm:t>
        <a:bodyPr/>
        <a:lstStyle/>
        <a:p>
          <a:endParaRPr lang="zh-CN" altLang="en-US"/>
        </a:p>
      </dgm:t>
    </dgm:pt>
    <dgm:pt modelId="{E35F013E-2B80-43BA-83C0-346BBE61F2A6}">
      <dgm:prSet phldrT="[文本]"/>
      <dgm:spPr/>
      <dgm:t>
        <a:bodyPr/>
        <a:lstStyle/>
        <a:p>
          <a:r>
            <a:rPr lang="en-US" altLang="zh-CN" dirty="0" smtClean="0"/>
            <a:t>Buffer underflow</a:t>
          </a:r>
          <a:endParaRPr lang="zh-CN" altLang="en-US" dirty="0"/>
        </a:p>
      </dgm:t>
    </dgm:pt>
    <dgm:pt modelId="{9C083FE1-A8C5-4A3C-8730-E96032342935}" type="parTrans" cxnId="{C343EE41-57E5-4CC3-A6CE-2C1FBA3F9DE9}">
      <dgm:prSet/>
      <dgm:spPr/>
      <dgm:t>
        <a:bodyPr/>
        <a:lstStyle/>
        <a:p>
          <a:endParaRPr lang="zh-CN" altLang="en-US"/>
        </a:p>
      </dgm:t>
    </dgm:pt>
    <dgm:pt modelId="{B41B8B18-CF14-463D-80AB-EA27AF62C1E1}" type="sibTrans" cxnId="{C343EE41-57E5-4CC3-A6CE-2C1FBA3F9DE9}">
      <dgm:prSet/>
      <dgm:spPr/>
      <dgm:t>
        <a:bodyPr/>
        <a:lstStyle/>
        <a:p>
          <a:endParaRPr lang="zh-CN" altLang="en-US"/>
        </a:p>
      </dgm:t>
    </dgm:pt>
    <dgm:pt modelId="{F9CFBAF4-CA90-4EE0-BAC8-2DACC2875311}">
      <dgm:prSet phldrT="[文本]"/>
      <dgm:spPr/>
      <dgm:t>
        <a:bodyPr/>
        <a:lstStyle/>
        <a:p>
          <a:r>
            <a:rPr lang="en-US" altLang="zh-CN" dirty="0" smtClean="0"/>
            <a:t>Throughput loss</a:t>
          </a:r>
          <a:endParaRPr lang="zh-CN" altLang="en-US" dirty="0"/>
        </a:p>
      </dgm:t>
    </dgm:pt>
    <dgm:pt modelId="{8ED31E3A-932B-44D0-88DF-AC10899C1FBB}" type="parTrans" cxnId="{F4CE08DA-04C6-47F2-814C-2C67C0CA322A}">
      <dgm:prSet/>
      <dgm:spPr/>
      <dgm:t>
        <a:bodyPr/>
        <a:lstStyle/>
        <a:p>
          <a:endParaRPr lang="zh-CN" altLang="en-US"/>
        </a:p>
      </dgm:t>
    </dgm:pt>
    <dgm:pt modelId="{B4EF9D28-8D24-4996-AF35-CCA5416B262F}" type="sibTrans" cxnId="{F4CE08DA-04C6-47F2-814C-2C67C0CA322A}">
      <dgm:prSet/>
      <dgm:spPr/>
      <dgm:t>
        <a:bodyPr/>
        <a:lstStyle/>
        <a:p>
          <a:endParaRPr lang="zh-CN" altLang="en-US"/>
        </a:p>
      </dgm:t>
    </dgm:pt>
    <dgm:pt modelId="{3747B456-8179-4592-B926-F8E3E79CB1C2}" type="pres">
      <dgm:prSet presAssocID="{1C82D3AA-673C-423C-A23C-37C8B2F2CDC6}" presName="Name0" presStyleCnt="0">
        <dgm:presLayoutVars>
          <dgm:dir/>
          <dgm:resizeHandles val="exact"/>
        </dgm:presLayoutVars>
      </dgm:prSet>
      <dgm:spPr/>
    </dgm:pt>
    <dgm:pt modelId="{C297B30D-5AB8-494A-AE05-123B71F4EF68}" type="pres">
      <dgm:prSet presAssocID="{2F6DB65B-874E-46B4-80A0-2519961DED46}" presName="node" presStyleLbl="node1" presStyleIdx="0" presStyleCnt="5" custScaleX="66918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7C0B075C-D43D-4293-BD1B-1786A6A91021}" type="pres">
      <dgm:prSet presAssocID="{21BCE442-F176-4B1E-9406-0B248474D0C5}" presName="sibTrans" presStyleLbl="sibTrans2D1" presStyleIdx="0" presStyleCnt="4"/>
      <dgm:spPr/>
      <dgm:t>
        <a:bodyPr/>
        <a:lstStyle/>
        <a:p>
          <a:endParaRPr lang="zh-CN" altLang="en-US"/>
        </a:p>
      </dgm:t>
    </dgm:pt>
    <dgm:pt modelId="{DA78C9E0-018E-4348-997D-C314F30829BE}" type="pres">
      <dgm:prSet presAssocID="{21BCE442-F176-4B1E-9406-0B248474D0C5}" presName="connectorText" presStyleLbl="sibTrans2D1" presStyleIdx="0" presStyleCnt="4"/>
      <dgm:spPr/>
      <dgm:t>
        <a:bodyPr/>
        <a:lstStyle/>
        <a:p>
          <a:endParaRPr lang="zh-CN" altLang="en-US"/>
        </a:p>
      </dgm:t>
    </dgm:pt>
    <dgm:pt modelId="{8E3D5C30-F6DD-4EF9-A064-1292786A7A53}" type="pres">
      <dgm:prSet presAssocID="{5E8CA3C5-DAB5-415B-8A51-D8665F4DA441}" presName="node" presStyleLbl="node1" presStyleIdx="1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D0E57C2C-A6C0-45CD-8C85-70F725424812}" type="pres">
      <dgm:prSet presAssocID="{E0DA6476-FBF7-4C1B-8870-D26CF08AC3A0}" presName="sibTrans" presStyleLbl="sibTrans2D1" presStyleIdx="1" presStyleCnt="4"/>
      <dgm:spPr/>
      <dgm:t>
        <a:bodyPr/>
        <a:lstStyle/>
        <a:p>
          <a:endParaRPr lang="zh-CN" altLang="en-US"/>
        </a:p>
      </dgm:t>
    </dgm:pt>
    <dgm:pt modelId="{7E3C396A-234D-4A37-B93F-77930F8001A1}" type="pres">
      <dgm:prSet presAssocID="{E0DA6476-FBF7-4C1B-8870-D26CF08AC3A0}" presName="connectorText" presStyleLbl="sibTrans2D1" presStyleIdx="1" presStyleCnt="4"/>
      <dgm:spPr/>
      <dgm:t>
        <a:bodyPr/>
        <a:lstStyle/>
        <a:p>
          <a:endParaRPr lang="zh-CN" altLang="en-US"/>
        </a:p>
      </dgm:t>
    </dgm:pt>
    <dgm:pt modelId="{0FA12307-9AC2-47CB-93E0-1643D8F0C558}" type="pres">
      <dgm:prSet presAssocID="{34B3228D-1430-4E82-A9D7-673AF6F44C1A}" presName="node" presStyleLbl="node1" presStyleIdx="2" presStyleCnt="5" custScaleX="135501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9AA94835-AF0E-498A-B182-27CD57712AC6}" type="pres">
      <dgm:prSet presAssocID="{5938E49D-3A63-4FA0-8D48-43AC8A8EC47F}" presName="sibTrans" presStyleLbl="sibTrans2D1" presStyleIdx="2" presStyleCnt="4"/>
      <dgm:spPr/>
      <dgm:t>
        <a:bodyPr/>
        <a:lstStyle/>
        <a:p>
          <a:endParaRPr lang="zh-CN" altLang="en-US"/>
        </a:p>
      </dgm:t>
    </dgm:pt>
    <dgm:pt modelId="{B546B95B-773A-4658-A825-8F5795B925C4}" type="pres">
      <dgm:prSet presAssocID="{5938E49D-3A63-4FA0-8D48-43AC8A8EC47F}" presName="connectorText" presStyleLbl="sibTrans2D1" presStyleIdx="2" presStyleCnt="4"/>
      <dgm:spPr/>
      <dgm:t>
        <a:bodyPr/>
        <a:lstStyle/>
        <a:p>
          <a:endParaRPr lang="zh-CN" altLang="en-US"/>
        </a:p>
      </dgm:t>
    </dgm:pt>
    <dgm:pt modelId="{C6287DBC-5BB5-4E51-A35C-BCE60E846791}" type="pres">
      <dgm:prSet presAssocID="{E35F013E-2B80-43BA-83C0-346BBE61F2A6}" presName="node" presStyleLbl="node1" presStyleIdx="3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  <dgm:pt modelId="{F4BF6B22-3536-496A-8764-9E21155567A7}" type="pres">
      <dgm:prSet presAssocID="{B41B8B18-CF14-463D-80AB-EA27AF62C1E1}" presName="sibTrans" presStyleLbl="sibTrans2D1" presStyleIdx="3" presStyleCnt="4"/>
      <dgm:spPr/>
      <dgm:t>
        <a:bodyPr/>
        <a:lstStyle/>
        <a:p>
          <a:endParaRPr lang="zh-CN" altLang="en-US"/>
        </a:p>
      </dgm:t>
    </dgm:pt>
    <dgm:pt modelId="{AD2D0501-3CBB-4B64-9A49-BD54BA3F8D21}" type="pres">
      <dgm:prSet presAssocID="{B41B8B18-CF14-463D-80AB-EA27AF62C1E1}" presName="connectorText" presStyleLbl="sibTrans2D1" presStyleIdx="3" presStyleCnt="4"/>
      <dgm:spPr/>
      <dgm:t>
        <a:bodyPr/>
        <a:lstStyle/>
        <a:p>
          <a:endParaRPr lang="zh-CN" altLang="en-US"/>
        </a:p>
      </dgm:t>
    </dgm:pt>
    <dgm:pt modelId="{07EF0A93-6F78-45F3-9150-10ECE81D428C}" type="pres">
      <dgm:prSet presAssocID="{F9CFBAF4-CA90-4EE0-BAC8-2DACC2875311}" presName="node" presStyleLbl="node1" presStyleIdx="4" presStyleCnt="5">
        <dgm:presLayoutVars>
          <dgm:bulletEnabled val="1"/>
        </dgm:presLayoutVars>
      </dgm:prSet>
      <dgm:spPr/>
      <dgm:t>
        <a:bodyPr/>
        <a:lstStyle/>
        <a:p>
          <a:endParaRPr lang="zh-CN" altLang="en-US"/>
        </a:p>
      </dgm:t>
    </dgm:pt>
  </dgm:ptLst>
  <dgm:cxnLst>
    <dgm:cxn modelId="{0A0BFB97-9A1C-471E-96EE-7BE1103A7338}" type="presOf" srcId="{E0DA6476-FBF7-4C1B-8870-D26CF08AC3A0}" destId="{7E3C396A-234D-4A37-B93F-77930F8001A1}" srcOrd="1" destOrd="0" presId="urn:microsoft.com/office/officeart/2005/8/layout/process1"/>
    <dgm:cxn modelId="{1B13741D-4604-46D4-A171-E9C1488F4E58}" type="presOf" srcId="{5E8CA3C5-DAB5-415B-8A51-D8665F4DA441}" destId="{8E3D5C30-F6DD-4EF9-A064-1292786A7A53}" srcOrd="0" destOrd="0" presId="urn:microsoft.com/office/officeart/2005/8/layout/process1"/>
    <dgm:cxn modelId="{2E3FBA11-EC8A-4F1A-9E59-91A36825EA56}" type="presOf" srcId="{5938E49D-3A63-4FA0-8D48-43AC8A8EC47F}" destId="{9AA94835-AF0E-498A-B182-27CD57712AC6}" srcOrd="0" destOrd="0" presId="urn:microsoft.com/office/officeart/2005/8/layout/process1"/>
    <dgm:cxn modelId="{9B837760-E1FB-49E6-B411-3353EFFFB8B0}" type="presOf" srcId="{F9CFBAF4-CA90-4EE0-BAC8-2DACC2875311}" destId="{07EF0A93-6F78-45F3-9150-10ECE81D428C}" srcOrd="0" destOrd="0" presId="urn:microsoft.com/office/officeart/2005/8/layout/process1"/>
    <dgm:cxn modelId="{955C145E-08AD-4077-A23C-4F26952E8D9D}" type="presOf" srcId="{B41B8B18-CF14-463D-80AB-EA27AF62C1E1}" destId="{AD2D0501-3CBB-4B64-9A49-BD54BA3F8D21}" srcOrd="1" destOrd="0" presId="urn:microsoft.com/office/officeart/2005/8/layout/process1"/>
    <dgm:cxn modelId="{A1F3A9BB-DB13-4A13-B044-1A25434033E0}" type="presOf" srcId="{E35F013E-2B80-43BA-83C0-346BBE61F2A6}" destId="{C6287DBC-5BB5-4E51-A35C-BCE60E846791}" srcOrd="0" destOrd="0" presId="urn:microsoft.com/office/officeart/2005/8/layout/process1"/>
    <dgm:cxn modelId="{899F7869-1639-4326-BF2D-88C2D059AAD0}" srcId="{1C82D3AA-673C-423C-A23C-37C8B2F2CDC6}" destId="{2F6DB65B-874E-46B4-80A0-2519961DED46}" srcOrd="0" destOrd="0" parTransId="{0837A760-15B7-40BD-8B0E-DE6D3F1AE453}" sibTransId="{21BCE442-F176-4B1E-9406-0B248474D0C5}"/>
    <dgm:cxn modelId="{D619E50E-8C3D-4E35-80F4-B1E3F7ABD517}" type="presOf" srcId="{E0DA6476-FBF7-4C1B-8870-D26CF08AC3A0}" destId="{D0E57C2C-A6C0-45CD-8C85-70F725424812}" srcOrd="0" destOrd="0" presId="urn:microsoft.com/office/officeart/2005/8/layout/process1"/>
    <dgm:cxn modelId="{2DBD33EF-B161-4A8E-9F85-3146F347D3FD}" type="presOf" srcId="{B41B8B18-CF14-463D-80AB-EA27AF62C1E1}" destId="{F4BF6B22-3536-496A-8764-9E21155567A7}" srcOrd="0" destOrd="0" presId="urn:microsoft.com/office/officeart/2005/8/layout/process1"/>
    <dgm:cxn modelId="{C343EE41-57E5-4CC3-A6CE-2C1FBA3F9DE9}" srcId="{1C82D3AA-673C-423C-A23C-37C8B2F2CDC6}" destId="{E35F013E-2B80-43BA-83C0-346BBE61F2A6}" srcOrd="3" destOrd="0" parTransId="{9C083FE1-A8C5-4A3C-8730-E96032342935}" sibTransId="{B41B8B18-CF14-463D-80AB-EA27AF62C1E1}"/>
    <dgm:cxn modelId="{F4CE08DA-04C6-47F2-814C-2C67C0CA322A}" srcId="{1C82D3AA-673C-423C-A23C-37C8B2F2CDC6}" destId="{F9CFBAF4-CA90-4EE0-BAC8-2DACC2875311}" srcOrd="4" destOrd="0" parTransId="{8ED31E3A-932B-44D0-88DF-AC10899C1FBB}" sibTransId="{B4EF9D28-8D24-4996-AF35-CCA5416B262F}"/>
    <dgm:cxn modelId="{399176DB-475C-4168-807C-C8EE28C28498}" srcId="{1C82D3AA-673C-423C-A23C-37C8B2F2CDC6}" destId="{34B3228D-1430-4E82-A9D7-673AF6F44C1A}" srcOrd="2" destOrd="0" parTransId="{681DB212-64A0-44BC-B043-043F6E7B4A86}" sibTransId="{5938E49D-3A63-4FA0-8D48-43AC8A8EC47F}"/>
    <dgm:cxn modelId="{DFD28217-2214-4360-9A82-A81BC2E9FD7C}" srcId="{1C82D3AA-673C-423C-A23C-37C8B2F2CDC6}" destId="{5E8CA3C5-DAB5-415B-8A51-D8665F4DA441}" srcOrd="1" destOrd="0" parTransId="{C78CA2EC-C2C3-4AA6-A2CF-3E8CDAEC3A49}" sibTransId="{E0DA6476-FBF7-4C1B-8870-D26CF08AC3A0}"/>
    <dgm:cxn modelId="{85473B6D-7ECB-4F3B-8A4D-91A758362C11}" type="presOf" srcId="{5938E49D-3A63-4FA0-8D48-43AC8A8EC47F}" destId="{B546B95B-773A-4658-A825-8F5795B925C4}" srcOrd="1" destOrd="0" presId="urn:microsoft.com/office/officeart/2005/8/layout/process1"/>
    <dgm:cxn modelId="{85517611-AE91-4A0A-81C9-7934FA6A429A}" type="presOf" srcId="{1C82D3AA-673C-423C-A23C-37C8B2F2CDC6}" destId="{3747B456-8179-4592-B926-F8E3E79CB1C2}" srcOrd="0" destOrd="0" presId="urn:microsoft.com/office/officeart/2005/8/layout/process1"/>
    <dgm:cxn modelId="{732C3412-F46C-4A87-A6E6-C7AE95ACF6E5}" type="presOf" srcId="{21BCE442-F176-4B1E-9406-0B248474D0C5}" destId="{DA78C9E0-018E-4348-997D-C314F30829BE}" srcOrd="1" destOrd="0" presId="urn:microsoft.com/office/officeart/2005/8/layout/process1"/>
    <dgm:cxn modelId="{4D3990BF-F8FF-412B-85DD-7EF5E0AD7B93}" type="presOf" srcId="{2F6DB65B-874E-46B4-80A0-2519961DED46}" destId="{C297B30D-5AB8-494A-AE05-123B71F4EF68}" srcOrd="0" destOrd="0" presId="urn:microsoft.com/office/officeart/2005/8/layout/process1"/>
    <dgm:cxn modelId="{A5A04DB4-88A1-4596-8F60-504897D4089E}" type="presOf" srcId="{34B3228D-1430-4E82-A9D7-673AF6F44C1A}" destId="{0FA12307-9AC2-47CB-93E0-1643D8F0C558}" srcOrd="0" destOrd="0" presId="urn:microsoft.com/office/officeart/2005/8/layout/process1"/>
    <dgm:cxn modelId="{1CBB2693-B569-47B0-9C0E-A4F8CA82CE38}" type="presOf" srcId="{21BCE442-F176-4B1E-9406-0B248474D0C5}" destId="{7C0B075C-D43D-4293-BD1B-1786A6A91021}" srcOrd="0" destOrd="0" presId="urn:microsoft.com/office/officeart/2005/8/layout/process1"/>
    <dgm:cxn modelId="{BE89A79A-42AA-4781-89CF-CC3AB3E5ED6D}" type="presParOf" srcId="{3747B456-8179-4592-B926-F8E3E79CB1C2}" destId="{C297B30D-5AB8-494A-AE05-123B71F4EF68}" srcOrd="0" destOrd="0" presId="urn:microsoft.com/office/officeart/2005/8/layout/process1"/>
    <dgm:cxn modelId="{31ABD77A-D6F6-4EAE-8DE7-84526351FC87}" type="presParOf" srcId="{3747B456-8179-4592-B926-F8E3E79CB1C2}" destId="{7C0B075C-D43D-4293-BD1B-1786A6A91021}" srcOrd="1" destOrd="0" presId="urn:microsoft.com/office/officeart/2005/8/layout/process1"/>
    <dgm:cxn modelId="{F8B09E1F-22E5-4377-BAD0-AA206EE9A702}" type="presParOf" srcId="{7C0B075C-D43D-4293-BD1B-1786A6A91021}" destId="{DA78C9E0-018E-4348-997D-C314F30829BE}" srcOrd="0" destOrd="0" presId="urn:microsoft.com/office/officeart/2005/8/layout/process1"/>
    <dgm:cxn modelId="{B15FD4BB-3FF8-4A27-9B1E-ED4AAF664DC7}" type="presParOf" srcId="{3747B456-8179-4592-B926-F8E3E79CB1C2}" destId="{8E3D5C30-F6DD-4EF9-A064-1292786A7A53}" srcOrd="2" destOrd="0" presId="urn:microsoft.com/office/officeart/2005/8/layout/process1"/>
    <dgm:cxn modelId="{4FD86C0F-6E81-4658-A985-E2D91D57D4FA}" type="presParOf" srcId="{3747B456-8179-4592-B926-F8E3E79CB1C2}" destId="{D0E57C2C-A6C0-45CD-8C85-70F725424812}" srcOrd="3" destOrd="0" presId="urn:microsoft.com/office/officeart/2005/8/layout/process1"/>
    <dgm:cxn modelId="{1EC7DF12-0169-458D-A9A0-A8BFAA946989}" type="presParOf" srcId="{D0E57C2C-A6C0-45CD-8C85-70F725424812}" destId="{7E3C396A-234D-4A37-B93F-77930F8001A1}" srcOrd="0" destOrd="0" presId="urn:microsoft.com/office/officeart/2005/8/layout/process1"/>
    <dgm:cxn modelId="{8EF46E69-BB5D-4B8D-9B2B-D5F38FF37305}" type="presParOf" srcId="{3747B456-8179-4592-B926-F8E3E79CB1C2}" destId="{0FA12307-9AC2-47CB-93E0-1643D8F0C558}" srcOrd="4" destOrd="0" presId="urn:microsoft.com/office/officeart/2005/8/layout/process1"/>
    <dgm:cxn modelId="{3A458B0B-5ED9-4A64-A54F-C0ABB2B193D6}" type="presParOf" srcId="{3747B456-8179-4592-B926-F8E3E79CB1C2}" destId="{9AA94835-AF0E-498A-B182-27CD57712AC6}" srcOrd="5" destOrd="0" presId="urn:microsoft.com/office/officeart/2005/8/layout/process1"/>
    <dgm:cxn modelId="{DA6C0A91-D195-48DE-A6B9-D82F323E91A3}" type="presParOf" srcId="{9AA94835-AF0E-498A-B182-27CD57712AC6}" destId="{B546B95B-773A-4658-A825-8F5795B925C4}" srcOrd="0" destOrd="0" presId="urn:microsoft.com/office/officeart/2005/8/layout/process1"/>
    <dgm:cxn modelId="{4AB711DF-9EB9-4938-B1EF-92D06B59F384}" type="presParOf" srcId="{3747B456-8179-4592-B926-F8E3E79CB1C2}" destId="{C6287DBC-5BB5-4E51-A35C-BCE60E846791}" srcOrd="6" destOrd="0" presId="urn:microsoft.com/office/officeart/2005/8/layout/process1"/>
    <dgm:cxn modelId="{02E465D1-784F-4C6C-A92D-60227BD06E9A}" type="presParOf" srcId="{3747B456-8179-4592-B926-F8E3E79CB1C2}" destId="{F4BF6B22-3536-496A-8764-9E21155567A7}" srcOrd="7" destOrd="0" presId="urn:microsoft.com/office/officeart/2005/8/layout/process1"/>
    <dgm:cxn modelId="{1F2E48D9-20F2-45BE-AE3E-53A246B3270A}" type="presParOf" srcId="{F4BF6B22-3536-496A-8764-9E21155567A7}" destId="{AD2D0501-3CBB-4B64-9A49-BD54BA3F8D21}" srcOrd="0" destOrd="0" presId="urn:microsoft.com/office/officeart/2005/8/layout/process1"/>
    <dgm:cxn modelId="{4290413A-A7F6-481D-AA55-4D09DF72F9BA}" type="presParOf" srcId="{3747B456-8179-4592-B926-F8E3E79CB1C2}" destId="{07EF0A93-6F78-45F3-9150-10ECE81D428C}" srcOrd="8" destOrd="0" presId="urn:microsoft.com/office/officeart/2005/8/layout/process1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C297B30D-5AB8-494A-AE05-123B71F4EF68}">
      <dsp:nvSpPr>
        <dsp:cNvPr id="0" name=""/>
        <dsp:cNvSpPr/>
      </dsp:nvSpPr>
      <dsp:spPr>
        <a:xfrm>
          <a:off x="2356" y="396084"/>
          <a:ext cx="866202" cy="776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Batching</a:t>
          </a:r>
          <a:endParaRPr lang="zh-CN" altLang="en-US" sz="1300" kern="1200" dirty="0"/>
        </a:p>
      </dsp:txBody>
      <dsp:txXfrm>
        <a:off x="25103" y="418831"/>
        <a:ext cx="820708" cy="731160"/>
      </dsp:txXfrm>
    </dsp:sp>
    <dsp:sp modelId="{7C0B075C-D43D-4293-BD1B-1786A6A91021}">
      <dsp:nvSpPr>
        <dsp:cNvPr id="0" name=""/>
        <dsp:cNvSpPr/>
      </dsp:nvSpPr>
      <dsp:spPr>
        <a:xfrm>
          <a:off x="998001" y="623903"/>
          <a:ext cx="274417" cy="3210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>
        <a:off x="998001" y="688106"/>
        <a:ext cx="192092" cy="192611"/>
      </dsp:txXfrm>
    </dsp:sp>
    <dsp:sp modelId="{8E3D5C30-F6DD-4EF9-A064-1292786A7A53}">
      <dsp:nvSpPr>
        <dsp:cNvPr id="0" name=""/>
        <dsp:cNvSpPr/>
      </dsp:nvSpPr>
      <dsp:spPr>
        <a:xfrm>
          <a:off x="1386328" y="396084"/>
          <a:ext cx="1294423" cy="776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Micro-burst</a:t>
          </a:r>
          <a:endParaRPr lang="zh-CN" altLang="en-US" sz="1300" kern="1200" dirty="0"/>
        </a:p>
      </dsp:txBody>
      <dsp:txXfrm>
        <a:off x="1409075" y="418831"/>
        <a:ext cx="1248929" cy="731160"/>
      </dsp:txXfrm>
    </dsp:sp>
    <dsp:sp modelId="{D0E57C2C-A6C0-45CD-8C85-70F725424812}">
      <dsp:nvSpPr>
        <dsp:cNvPr id="0" name=""/>
        <dsp:cNvSpPr/>
      </dsp:nvSpPr>
      <dsp:spPr>
        <a:xfrm>
          <a:off x="2810195" y="623903"/>
          <a:ext cx="274417" cy="3210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>
        <a:off x="2810195" y="688106"/>
        <a:ext cx="192092" cy="192611"/>
      </dsp:txXfrm>
    </dsp:sp>
    <dsp:sp modelId="{0FA12307-9AC2-47CB-93E0-1643D8F0C558}">
      <dsp:nvSpPr>
        <dsp:cNvPr id="0" name=""/>
        <dsp:cNvSpPr/>
      </dsp:nvSpPr>
      <dsp:spPr>
        <a:xfrm>
          <a:off x="3198522" y="396084"/>
          <a:ext cx="1753957" cy="776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Severe queue length oscillations</a:t>
          </a:r>
          <a:endParaRPr lang="zh-CN" altLang="en-US" sz="1300" kern="1200" dirty="0"/>
        </a:p>
      </dsp:txBody>
      <dsp:txXfrm>
        <a:off x="3221269" y="418831"/>
        <a:ext cx="1708463" cy="731160"/>
      </dsp:txXfrm>
    </dsp:sp>
    <dsp:sp modelId="{9AA94835-AF0E-498A-B182-27CD57712AC6}">
      <dsp:nvSpPr>
        <dsp:cNvPr id="0" name=""/>
        <dsp:cNvSpPr/>
      </dsp:nvSpPr>
      <dsp:spPr>
        <a:xfrm>
          <a:off x="5081921" y="623903"/>
          <a:ext cx="274417" cy="3210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>
        <a:off x="5081921" y="688106"/>
        <a:ext cx="192092" cy="192611"/>
      </dsp:txXfrm>
    </dsp:sp>
    <dsp:sp modelId="{C6287DBC-5BB5-4E51-A35C-BCE60E846791}">
      <dsp:nvSpPr>
        <dsp:cNvPr id="0" name=""/>
        <dsp:cNvSpPr/>
      </dsp:nvSpPr>
      <dsp:spPr>
        <a:xfrm>
          <a:off x="5470248" y="396084"/>
          <a:ext cx="1294423" cy="776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Buffer underflow</a:t>
          </a:r>
          <a:endParaRPr lang="zh-CN" altLang="en-US" sz="1300" kern="1200" dirty="0"/>
        </a:p>
      </dsp:txBody>
      <dsp:txXfrm>
        <a:off x="5492995" y="418831"/>
        <a:ext cx="1248929" cy="731160"/>
      </dsp:txXfrm>
    </dsp:sp>
    <dsp:sp modelId="{F4BF6B22-3536-496A-8764-9E21155567A7}">
      <dsp:nvSpPr>
        <dsp:cNvPr id="0" name=""/>
        <dsp:cNvSpPr/>
      </dsp:nvSpPr>
      <dsp:spPr>
        <a:xfrm>
          <a:off x="6894115" y="623903"/>
          <a:ext cx="274417" cy="321017"/>
        </a:xfrm>
        <a:prstGeom prst="rightArrow">
          <a:avLst>
            <a:gd name="adj1" fmla="val 60000"/>
            <a:gd name="adj2" fmla="val 50000"/>
          </a:avLst>
        </a:prstGeom>
        <a:gradFill rotWithShape="0">
          <a:gsLst>
            <a:gs pos="0">
              <a:schemeClr val="accent1">
                <a:tint val="60000"/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tint val="60000"/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tint val="60000"/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lvl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endParaRPr lang="zh-CN" altLang="en-US" sz="1100" kern="1200"/>
        </a:p>
      </dsp:txBody>
      <dsp:txXfrm>
        <a:off x="6894115" y="688106"/>
        <a:ext cx="192092" cy="192611"/>
      </dsp:txXfrm>
    </dsp:sp>
    <dsp:sp modelId="{07EF0A93-6F78-45F3-9150-10ECE81D428C}">
      <dsp:nvSpPr>
        <dsp:cNvPr id="0" name=""/>
        <dsp:cNvSpPr/>
      </dsp:nvSpPr>
      <dsp:spPr>
        <a:xfrm>
          <a:off x="7282442" y="396084"/>
          <a:ext cx="1294423" cy="776654"/>
        </a:xfrm>
        <a:prstGeom prst="roundRect">
          <a:avLst>
            <a:gd name="adj" fmla="val 10000"/>
          </a:avLst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>
          <a:noFill/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49530" tIns="49530" rIns="49530" bIns="49530" numCol="1" spcCol="1270" anchor="ctr" anchorCtr="0">
          <a:noAutofit/>
        </a:bodyPr>
        <a:lstStyle/>
        <a:p>
          <a:pPr lvl="0" algn="ctr" defTabSz="577850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en-US" altLang="zh-CN" sz="1300" kern="1200" dirty="0" smtClean="0"/>
            <a:t>Throughput loss</a:t>
          </a:r>
          <a:endParaRPr lang="zh-CN" altLang="en-US" sz="1300" kern="1200" dirty="0"/>
        </a:p>
      </dsp:txBody>
      <dsp:txXfrm>
        <a:off x="7305189" y="418831"/>
        <a:ext cx="1248929" cy="73116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1">
  <dgm:title val=""/>
  <dgm:desc val=""/>
  <dgm:catLst>
    <dgm:cat type="process" pri="1000"/>
    <dgm:cat type="convert" pri="15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Name0">
    <dgm:varLst>
      <dgm:dir/>
      <dgm:resizeHandles val="exact"/>
    </dgm:varLst>
    <dgm:choose name="Name1">
      <dgm:if name="Name2" func="var" arg="dir" op="equ" val="norm">
        <dgm:alg type="lin"/>
      </dgm:if>
      <dgm:else name="Name3">
        <dgm:alg type="lin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ch" ptType="node" refType="w"/>
      <dgm:constr type="h" for="ch" ptType="node" op="equ"/>
      <dgm:constr type="primFontSz" for="ch" ptType="node" op="equ" val="65"/>
      <dgm:constr type="w" for="ch" ptType="sibTrans" refType="w" refFor="ch" refPtType="node" op="equ" fact="0.4"/>
      <dgm:constr type="h" for="ch" ptType="sibTrans" op="equ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alg type="tx"/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h" refType="w" fact="0.6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h" val="NaN" fact="1.5" max="NaN"/>
          <dgm:rule type="primFontSz" val="5" fact="NaN" max="NaN"/>
          <dgm:rule type="h" val="INF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h" refType="w" fact="0.62"/>
            <dgm:constr type="connDist"/>
            <dgm:constr type="begPad" refType="connDist" fact="0.25"/>
            <dgm:constr type="endPad" refType="connDist" fact="0.22"/>
          </dgm:constrLst>
          <dgm:ruleLst/>
          <dgm:layoutNode name="connectorText">
            <dgm:alg type="tx">
              <dgm:param type="autoTxRot" val="grav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37C0120-2545-4CAF-BC3D-7EF98F6CB98E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71600" y="1143000"/>
            <a:ext cx="41148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CF6DB3-C525-4A34-A9B3-823515205B74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7460687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8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9.xml"/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0.xml"/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1.xml"/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Hi,</a:t>
            </a:r>
            <a:r>
              <a:rPr lang="en-US" altLang="zh-CN" baseline="0" dirty="0" smtClean="0"/>
              <a:t> all. I’m </a:t>
            </a:r>
            <a:r>
              <a:rPr lang="en-US" altLang="zh-CN" baseline="0" dirty="0" err="1" smtClean="0"/>
              <a:t>Danfeng</a:t>
            </a:r>
            <a:r>
              <a:rPr lang="en-US" altLang="zh-CN" baseline="0" dirty="0" smtClean="0"/>
              <a:t> Shan, from Tsinghua University.</a:t>
            </a:r>
          </a:p>
          <a:p>
            <a:r>
              <a:rPr lang="en-US" altLang="zh-CN" baseline="0" dirty="0" smtClean="0"/>
              <a:t>Today, I’m going to share our recent work, ….., This is a joint work with my advisor </a:t>
            </a:r>
            <a:r>
              <a:rPr lang="en-US" altLang="zh-CN" baseline="0" dirty="0" err="1" smtClean="0"/>
              <a:t>Fengyuan</a:t>
            </a:r>
            <a:r>
              <a:rPr lang="en-US" altLang="zh-CN" baseline="0" dirty="0" smtClean="0"/>
              <a:t> Ren.</a:t>
            </a:r>
          </a:p>
          <a:p>
            <a:endParaRPr lang="en-US" altLang="zh-CN" baseline="0" dirty="0" smtClean="0"/>
          </a:p>
          <a:p>
            <a:r>
              <a:rPr lang="zh-CN" altLang="en-US" baseline="0" dirty="0" smtClean="0"/>
              <a:t>轮廓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4163253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First, let’s talk about</a:t>
            </a:r>
            <a:r>
              <a:rPr lang="en-US" altLang="zh-CN" baseline="0" dirty="0" smtClean="0"/>
              <a:t> the background of our work.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294455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Data</a:t>
            </a:r>
            <a:r>
              <a:rPr lang="en-US" altLang="zh-CN" baseline="0" dirty="0" smtClean="0"/>
              <a:t> center is not a new topic.</a:t>
            </a:r>
          </a:p>
          <a:p>
            <a:r>
              <a:rPr lang="en-US" altLang="zh-CN" baseline="0" dirty="0" smtClean="0"/>
              <a:t>There are many distributed applications deployed in it. Some applications require high throughput, and some requires low latency.</a:t>
            </a:r>
          </a:p>
          <a:p>
            <a:r>
              <a:rPr lang="en-US" altLang="zh-CN" baseline="0" dirty="0" smtClean="0"/>
              <a:t>Because of these distributed applications, the traffic inside the data centers is growing. As is shown in this figure, the traffic has increased by 50 times in 6 years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9577065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To support the diverse applications</a:t>
            </a:r>
            <a:r>
              <a:rPr lang="en-US" altLang="zh-CN" baseline="0" dirty="0" smtClean="0"/>
              <a:t> and growing traffic, the data center architecture has increased from 1/10Gbps to 10/40Gbps. And 100Gbps </a:t>
            </a:r>
            <a:r>
              <a:rPr lang="en-US" altLang="zh-CN" baseline="0" dirty="0" err="1" smtClean="0"/>
              <a:t>nework</a:t>
            </a:r>
            <a:r>
              <a:rPr lang="en-US" altLang="zh-CN" baseline="0" dirty="0" smtClean="0"/>
              <a:t> is ongoing.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74509593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With such a high link rate, the CPU in a host will spend</a:t>
            </a:r>
            <a:r>
              <a:rPr lang="en-US" altLang="zh-CN" baseline="0" dirty="0" smtClean="0"/>
              <a:t> much more time in packet processing.</a:t>
            </a:r>
          </a:p>
          <a:p>
            <a:r>
              <a:rPr lang="en-US" altLang="zh-CN" baseline="0" dirty="0" smtClean="0"/>
              <a:t>Therefore, lots of batching schemes are introduced, like large segment offload, receive side offload, interrupt coalescing, jumbo frame and so on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47556082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On the other hand, inside the</a:t>
            </a:r>
            <a:r>
              <a:rPr lang="en-US" altLang="zh-CN" baseline="0" dirty="0" smtClean="0"/>
              <a:t> network,</a:t>
            </a:r>
            <a:r>
              <a:rPr lang="en-US" altLang="zh-CN" dirty="0" smtClean="0"/>
              <a:t> to</a:t>
            </a:r>
            <a:r>
              <a:rPr lang="en-US" altLang="zh-CN" baseline="0" dirty="0" smtClean="0"/>
              <a:t> achieve low latency and high throughput at the same time,</a:t>
            </a:r>
          </a:p>
          <a:p>
            <a:r>
              <a:rPr lang="en-US" altLang="zh-CN" baseline="0" dirty="0" smtClean="0"/>
              <a:t>ECN is used by many data center transports, like</a:t>
            </a:r>
          </a:p>
          <a:p>
            <a:r>
              <a:rPr lang="en-US" altLang="zh-CN" baseline="0" dirty="0" smtClean="0"/>
              <a:t>ECN works as follows, at sender, the </a:t>
            </a:r>
            <a:r>
              <a:rPr lang="en-US" altLang="zh-CN" baseline="0" dirty="0" err="1" smtClean="0"/>
              <a:t>cwnd</a:t>
            </a:r>
            <a:r>
              <a:rPr lang="en-US" altLang="zh-CN" baseline="0" dirty="0" smtClean="0"/>
              <a:t> will increase for 1 packet for each RTT</a:t>
            </a:r>
          </a:p>
          <a:p>
            <a:r>
              <a:rPr lang="en-US" altLang="zh-CN" baseline="0" dirty="0" smtClean="0"/>
              <a:t>When </a:t>
            </a:r>
            <a:r>
              <a:rPr lang="en-US" altLang="zh-CN" baseline="0" dirty="0" err="1" smtClean="0"/>
              <a:t>qlen</a:t>
            </a:r>
            <a:r>
              <a:rPr lang="en-US" altLang="zh-CN" baseline="0" dirty="0" smtClean="0"/>
              <a:t> is larger than a CEN threshold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896203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Previously, we assume that there is without traffic burst in the network.</a:t>
            </a:r>
          </a:p>
          <a:p>
            <a:r>
              <a:rPr lang="en-US" altLang="zh-CN" baseline="0" dirty="0" smtClean="0"/>
              <a:t>Recall that a host in high-speed data centers has many batching schemes to support high sending rate.</a:t>
            </a:r>
          </a:p>
          <a:p>
            <a:r>
              <a:rPr lang="en-US" altLang="zh-CN" baseline="0" dirty="0" smtClean="0"/>
              <a:t>These batching schemes will introduce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 traffic into network. (We call these bursts micro-burst, because these traffic burst is in sub-RTT </a:t>
            </a:r>
            <a:r>
              <a:rPr lang="en-US" altLang="zh-CN" baseline="0" dirty="0" err="1" smtClean="0"/>
              <a:t>leve</a:t>
            </a:r>
            <a:r>
              <a:rPr lang="en-US" altLang="zh-CN" baseline="0" dirty="0" smtClean="0"/>
              <a:t>.)</a:t>
            </a:r>
          </a:p>
          <a:p>
            <a:r>
              <a:rPr lang="en-US" altLang="zh-CN" baseline="0" dirty="0" smtClean="0"/>
              <a:t>So what will happens if the traffic is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30260832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With traffic</a:t>
            </a:r>
            <a:r>
              <a:rPr lang="en-US" altLang="zh-CN" baseline="0" dirty="0" smtClean="0"/>
              <a:t> bursts in the network, the queue length evolution is not smooth.</a:t>
            </a:r>
          </a:p>
          <a:p>
            <a:r>
              <a:rPr lang="en-US" altLang="zh-CN" baseline="0" dirty="0" smtClean="0"/>
              <a:t>The queue length will fluctuate, and the queue length will oscillates severely.</a:t>
            </a:r>
          </a:p>
          <a:p>
            <a:r>
              <a:rPr lang="en-US" altLang="zh-CN" baseline="0" dirty="0" smtClean="0"/>
              <a:t>What’s more, ECN threshold is usually very low to decrease low queueing latency.</a:t>
            </a:r>
          </a:p>
          <a:p>
            <a:r>
              <a:rPr lang="en-US" altLang="zh-CN" baseline="0" dirty="0" smtClean="0"/>
              <a:t>As a result, if we set ECN threshold so low that the minimum queue length is near 0, then there will be buffer underflow.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737297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We</a:t>
            </a:r>
            <a:r>
              <a:rPr lang="en-US" altLang="zh-CN" baseline="0" dirty="0" smtClean="0"/>
              <a:t> conduct experiments and simulations to show this problem.</a:t>
            </a:r>
          </a:p>
          <a:p>
            <a:r>
              <a:rPr lang="en-US" altLang="zh-CN" baseline="0" dirty="0" smtClean="0"/>
              <a:t>In the experiment, two senders and one receiver is connected to a </a:t>
            </a:r>
            <a:r>
              <a:rPr lang="en-US" altLang="zh-CN" baseline="0" dirty="0" err="1" smtClean="0"/>
              <a:t>NetFPGA</a:t>
            </a:r>
            <a:r>
              <a:rPr lang="en-US" altLang="zh-CN" baseline="0" dirty="0" smtClean="0"/>
              <a:t>-based switch.</a:t>
            </a:r>
          </a:p>
          <a:p>
            <a:r>
              <a:rPr lang="en-US" altLang="zh-CN" baseline="0" dirty="0" smtClean="0"/>
              <a:t>Two long-lived flows are from two senders, respectively, and to the same receiver.</a:t>
            </a:r>
          </a:p>
          <a:p>
            <a:r>
              <a:rPr lang="en-US" altLang="zh-CN" baseline="0" dirty="0" smtClean="0"/>
              <a:t>The bottom two figures show the bottleneck queue length evolution in the switch.</a:t>
            </a:r>
          </a:p>
          <a:p>
            <a:r>
              <a:rPr lang="en-US" altLang="zh-CN" baseline="0" dirty="0" smtClean="0"/>
              <a:t>The left figure shows the queue length evolution with ECN* protocol.</a:t>
            </a:r>
          </a:p>
          <a:p>
            <a:r>
              <a:rPr lang="en-US" altLang="zh-CN" baseline="0" dirty="0" smtClean="0"/>
              <a:t>the red line denotes the queue length evolution when TSO is turned off, and the green line denotes the queue length evolution when TSO is turned on.</a:t>
            </a:r>
          </a:p>
          <a:p>
            <a:r>
              <a:rPr lang="en-US" altLang="zh-CN" baseline="0" dirty="0" smtClean="0"/>
              <a:t>As is shown in this figure, the queue length is severely oscillating. And buffer can underflow.</a:t>
            </a:r>
          </a:p>
          <a:p>
            <a:r>
              <a:rPr lang="en-US" altLang="zh-CN" baseline="0" dirty="0" smtClean="0"/>
              <a:t>The right figure shows queue length evolution with DCTCP protocol.</a:t>
            </a:r>
          </a:p>
          <a:p>
            <a:r>
              <a:rPr lang="en-US" altLang="zh-CN" baseline="0" dirty="0" smtClean="0"/>
              <a:t>As is shown in the figure, with TSO, the amplitude of queue length is three times larger than the amplitude of queue length oscillations without TSO.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69771042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We also conduct simulations in 10Gbps networks.</a:t>
            </a:r>
          </a:p>
          <a:p>
            <a:r>
              <a:rPr lang="en-US" altLang="zh-CN" dirty="0" smtClean="0"/>
              <a:t>The</a:t>
            </a:r>
            <a:r>
              <a:rPr lang="en-US" altLang="zh-CN" baseline="0" dirty="0" smtClean="0"/>
              <a:t> topology is the same as that in experiments except that link rates is 10Gbps.</a:t>
            </a:r>
          </a:p>
          <a:p>
            <a:r>
              <a:rPr lang="en-US" altLang="zh-CN" baseline="0" dirty="0" smtClean="0"/>
              <a:t>The figures shows the total throughput under different ECN threshold settings.</a:t>
            </a:r>
          </a:p>
          <a:p>
            <a:r>
              <a:rPr lang="en-US" altLang="zh-CN" baseline="0" dirty="0" smtClean="0"/>
              <a:t>When we use the recommended ECN threshold settings, there are 127 </a:t>
            </a:r>
            <a:r>
              <a:rPr lang="en-US" altLang="zh-CN" sz="1200" b="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megabit per second</a:t>
            </a:r>
            <a:r>
              <a:rPr lang="en-US" altLang="zh-CN" baseline="0" dirty="0" smtClean="0"/>
              <a:t> throughput loss with ECN*,</a:t>
            </a:r>
          </a:p>
          <a:p>
            <a:r>
              <a:rPr lang="en-US" altLang="zh-CN" baseline="0" dirty="0" smtClean="0"/>
              <a:t>And 1.391 gigabit per second throughput loss with DCTCP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17063382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Now,</a:t>
            </a:r>
            <a:r>
              <a:rPr lang="en-US" altLang="zh-CN" baseline="0" dirty="0" smtClean="0"/>
              <a:t> here is a brief summary of the problem.</a:t>
            </a:r>
          </a:p>
          <a:p>
            <a:r>
              <a:rPr lang="en-US" altLang="zh-CN" baseline="0" dirty="0" smtClean="0"/>
              <a:t>Batching schemes at host introduce micro-burst traffic into network.</a:t>
            </a:r>
          </a:p>
          <a:p>
            <a:r>
              <a:rPr lang="en-US" altLang="zh-CN" baseline="0" dirty="0" smtClean="0"/>
              <a:t>These micro-burst traffic will result in severe queue length oscillations, which will lead to buffer underflow, and throughput loss.</a:t>
            </a:r>
          </a:p>
          <a:p>
            <a:r>
              <a:rPr lang="en-US" altLang="zh-CN" baseline="0" dirty="0" smtClean="0"/>
              <a:t>So one might ask, can we quantify the amplitude of queue length oscillations.</a:t>
            </a:r>
          </a:p>
          <a:p>
            <a:r>
              <a:rPr lang="en-US" altLang="zh-CN" baseline="0" dirty="0" smtClean="0"/>
              <a:t>And with micro-burst traffic, how to set the ECN threshold?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63866845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To answer the</a:t>
            </a:r>
            <a:r>
              <a:rPr lang="en-US" altLang="zh-CN" baseline="0" dirty="0" smtClean="0"/>
              <a:t> questions, we give a theoretical analysis about the queue length evolutions with micro-burst traffic.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50354418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en-US" altLang="zh-CN" baseline="0" dirty="0" smtClean="0"/>
              <a:t> analysis is lengthy and we do not present the details of analysis.</a:t>
            </a:r>
          </a:p>
          <a:p>
            <a:r>
              <a:rPr lang="en-US" altLang="zh-CN" baseline="0" dirty="0" smtClean="0"/>
              <a:t>Instead, we present some major results.</a:t>
            </a:r>
          </a:p>
          <a:p>
            <a:r>
              <a:rPr lang="en-US" altLang="zh-CN" baseline="0" dirty="0" smtClean="0"/>
              <a:t>First, we show the amplitude of queue length oscillations of DCTCP w/ TSO and w/o batching scheme.</a:t>
            </a:r>
          </a:p>
          <a:p>
            <a:r>
              <a:rPr lang="en-US" altLang="zh-CN" baseline="0" dirty="0" smtClean="0"/>
              <a:t>The range of the amplitude w/ TSO-induced micro-burst can be given by this inequality.</a:t>
            </a:r>
          </a:p>
          <a:p>
            <a:r>
              <a:rPr lang="en-US" altLang="zh-CN" baseline="0" dirty="0" smtClean="0"/>
              <a:t>In comparison, the amplitude of queue length w/o micro-burst can be given by this expression.</a:t>
            </a:r>
          </a:p>
          <a:p>
            <a:r>
              <a:rPr lang="en-US" altLang="zh-CN" baseline="0" dirty="0" smtClean="0"/>
              <a:t>In the </a:t>
            </a:r>
            <a:r>
              <a:rPr lang="en-US" altLang="zh-CN" baseline="0" dirty="0" err="1" smtClean="0"/>
              <a:t>experssion</a:t>
            </a:r>
            <a:r>
              <a:rPr lang="en-US" altLang="zh-CN" baseline="0" dirty="0" smtClean="0"/>
              <a:t>, </a:t>
            </a:r>
            <a:r>
              <a:rPr lang="en-US" altLang="zh-CN" baseline="0" dirty="0" err="1" smtClean="0"/>
              <a:t>Cd+K</a:t>
            </a:r>
            <a:r>
              <a:rPr lang="en-US" altLang="zh-CN" baseline="0" dirty="0" smtClean="0"/>
              <a:t> means the bandwidth delay product.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From these expressions, we find that, with micro-burst traffic, the queue length amplitude can be increased from order (square root of BDP) to order (BDP)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575626167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dirty="0" smtClean="0"/>
              <a:t>Besides, to</a:t>
            </a:r>
            <a:r>
              <a:rPr lang="en-US" altLang="zh-CN" baseline="0" dirty="0" smtClean="0"/>
              <a:t> achieve 100% throughput, the ECN threshold should meet the following </a:t>
            </a:r>
            <a:r>
              <a:rPr lang="en-US" altLang="zh-CN" baseline="0" dirty="0" err="1" smtClean="0"/>
              <a:t>inqualities</a:t>
            </a:r>
            <a:r>
              <a:rPr lang="en-US" altLang="zh-CN" baseline="0" dirty="0" smtClean="0"/>
              <a:t>.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zh-CN" baseline="0" dirty="0" smtClean="0"/>
              <a:t>These expressions might be hard to understand. Therefore, we use an example to explain it.</a:t>
            </a:r>
            <a:endParaRPr lang="zh-CN" altLang="en-US" dirty="0" smtClean="0"/>
          </a:p>
          <a:p>
            <a:r>
              <a:rPr lang="en-US" altLang="zh-CN" baseline="0" dirty="0" err="1" smtClean="0"/>
              <a:t>uld</a:t>
            </a:r>
            <a:r>
              <a:rPr lang="en-US" altLang="zh-CN" baseline="0" dirty="0" smtClean="0"/>
              <a:t> meet the following requirements.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702830809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We</a:t>
            </a:r>
            <a:r>
              <a:rPr lang="en-US" altLang="zh-CN" baseline="0" dirty="0" smtClean="0"/>
              <a:t> consider the case in our previous simulations.</a:t>
            </a:r>
          </a:p>
          <a:p>
            <a:r>
              <a:rPr lang="en-US" altLang="zh-CN" baseline="0" dirty="0" smtClean="0"/>
              <a:t>That is </a:t>
            </a:r>
            <a:r>
              <a:rPr lang="en-US" altLang="zh-CN" dirty="0" smtClean="0"/>
              <a:t>N</a:t>
            </a:r>
            <a:r>
              <a:rPr lang="en-US" altLang="zh-CN" baseline="0" dirty="0" smtClean="0"/>
              <a:t> is 2 and beta is one-third., BDP is larger than 83.3 packets, which is always the case, to achieve 100% throughput, Then the ECN threshold should set to be larger than 22.9packets w/ TSO.</a:t>
            </a:r>
          </a:p>
          <a:p>
            <a:r>
              <a:rPr lang="en-US" altLang="zh-CN" baseline="0" dirty="0" smtClean="0"/>
              <a:t>In comparison, w/o micro-burst traffic, the ECN threshold only need to be larger than 16.7 packets.</a:t>
            </a:r>
          </a:p>
          <a:p>
            <a:r>
              <a:rPr lang="en-US" altLang="zh-CN" baseline="0" dirty="0" smtClean="0"/>
              <a:t>We have two observations, first, the analysis result fits quite well as our simulation result.</a:t>
            </a:r>
          </a:p>
          <a:p>
            <a:r>
              <a:rPr lang="en-US" altLang="zh-CN" baseline="0" dirty="0" smtClean="0"/>
              <a:t>Second, with TSO, the ECN threshold should be …</a:t>
            </a:r>
          </a:p>
          <a:p>
            <a:r>
              <a:rPr lang="en-US" altLang="zh-CN" baseline="0" dirty="0" smtClean="0"/>
              <a:t>If we do not properly set the ECN threshold, the result is buffer underflow and throughput loss.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711809177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1"/>
            <a:r>
              <a:rPr lang="en-US" altLang="zh-CN" dirty="0" smtClean="0"/>
              <a:t>So what can we do to</a:t>
            </a:r>
            <a:r>
              <a:rPr lang="en-US" altLang="zh-CN" baseline="0" dirty="0" smtClean="0"/>
              <a:t> deal with this problem.</a:t>
            </a:r>
          </a:p>
          <a:p>
            <a:pPr lvl="1"/>
            <a:r>
              <a:rPr lang="en-US" altLang="zh-CN" baseline="0" dirty="0" smtClean="0"/>
              <a:t>Rethinking the problem, is occurs for two reasons,</a:t>
            </a:r>
          </a:p>
          <a:p>
            <a:pPr lvl="1"/>
            <a:r>
              <a:rPr lang="en-US" altLang="zh-CN" baseline="0" dirty="0" smtClean="0"/>
              <a:t>One is that there is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 traffic in the network.</a:t>
            </a:r>
          </a:p>
          <a:p>
            <a:pPr lvl="1"/>
            <a:r>
              <a:rPr lang="en-US" altLang="zh-CN" baseline="0" dirty="0" smtClean="0"/>
              <a:t>Therefore, the fundamental solution is to eliminate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 traffic at sender.</a:t>
            </a:r>
          </a:p>
          <a:p>
            <a:pPr lvl="1"/>
            <a:r>
              <a:rPr lang="en-US" altLang="zh-CN" baseline="0" dirty="0" smtClean="0"/>
              <a:t>The most simple way should be TCP pacing. However, this is not enough because some kinds of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 traffic is created by the </a:t>
            </a:r>
            <a:r>
              <a:rPr lang="en-US" altLang="zh-CN" baseline="0" dirty="0" err="1" smtClean="0"/>
              <a:t>hadward</a:t>
            </a:r>
            <a:r>
              <a:rPr lang="en-US" altLang="zh-CN" baseline="0" dirty="0" smtClean="0"/>
              <a:t> NIC.</a:t>
            </a:r>
          </a:p>
          <a:p>
            <a:pPr lvl="1"/>
            <a:r>
              <a:rPr lang="en-US" altLang="zh-CN" baseline="0" dirty="0" smtClean="0"/>
              <a:t>Therefore, we should pacing packets at NIC. However, implement a hardware pacer is hard because different flows should be separately paced and pacing rate should be dynamically determined</a:t>
            </a:r>
          </a:p>
          <a:p>
            <a:pPr lvl="1"/>
            <a:r>
              <a:rPr lang="en-US" altLang="zh-CN" baseline="0" dirty="0" smtClean="0"/>
              <a:t>Therefore,  eliminating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 traffic at sender seems to be  infeasible.</a:t>
            </a:r>
          </a:p>
          <a:p>
            <a:pPr lvl="1"/>
            <a:r>
              <a:rPr lang="en-US" altLang="zh-CN" baseline="0" dirty="0" smtClean="0"/>
              <a:t> We resort to another direction</a:t>
            </a:r>
            <a:r>
              <a:rPr lang="zh-CN" altLang="en-US" baseline="0" dirty="0" smtClean="0"/>
              <a:t>， </a:t>
            </a:r>
            <a:r>
              <a:rPr lang="en-US" altLang="zh-CN" baseline="0" dirty="0" smtClean="0"/>
              <a:t>that is improving ECN marking scheme.</a:t>
            </a:r>
            <a:endParaRPr lang="en-US" altLang="zh-CN" dirty="0" smtClean="0"/>
          </a:p>
          <a:p>
            <a:pPr lvl="1"/>
            <a:r>
              <a:rPr lang="en-US" altLang="zh-CN" dirty="0" smtClean="0"/>
              <a:t>Increasing ECN threshold  Leave enough room for queue length fluctuation</a:t>
            </a:r>
          </a:p>
          <a:p>
            <a:pPr lvl="1"/>
            <a:r>
              <a:rPr lang="en-US" altLang="zh-CN" dirty="0" smtClean="0"/>
              <a:t>average queue length to accommodate </a:t>
            </a:r>
            <a:r>
              <a:rPr lang="en-US" altLang="zh-CN" dirty="0" err="1" smtClean="0"/>
              <a:t>bursty</a:t>
            </a:r>
            <a:r>
              <a:rPr lang="en-US" altLang="zh-CN" dirty="0" smtClean="0"/>
              <a:t> traffic,</a:t>
            </a:r>
            <a:r>
              <a:rPr lang="en-US" altLang="zh-CN" baseline="0" dirty="0" smtClean="0"/>
              <a:t> because senders may not be able to quickly react to congestion caused by fan-in traffic</a:t>
            </a:r>
          </a:p>
          <a:p>
            <a:pPr lvl="1"/>
            <a:r>
              <a:rPr lang="en-US" altLang="zh-CN" baseline="0" dirty="0" smtClean="0"/>
              <a:t>So what else can we do?</a:t>
            </a:r>
            <a:endParaRPr lang="en-US" altLang="zh-CN" dirty="0" smtClean="0"/>
          </a:p>
          <a:p>
            <a:pPr lvl="1"/>
            <a:endParaRPr lang="en-US" altLang="zh-CN" dirty="0" smtClean="0"/>
          </a:p>
          <a:p>
            <a:r>
              <a:rPr lang="zh-CN" altLang="en-US" dirty="0" smtClean="0"/>
              <a:t>用简单的句子把意思讲清楚 讲太多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986374610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Before introduce our solution, let</a:t>
            </a:r>
            <a:r>
              <a:rPr lang="en-US" altLang="zh-CN" baseline="0" dirty="0" smtClean="0"/>
              <a:t> us look at the queue length composition.</a:t>
            </a:r>
          </a:p>
          <a:p>
            <a:r>
              <a:rPr lang="en-US" altLang="zh-CN" baseline="0" dirty="0" smtClean="0"/>
              <a:t>When there is without micro-burst traffic, the queue is composed of backlog queue representing the mismatching between congestion window size and pipeline capacity.</a:t>
            </a:r>
          </a:p>
          <a:p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27400572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However,</a:t>
            </a:r>
            <a:r>
              <a:rPr lang="en-US" altLang="zh-CN" baseline="0" dirty="0" smtClean="0"/>
              <a:t> when there is </a:t>
            </a:r>
            <a:r>
              <a:rPr lang="en-US" altLang="zh-CN" baseline="0" dirty="0" err="1" smtClean="0"/>
              <a:t>bursty</a:t>
            </a:r>
            <a:r>
              <a:rPr lang="en-US" altLang="zh-CN" baseline="0" dirty="0" smtClean="0"/>
              <a:t> traffic, the queue length has another component: queue length caused by multiplex of micro-burst traffic.</a:t>
            </a:r>
            <a:endParaRPr lang="en-US" altLang="zh-CN" dirty="0" smtClean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19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58732641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</a:t>
            </a:r>
            <a:r>
              <a:rPr lang="en-US" altLang="zh-CN" baseline="0" dirty="0" smtClean="0"/>
              <a:t> basic idea of our solution is based on the observation that the queue length increasing is transient</a:t>
            </a:r>
          </a:p>
          <a:p>
            <a:r>
              <a:rPr lang="en-US" altLang="zh-CN" baseline="0" dirty="0" smtClean="0"/>
              <a:t>Therefore, the queue length might be larger than ECN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threshold for only a short period of time.</a:t>
            </a:r>
          </a:p>
          <a:p>
            <a:r>
              <a:rPr lang="en-US" altLang="zh-CN" baseline="0" dirty="0" smtClean="0"/>
              <a:t>Thus, we can make ECN marking decision according to the queue length at two time points:</a:t>
            </a:r>
            <a:r>
              <a:rPr lang="zh-CN" altLang="en-US" baseline="0" dirty="0" smtClean="0"/>
              <a:t> </a:t>
            </a:r>
            <a:r>
              <a:rPr lang="en-US" altLang="zh-CN" baseline="0" dirty="0" smtClean="0"/>
              <a:t>packet enqueuer and packet dequeuer.</a:t>
            </a:r>
          </a:p>
          <a:p>
            <a:r>
              <a:rPr lang="en-US" altLang="zh-CN" baseline="0" dirty="0" smtClean="0"/>
              <a:t>Here is our solution.</a:t>
            </a:r>
          </a:p>
          <a:p>
            <a:r>
              <a:rPr lang="en-US" altLang="zh-CN" baseline="0" dirty="0" smtClean="0"/>
              <a:t>When packet enqueuer and …</a:t>
            </a:r>
          </a:p>
          <a:p>
            <a:r>
              <a:rPr lang="en-US" altLang="zh-CN" baseline="0" dirty="0" smtClean="0"/>
              <a:t>If </a:t>
            </a:r>
            <a:r>
              <a:rPr lang="en-US" altLang="zh-CN" baseline="0" dirty="0" err="1" smtClean="0"/>
              <a:t>qlen</a:t>
            </a:r>
            <a:r>
              <a:rPr lang="en-US" altLang="zh-CN" baseline="0" dirty="0" smtClean="0"/>
              <a:t> &lt;</a:t>
            </a:r>
            <a:r>
              <a:rPr lang="zh-CN" altLang="en-US" baseline="0" dirty="0" smtClean="0"/>
              <a:t>Ｋ</a:t>
            </a:r>
            <a:r>
              <a:rPr lang="en-US" altLang="zh-CN" baseline="0" dirty="0" smtClean="0"/>
              <a:t>, then it is possible that the queue length increasing is caused by multiplex of micro-burst traffic,</a:t>
            </a:r>
          </a:p>
          <a:p>
            <a:r>
              <a:rPr lang="en-US" altLang="zh-CN" baseline="0" dirty="0" smtClean="0"/>
              <a:t>And the packet is </a:t>
            </a:r>
            <a:r>
              <a:rPr lang="en-US" altLang="zh-CN" baseline="0" dirty="0" err="1" smtClean="0"/>
              <a:t>mis</a:t>
            </a:r>
            <a:r>
              <a:rPr lang="en-US" altLang="zh-CN" baseline="0" dirty="0" smtClean="0"/>
              <a:t>-marked with ECN. Therefore, we unmark the packet.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824526597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However, if the time </a:t>
            </a:r>
            <a:r>
              <a:rPr lang="en-US" altLang="zh-CN" dirty="0" err="1" smtClean="0"/>
              <a:t>inverval</a:t>
            </a:r>
            <a:r>
              <a:rPr lang="en-US" altLang="zh-CN" dirty="0" smtClean="0"/>
              <a:t> between packet</a:t>
            </a:r>
            <a:r>
              <a:rPr lang="en-US" altLang="zh-CN" baseline="0" dirty="0" smtClean="0"/>
              <a:t> enqueuer and packet </a:t>
            </a:r>
            <a:r>
              <a:rPr lang="en-US" altLang="zh-CN" baseline="0" dirty="0" err="1" smtClean="0"/>
              <a:t>dequeue</a:t>
            </a:r>
            <a:r>
              <a:rPr lang="en-US" altLang="zh-CN" baseline="0" dirty="0" smtClean="0"/>
              <a:t> might be very small.</a:t>
            </a:r>
          </a:p>
          <a:p>
            <a:r>
              <a:rPr lang="en-US" altLang="zh-CN" baseline="0" dirty="0" smtClean="0"/>
              <a:t>Then when packet is </a:t>
            </a:r>
            <a:r>
              <a:rPr lang="en-US" altLang="zh-CN" baseline="0" dirty="0" err="1" smtClean="0"/>
              <a:t>dequeued</a:t>
            </a:r>
            <a:r>
              <a:rPr lang="en-US" altLang="zh-CN" baseline="0" dirty="0" smtClean="0"/>
              <a:t>, the queue length might be larger than ECN threshold.</a:t>
            </a:r>
          </a:p>
          <a:p>
            <a:r>
              <a:rPr lang="en-US" altLang="zh-CN" baseline="0" dirty="0" smtClean="0"/>
              <a:t>In this case, we observe that the queue length is decrease when packet is </a:t>
            </a:r>
            <a:r>
              <a:rPr lang="en-US" altLang="zh-CN" baseline="0" dirty="0" err="1" smtClean="0"/>
              <a:t>dequeued</a:t>
            </a:r>
            <a:r>
              <a:rPr lang="en-US" altLang="zh-CN" baseline="0" dirty="0" smtClean="0"/>
              <a:t>.</a:t>
            </a:r>
          </a:p>
          <a:p>
            <a:r>
              <a:rPr lang="en-US" altLang="zh-CN" baseline="0" dirty="0" smtClean="0"/>
              <a:t>Therefore, we can use another information about queue length to help us make ECN marking decision: slope.</a:t>
            </a:r>
          </a:p>
          <a:p>
            <a:r>
              <a:rPr lang="en-US" altLang="zh-CN" baseline="0" dirty="0" smtClean="0"/>
              <a:t>If the slope is lower than 0, then the queue length is decreasing, we also unmark the packet.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44531445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baseline="0" dirty="0" smtClean="0"/>
              <a:t>With slope, there is side-effect.</a:t>
            </a:r>
          </a:p>
          <a:p>
            <a:r>
              <a:rPr lang="en-US" altLang="zh-CN" baseline="0" dirty="0" smtClean="0"/>
              <a:t>That is, some packets are should be marked with ECN, while they are not marked.</a:t>
            </a:r>
          </a:p>
          <a:p>
            <a:r>
              <a:rPr lang="en-US" altLang="zh-CN" baseline="0" dirty="0" smtClean="0"/>
              <a:t>When the queue length is too large, this will result in buffer overflow.</a:t>
            </a:r>
          </a:p>
          <a:p>
            <a:r>
              <a:rPr lang="en-US" altLang="zh-CN" baseline="0" dirty="0" smtClean="0"/>
              <a:t>To prevent buffer overflow in this scenario, we use an additional threshold K_2, when </a:t>
            </a:r>
            <a:r>
              <a:rPr lang="en-US" altLang="zh-CN" baseline="0" dirty="0" err="1" smtClean="0"/>
              <a:t>qlen</a:t>
            </a:r>
            <a:r>
              <a:rPr lang="en-US" altLang="zh-CN" baseline="0" dirty="0" smtClean="0"/>
              <a:t> &gt; K2, 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66870994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Finally, this is our solution:</a:t>
            </a:r>
            <a:r>
              <a:rPr lang="en-US" altLang="zh-CN" baseline="0" dirty="0" smtClean="0"/>
              <a:t> Combined </a:t>
            </a:r>
            <a:r>
              <a:rPr lang="en-US" altLang="zh-CN" baseline="0" dirty="0" err="1" smtClean="0"/>
              <a:t>Enqueue</a:t>
            </a:r>
            <a:r>
              <a:rPr lang="en-US" altLang="zh-CN" baseline="0" dirty="0" smtClean="0"/>
              <a:t> and </a:t>
            </a:r>
            <a:r>
              <a:rPr lang="en-US" altLang="zh-CN" baseline="0" dirty="0" err="1" smtClean="0"/>
              <a:t>Dequeue</a:t>
            </a:r>
            <a:r>
              <a:rPr lang="en-US" altLang="zh-CN" baseline="0" dirty="0" smtClean="0"/>
              <a:t> ECN marking.</a:t>
            </a:r>
          </a:p>
          <a:p>
            <a:r>
              <a:rPr lang="en-US" altLang="zh-CN" baseline="0" dirty="0" smtClean="0"/>
              <a:t>When packet </a:t>
            </a:r>
            <a:r>
              <a:rPr lang="en-US" altLang="zh-CN" baseline="0" dirty="0" err="1" smtClean="0"/>
              <a:t>enqueue</a:t>
            </a:r>
            <a:r>
              <a:rPr lang="en-US" altLang="zh-CN" baseline="0" dirty="0" smtClean="0"/>
              <a:t>, the packet will be marked only if ….</a:t>
            </a:r>
          </a:p>
          <a:p>
            <a:r>
              <a:rPr lang="en-US" altLang="zh-CN" baseline="0" dirty="0" smtClean="0"/>
              <a:t>When packet is </a:t>
            </a:r>
            <a:r>
              <a:rPr lang="en-US" altLang="zh-CN" baseline="0" dirty="0" err="1" smtClean="0"/>
              <a:t>dequeued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409934414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In</a:t>
            </a:r>
            <a:r>
              <a:rPr lang="en-US" altLang="zh-CN" baseline="0" dirty="0" smtClean="0"/>
              <a:t> the last, we present some evaluation results about CEDM.</a:t>
            </a:r>
          </a:p>
          <a:p>
            <a:r>
              <a:rPr lang="en-US" altLang="zh-CN" baseline="0" dirty="0" smtClean="0"/>
              <a:t>All evaluations are performed on ns-2 platform.</a:t>
            </a:r>
          </a:p>
          <a:p>
            <a:r>
              <a:rPr lang="en-US" altLang="zh-CN" baseline="0" dirty="0" smtClean="0"/>
              <a:t>First, we evaluate the throughput.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25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15828442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The figure</a:t>
            </a:r>
            <a:r>
              <a:rPr lang="en-US" altLang="zh-CN" baseline="0" dirty="0" smtClean="0"/>
              <a:t>s show the throughput with difference ECN threshold settings.</a:t>
            </a:r>
          </a:p>
          <a:p>
            <a:r>
              <a:rPr lang="en-US" altLang="zh-CN" baseline="0" dirty="0" smtClean="0"/>
              <a:t>The red line, green line</a:t>
            </a:r>
          </a:p>
          <a:p>
            <a:r>
              <a:rPr lang="en-US" altLang="zh-CN" baseline="0" dirty="0" smtClean="0"/>
              <a:t>In the left figure</a:t>
            </a:r>
          </a:p>
          <a:p>
            <a:r>
              <a:rPr lang="en-US" altLang="zh-CN" baseline="0" dirty="0" smtClean="0"/>
              <a:t>In the right figure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26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7468737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CEDM cancels ECN</a:t>
            </a:r>
            <a:r>
              <a:rPr lang="en-US" altLang="zh-CN" baseline="0" dirty="0" smtClean="0"/>
              <a:t> marking of some packets, therefore one might wonder that CEDM is easier to cause buffer overflow.</a:t>
            </a:r>
          </a:p>
          <a:p>
            <a:r>
              <a:rPr lang="en-US" altLang="zh-CN" baseline="0" dirty="0" smtClean="0"/>
              <a:t>Therefore, we show the performance of CEDM in </a:t>
            </a:r>
            <a:r>
              <a:rPr lang="en-US" altLang="zh-CN" baseline="0" dirty="0" err="1" smtClean="0"/>
              <a:t>incast</a:t>
            </a:r>
            <a:r>
              <a:rPr lang="en-US" altLang="zh-CN" baseline="0" smtClean="0"/>
              <a:t> scenario.</a:t>
            </a:r>
            <a:endParaRPr lang="en-US" altLang="zh-CN" dirty="0" smtClean="0"/>
          </a:p>
          <a:p>
            <a:r>
              <a:rPr lang="en-US" altLang="zh-CN" dirty="0" smtClean="0"/>
              <a:t>The</a:t>
            </a:r>
            <a:r>
              <a:rPr lang="en-US" altLang="zh-CN" baseline="0" dirty="0" smtClean="0"/>
              <a:t> figure shows the </a:t>
            </a:r>
            <a:r>
              <a:rPr lang="en-US" altLang="zh-CN" baseline="0" dirty="0" err="1" smtClean="0"/>
              <a:t>incast</a:t>
            </a:r>
            <a:r>
              <a:rPr lang="en-US" altLang="zh-CN" baseline="0" dirty="0" smtClean="0"/>
              <a:t> performance of CEDM.</a:t>
            </a:r>
          </a:p>
          <a:p>
            <a:r>
              <a:rPr lang="en-US" altLang="zh-CN" baseline="0" dirty="0" smtClean="0"/>
              <a:t>The ECN threshold of DCTCP is set to the lowest value that there is no throughput loss.</a:t>
            </a:r>
          </a:p>
          <a:p>
            <a:r>
              <a:rPr lang="en-US" altLang="zh-CN" baseline="0" dirty="0" smtClean="0"/>
              <a:t>Although CEDM unmark some packets, the </a:t>
            </a:r>
            <a:r>
              <a:rPr lang="en-US" altLang="zh-CN" baseline="0" dirty="0" err="1" smtClean="0"/>
              <a:t>incast</a:t>
            </a:r>
            <a:r>
              <a:rPr lang="en-US" altLang="zh-CN" baseline="0" dirty="0" smtClean="0"/>
              <a:t> performance is similar to that with normal ECN.</a:t>
            </a: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27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53197717"/>
      </p:ext>
    </p:extLst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We also perform large-scale</a:t>
            </a:r>
            <a:r>
              <a:rPr lang="en-US" altLang="zh-CN" baseline="0" dirty="0" smtClean="0"/>
              <a:t> simulations.</a:t>
            </a:r>
          </a:p>
          <a:p>
            <a:r>
              <a:rPr lang="en-US" altLang="zh-CN" baseline="0" dirty="0" smtClean="0"/>
              <a:t>We use the leaf spine topologies with 144 servers.</a:t>
            </a:r>
          </a:p>
          <a:p>
            <a:r>
              <a:rPr lang="en-US" altLang="zh-CN" baseline="0" dirty="0" smtClean="0"/>
              <a:t>These servers are connected to left switches </a:t>
            </a:r>
            <a:r>
              <a:rPr lang="en-US" altLang="zh-CN" baseline="0" dirty="0" err="1" smtClean="0"/>
              <a:t>swith</a:t>
            </a:r>
            <a:r>
              <a:rPr lang="en-US" altLang="zh-CN" baseline="0" dirty="0" smtClean="0"/>
              <a:t> 10Gps link, and the leaf switches are connected to spine </a:t>
            </a:r>
            <a:r>
              <a:rPr lang="en-US" altLang="zh-CN" baseline="0" dirty="0" err="1" smtClean="0"/>
              <a:t>swithes</a:t>
            </a:r>
            <a:r>
              <a:rPr lang="en-US" altLang="zh-CN" baseline="0" dirty="0" smtClean="0"/>
              <a:t> with 40Gbps links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28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834760472"/>
      </p:ext>
    </p:extLst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We also</a:t>
            </a:r>
            <a:r>
              <a:rPr lang="en-US" altLang="zh-CN" baseline="0" dirty="0" smtClean="0"/>
              <a:t> use two widely used flow size distributions to generate traffic.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29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701388713"/>
      </p:ext>
    </p:extLst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We</a:t>
            </a:r>
            <a:r>
              <a:rPr lang="en-US" altLang="zh-CN" baseline="0" dirty="0" smtClean="0"/>
              <a:t> compare DCTCP+CEDM to other two protocols.</a:t>
            </a:r>
          </a:p>
          <a:p>
            <a:r>
              <a:rPr lang="en-US" altLang="zh-CN" baseline="0" dirty="0" smtClean="0"/>
              <a:t>With ECN threshold set to 65 packets.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30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48121046"/>
      </p:ext>
    </p:extLst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. FCT is normalized to the value achieved by DCTCP protocol whose</a:t>
            </a:r>
            <a:r>
              <a:rPr lang="en-US" altLang="zh-CN" baseline="0" dirty="0" smtClean="0"/>
              <a:t> ECN threshold is 65 packets</a:t>
            </a:r>
            <a:r>
              <a:rPr lang="en-US" altLang="zh-CN" dirty="0" smtClean="0"/>
              <a:t> for clear comparison.</a:t>
            </a:r>
          </a:p>
          <a:p>
            <a:r>
              <a:rPr lang="en-US" altLang="zh-CN" dirty="0" smtClean="0"/>
              <a:t>Data mining: FCT extended by 9.2-16.2%</a:t>
            </a:r>
          </a:p>
          <a:p>
            <a:r>
              <a:rPr lang="en-US" altLang="zh-CN" dirty="0" smtClean="0"/>
              <a:t>Web</a:t>
            </a:r>
            <a:r>
              <a:rPr lang="en-US" altLang="zh-CN" baseline="0" dirty="0" smtClean="0"/>
              <a:t> search: FCT </a:t>
            </a:r>
            <a:r>
              <a:rPr lang="en-US" altLang="zh-CN" baseline="0" dirty="0" err="1" smtClean="0"/>
              <a:t>exended</a:t>
            </a:r>
            <a:r>
              <a:rPr lang="en-US" altLang="zh-CN" baseline="0" dirty="0" smtClean="0"/>
              <a:t> by 7%-9%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31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199705"/>
      </p:ext>
    </p:extLst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zh-CN" dirty="0" smtClean="0"/>
              <a:t>Data</a:t>
            </a:r>
            <a:r>
              <a:rPr lang="en-US" altLang="zh-CN" baseline="0" dirty="0" smtClean="0"/>
              <a:t> mining: FCT reduced by 9.7-13.6%</a:t>
            </a:r>
          </a:p>
          <a:p>
            <a:r>
              <a:rPr lang="en-US" altLang="zh-CN" baseline="0" dirty="0" smtClean="0"/>
              <a:t>Web search: FCT reduced by 7.1-15.4%</a:t>
            </a:r>
            <a:endParaRPr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CF6DB3-C525-4A34-A9B3-823515205B74}" type="slidenum">
              <a:rPr lang="zh-CN" altLang="en-US" smtClean="0"/>
              <a:t>32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8789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7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单击以编辑母版副标题样式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 fontAlgn="auto">
              <a:spcBef>
                <a:spcPts val="0"/>
              </a:spcBef>
              <a:spcAft>
                <a:spcPts val="0"/>
              </a:spcAft>
              <a:defRPr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9296459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2" y="53752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>
            <a:lvl1pPr>
              <a:defRPr sz="2800" b="1" baseline="0">
                <a:latin typeface="Comic Sans MS" panose="030F0702030302020204" pitchFamily="66" charset="0"/>
                <a:ea typeface="宋体" panose="02010600030101010101" pitchFamily="2" charset="-122"/>
              </a:defRPr>
            </a:lvl1pPr>
            <a:lvl2pPr>
              <a:defRPr sz="2400" baseline="0">
                <a:latin typeface="Comic Sans MS" panose="030F0702030302020204" pitchFamily="66" charset="0"/>
                <a:ea typeface="宋体" panose="02010600030101010101" pitchFamily="2" charset="-122"/>
              </a:defRPr>
            </a:lvl2pPr>
            <a:lvl3pPr>
              <a:defRPr sz="2000" baseline="0">
                <a:latin typeface="Comic Sans MS" panose="030F0702030302020204" pitchFamily="66" charset="0"/>
                <a:ea typeface="宋体" panose="02010600030101010101" pitchFamily="2" charset="-122"/>
              </a:defRPr>
            </a:lvl3pPr>
            <a:lvl4pPr>
              <a:defRPr sz="1800" baseline="0">
                <a:latin typeface="Comic Sans MS" panose="030F0702030302020204" pitchFamily="66" charset="0"/>
                <a:ea typeface="宋体" panose="02010600030101010101" pitchFamily="2" charset="-122"/>
              </a:defRPr>
            </a:lvl4pPr>
            <a:lvl5pPr>
              <a:defRPr sz="1600" baseline="0">
                <a:latin typeface="Comic Sans MS" panose="030F0702030302020204" pitchFamily="66" charset="0"/>
                <a:ea typeface="宋体" panose="02010600030101010101" pitchFamily="2" charset="-122"/>
              </a:defRPr>
            </a:lvl5pPr>
          </a:lstStyle>
          <a:p>
            <a:pPr lvl="0"/>
            <a:r>
              <a:rPr lang="zh-CN" altLang="en-US" dirty="0" smtClean="0"/>
              <a:t>编辑母版文本样式</a:t>
            </a:r>
          </a:p>
          <a:p>
            <a:pPr lvl="1"/>
            <a:r>
              <a:rPr lang="zh-CN" altLang="en-US" dirty="0" smtClean="0"/>
              <a:t>第二级</a:t>
            </a:r>
          </a:p>
          <a:p>
            <a:pPr lvl="2"/>
            <a:r>
              <a:rPr lang="zh-CN" altLang="en-US" dirty="0" smtClean="0"/>
              <a:t>第三级</a:t>
            </a:r>
          </a:p>
          <a:p>
            <a:pPr lvl="3"/>
            <a:r>
              <a:rPr lang="zh-CN" altLang="en-US" dirty="0" smtClean="0"/>
              <a:t>第四级</a:t>
            </a:r>
          </a:p>
          <a:p>
            <a:pPr lvl="4"/>
            <a:r>
              <a:rPr lang="zh-CN" altLang="en-US" dirty="0" smtClean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0" y="6356352"/>
            <a:ext cx="6019800" cy="365125"/>
          </a:xfrm>
        </p:spPr>
        <p:txBody>
          <a:bodyPr/>
          <a:lstStyle>
            <a:lvl1pPr>
              <a:defRPr/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0" y="6538914"/>
            <a:ext cx="914400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95259155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2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56943660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2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8" name="标题 1"/>
          <p:cNvSpPr>
            <a:spLocks noGrp="1"/>
          </p:cNvSpPr>
          <p:nvPr>
            <p:ph type="title"/>
          </p:nvPr>
        </p:nvSpPr>
        <p:spPr>
          <a:xfrm>
            <a:off x="590872" y="53752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9" name="矩形 8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633075989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6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6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10" name="标题 1"/>
          <p:cNvSpPr>
            <a:spLocks noGrp="1"/>
          </p:cNvSpPr>
          <p:nvPr>
            <p:ph type="title"/>
          </p:nvPr>
        </p:nvSpPr>
        <p:spPr>
          <a:xfrm>
            <a:off x="590872" y="53752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7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8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9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860726317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标题 1"/>
          <p:cNvSpPr>
            <a:spLocks noGrp="1"/>
          </p:cNvSpPr>
          <p:nvPr>
            <p:ph type="title"/>
          </p:nvPr>
        </p:nvSpPr>
        <p:spPr>
          <a:xfrm>
            <a:off x="590872" y="53752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5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0" y="6538914"/>
            <a:ext cx="914400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328214534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标题 1"/>
          <p:cNvSpPr>
            <a:spLocks noGrp="1"/>
          </p:cNvSpPr>
          <p:nvPr>
            <p:ph type="title"/>
          </p:nvPr>
        </p:nvSpPr>
        <p:spPr>
          <a:xfrm>
            <a:off x="590872" y="53752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3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4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28265870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1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2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1" y="1435102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14414275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 rtlCol="0">
            <a:normAutofit/>
          </a:bodyPr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r>
              <a:rPr lang="zh-CN" altLang="en-US" noProof="0" smtClean="0"/>
              <a:t>单击图标添加图片</a:t>
            </a:r>
            <a:endParaRPr lang="zh-CN" altLang="en-US" noProof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编辑母版文本样式</a:t>
            </a:r>
          </a:p>
        </p:txBody>
      </p:sp>
      <p:sp>
        <p:nvSpPr>
          <p:cNvPr id="5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6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7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91615683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标题 1"/>
          <p:cNvSpPr>
            <a:spLocks noGrp="1"/>
          </p:cNvSpPr>
          <p:nvPr>
            <p:ph type="title"/>
          </p:nvPr>
        </p:nvSpPr>
        <p:spPr>
          <a:xfrm>
            <a:off x="590872" y="53752"/>
            <a:ext cx="8229600" cy="1143000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8" name="矩形 7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428965228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40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40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7" name="矩形 6"/>
          <p:cNvSpPr/>
          <p:nvPr userDrawn="1"/>
        </p:nvSpPr>
        <p:spPr>
          <a:xfrm>
            <a:off x="3181350" y="6515100"/>
            <a:ext cx="2647950" cy="23495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>
                    <a:lumMod val="50000"/>
                    <a:lumOff val="50000"/>
                  </a:schemeClr>
                </a:solidFill>
              </a:rPr>
              <a:t>Tsinghua University</a:t>
            </a:r>
            <a:endParaRPr lang="zh-CN" altLang="en-US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690875086"/>
      </p:ext>
    </p:extLst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0">
          <a:blip r:embed="rId13"/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占位符 1"/>
          <p:cNvSpPr>
            <a:spLocks noGrp="1"/>
          </p:cNvSpPr>
          <p:nvPr>
            <p:ph type="title"/>
          </p:nvPr>
        </p:nvSpPr>
        <p:spPr bwMode="auto"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单击此处编辑母版标题样式</a:t>
            </a:r>
          </a:p>
        </p:txBody>
      </p:sp>
      <p:sp>
        <p:nvSpPr>
          <p:cNvPr id="1027" name="文本占位符 2"/>
          <p:cNvSpPr>
            <a:spLocks noGrp="1"/>
          </p:cNvSpPr>
          <p:nvPr>
            <p:ph type="body" idx="1"/>
          </p:nvPr>
        </p:nvSpPr>
        <p:spPr bwMode="auto">
          <a:xfrm>
            <a:off x="457200" y="1600202"/>
            <a:ext cx="8229600" cy="4525963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2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fld id="{5FEB4612-83F7-415B-BE2B-2956CE7ED53D}" type="datetimeFigureOut">
              <a:rPr lang="zh-CN" altLang="en-US" smtClean="0"/>
              <a:t>2017/5/4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2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 eaLnBrk="1" fontAlgn="auto" hangingPunct="1">
              <a:spcBef>
                <a:spcPts val="0"/>
              </a:spcBef>
              <a:spcAft>
                <a:spcPts val="0"/>
              </a:spcAft>
              <a:defRPr sz="1200">
                <a:solidFill>
                  <a:schemeClr val="tx1">
                    <a:tint val="75000"/>
                  </a:schemeClr>
                </a:solidFill>
                <a:latin typeface="+mn-lt"/>
                <a:ea typeface="+mn-ea"/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2"/>
            <a:ext cx="2133600" cy="365125"/>
          </a:xfrm>
          <a:prstGeom prst="rect">
            <a:avLst/>
          </a:prstGeom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>
            <a:lvl1pPr algn="r" eaLnBrk="1" hangingPunct="1">
              <a:defRPr sz="1200" smtClean="0">
                <a:solidFill>
                  <a:srgbClr val="898989"/>
                </a:solidFill>
                <a:latin typeface="Calibri" panose="020F0502020204030204" pitchFamily="34" charset="0"/>
              </a:defRPr>
            </a:lvl1pPr>
          </a:lstStyle>
          <a:p>
            <a:fld id="{966AC7A0-2D98-4111-B75B-071367081B59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8746879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iming>
    <p:tnLst>
      <p:par>
        <p:cTn id="1" dur="indefinite" restart="never" nodeType="tmRoot"/>
      </p:par>
    </p:tnLst>
  </p:timing>
  <p:txStyles>
    <p:titleStyle>
      <a:lvl1pPr algn="ctr" rtl="0" eaLnBrk="1" fontAlgn="base" hangingPunct="1">
        <a:spcBef>
          <a:spcPct val="0"/>
        </a:spcBef>
        <a:spcAft>
          <a:spcPct val="0"/>
        </a:spcAft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  <a:lvl2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2pPr>
      <a:lvl3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3pPr>
      <a:lvl4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4pPr>
      <a:lvl5pPr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5pPr>
      <a:lvl6pPr marL="4572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6pPr>
      <a:lvl7pPr marL="9144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7pPr>
      <a:lvl8pPr marL="13716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8pPr>
      <a:lvl9pPr marL="1828800" algn="ctr" rtl="0" eaLnBrk="1" fontAlgn="base" hangingPunct="1">
        <a:spcBef>
          <a:spcPct val="0"/>
        </a:spcBef>
        <a:spcAft>
          <a:spcPct val="0"/>
        </a:spcAft>
        <a:defRPr sz="4400">
          <a:solidFill>
            <a:schemeClr val="tx1"/>
          </a:solidFill>
          <a:latin typeface="Calibri" pitchFamily="34" charset="0"/>
          <a:ea typeface="宋体" pitchFamily="2" charset="-122"/>
        </a:defRPr>
      </a:lvl9pPr>
    </p:titleStyle>
    <p:bodyStyle>
      <a:lvl1pPr marL="342900" indent="-3429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32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1pPr>
      <a:lvl2pPr marL="742950" indent="-28575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8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2pPr>
      <a:lvl3pPr marL="11430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3pPr>
      <a:lvl4pPr marL="16002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–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4pPr>
      <a:lvl5pPr marL="2057400" indent="-228600" algn="l" rtl="0" eaLnBrk="1" fontAlgn="base" hangingPunct="1">
        <a:spcBef>
          <a:spcPct val="20000"/>
        </a:spcBef>
        <a:spcAft>
          <a:spcPct val="0"/>
        </a:spcAft>
        <a:buFont typeface="Arial" panose="020B0604020202020204" pitchFamily="34" charset="0"/>
        <a:buChar char="»"/>
        <a:defRPr sz="2000" kern="1200">
          <a:solidFill>
            <a:schemeClr val="tx1"/>
          </a:solidFill>
          <a:latin typeface="微软雅黑" pitchFamily="34" charset="-122"/>
          <a:ea typeface="微软雅黑" pitchFamily="34" charset="-122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9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emf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1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3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5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7.png"/></Relationships>
</file>

<file path=ppt/slides/_rels/slide1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0.png"/><Relationship Id="rId7" Type="http://schemas.openxmlformats.org/officeDocument/2006/relationships/image" Target="../media/image180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36.png"/><Relationship Id="rId5" Type="http://schemas.openxmlformats.org/officeDocument/2006/relationships/image" Target="../media/image35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0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4.png"/><Relationship Id="rId5" Type="http://schemas.openxmlformats.org/officeDocument/2006/relationships/image" Target="../media/image23.png"/><Relationship Id="rId4" Type="http://schemas.openxmlformats.org/officeDocument/2006/relationships/image" Target="../media/image20.png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1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2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7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32.png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1.pn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00.png"/><Relationship Id="rId2" Type="http://schemas.openxmlformats.org/officeDocument/2006/relationships/notesSlide" Target="../notesSlides/notesSlide28.xml"/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3.png"/><Relationship Id="rId2" Type="http://schemas.openxmlformats.org/officeDocument/2006/relationships/notesSlide" Target="../notesSlides/notesSlide29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7.png"/><Relationship Id="rId4" Type="http://schemas.openxmlformats.org/officeDocument/2006/relationships/image" Target="../media/image34.png"/></Relationships>
</file>

<file path=ppt/slides/_rels/slide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png"/><Relationship Id="rId2" Type="http://schemas.openxmlformats.org/officeDocument/2006/relationships/notesSlide" Target="../notesSlides/notesSlide30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9.png"/><Relationship Id="rId4" Type="http://schemas.openxmlformats.org/officeDocument/2006/relationships/image" Target="../media/image38.png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0.jpe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1.pn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3.png"/><Relationship Id="rId2" Type="http://schemas.openxmlformats.org/officeDocument/2006/relationships/image" Target="../media/image42.png"/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pn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zh-CN" sz="3600" dirty="0"/>
              <a:t>Improving ECN Marking Scheme with </a:t>
            </a:r>
            <a:r>
              <a:rPr lang="en-US" altLang="zh-CN" sz="3600" dirty="0" smtClean="0"/>
              <a:t>Micro-burst Traffic </a:t>
            </a:r>
            <a:r>
              <a:rPr lang="en-US" altLang="zh-CN" sz="3600" dirty="0"/>
              <a:t>in Data Center </a:t>
            </a:r>
            <a:r>
              <a:rPr lang="en-US" altLang="zh-CN" sz="3600" dirty="0" smtClean="0"/>
              <a:t>Networks</a:t>
            </a:r>
            <a:endParaRPr lang="zh-CN" altLang="en-US" sz="3600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78334"/>
            <a:ext cx="6400800" cy="1752600"/>
          </a:xfrm>
        </p:spPr>
        <p:txBody>
          <a:bodyPr/>
          <a:lstStyle/>
          <a:p>
            <a:r>
              <a:rPr lang="en-US" altLang="zh-CN" dirty="0" err="1" smtClean="0">
                <a:solidFill>
                  <a:srgbClr val="FF0000"/>
                </a:solidFill>
              </a:rPr>
              <a:t>Danfeng</a:t>
            </a:r>
            <a:r>
              <a:rPr lang="en-US" altLang="zh-CN" dirty="0" smtClean="0">
                <a:solidFill>
                  <a:srgbClr val="FF0000"/>
                </a:solidFill>
              </a:rPr>
              <a:t> Shan</a:t>
            </a:r>
            <a:r>
              <a:rPr lang="en-US" altLang="zh-CN" dirty="0" smtClean="0">
                <a:solidFill>
                  <a:schemeClr val="tx1"/>
                </a:solidFill>
              </a:rPr>
              <a:t>, </a:t>
            </a:r>
            <a:r>
              <a:rPr lang="en-US" altLang="zh-CN" dirty="0" err="1" smtClean="0">
                <a:solidFill>
                  <a:schemeClr val="tx1"/>
                </a:solidFill>
              </a:rPr>
              <a:t>Fengyuan</a:t>
            </a:r>
            <a:r>
              <a:rPr lang="en-US" altLang="zh-CN" dirty="0" smtClean="0">
                <a:solidFill>
                  <a:schemeClr val="tx1"/>
                </a:solidFill>
              </a:rPr>
              <a:t> Ren</a:t>
            </a:r>
          </a:p>
          <a:p>
            <a:r>
              <a:rPr lang="en-US" altLang="zh-CN" sz="2400" dirty="0" smtClean="0">
                <a:solidFill>
                  <a:schemeClr val="tx1"/>
                </a:solidFill>
                <a:latin typeface="Bell MT" panose="02020503060305020303" pitchFamily="18" charset="0"/>
              </a:rPr>
              <a:t>IEEE INFOCOM 2017</a:t>
            </a:r>
            <a:endParaRPr lang="zh-CN" altLang="en-US" sz="2400" dirty="0">
              <a:solidFill>
                <a:schemeClr val="tx1"/>
              </a:solidFill>
              <a:latin typeface="Bell MT" panose="02020503060305020303" pitchFamily="18" charset="0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38298" y="5193370"/>
            <a:ext cx="2843402" cy="114653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807158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Background &amp; Motivation</a:t>
            </a:r>
            <a:endParaRPr lang="en-US" altLang="zh-CN" dirty="0" smtClean="0"/>
          </a:p>
          <a:p>
            <a:r>
              <a:rPr lang="en-US" altLang="zh-CN" dirty="0" smtClean="0"/>
              <a:t>Analysis</a:t>
            </a:r>
            <a:endParaRPr lang="en-US" altLang="zh-CN" dirty="0"/>
          </a:p>
          <a:p>
            <a:r>
              <a:rPr lang="en-US" altLang="zh-CN" dirty="0" smtClean="0"/>
              <a:t>Solution</a:t>
            </a:r>
          </a:p>
          <a:p>
            <a:r>
              <a:rPr lang="en-US" altLang="zh-CN" dirty="0" smtClean="0"/>
              <a:t>Evaluation</a:t>
            </a:r>
          </a:p>
          <a:p>
            <a:r>
              <a:rPr lang="en-US" altLang="zh-CN" dirty="0" smtClean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09293417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Center Networks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Intra DC</a:t>
            </a:r>
          </a:p>
          <a:p>
            <a:pPr lvl="1"/>
            <a:r>
              <a:rPr lang="en-US" altLang="zh-CN" dirty="0" smtClean="0"/>
              <a:t>Distributed applications</a:t>
            </a:r>
          </a:p>
          <a:p>
            <a:pPr lvl="2"/>
            <a:r>
              <a:rPr lang="en-US" altLang="zh-CN" dirty="0" smtClean="0"/>
              <a:t>High throughput &amp; Low latency</a:t>
            </a:r>
          </a:p>
          <a:p>
            <a:pPr lvl="1"/>
            <a:r>
              <a:rPr lang="en-US" altLang="zh-CN" dirty="0" smtClean="0"/>
              <a:t>Growing traffic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0" y="3396980"/>
            <a:ext cx="4482521" cy="2439415"/>
          </a:xfrm>
          <a:prstGeom prst="rect">
            <a:avLst/>
          </a:prstGeom>
        </p:spPr>
      </p:pic>
      <p:pic>
        <p:nvPicPr>
          <p:cNvPr id="8" name="Picture 11"/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44304" y="3461889"/>
            <a:ext cx="1386160" cy="1317349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9" name="Picture 3"/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45433" y="3672408"/>
            <a:ext cx="1818452" cy="1446568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0" name="Picture 10"/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61439" y="5143175"/>
            <a:ext cx="1386440" cy="1386440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pic>
        <p:nvPicPr>
          <p:cNvPr id="11" name="Picture 7"/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19894" y="4827393"/>
            <a:ext cx="2016224" cy="1702222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</a:extLst>
        </p:spPr>
      </p:pic>
      <p:sp>
        <p:nvSpPr>
          <p:cNvPr id="12" name="文本框 11"/>
          <p:cNvSpPr txBox="1"/>
          <p:nvPr/>
        </p:nvSpPr>
        <p:spPr>
          <a:xfrm>
            <a:off x="6410444" y="5876461"/>
            <a:ext cx="2601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/>
              <a:t>Google, SIGCOMM15</a:t>
            </a:r>
            <a:endParaRPr lang="zh-CN" altLang="en-US" sz="1600" dirty="0"/>
          </a:p>
        </p:txBody>
      </p:sp>
    </p:spTree>
    <p:extLst>
      <p:ext uri="{BB962C8B-B14F-4D97-AF65-F5344CB8AC3E}">
        <p14:creationId xmlns:p14="http://schemas.microsoft.com/office/powerpoint/2010/main" val="31843947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Data Center Networks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DCN architecture</a:t>
            </a:r>
            <a:endParaRPr lang="zh-CN" altLang="en-US" dirty="0"/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391" y="2443319"/>
            <a:ext cx="3794247" cy="2114251"/>
          </a:xfrm>
          <a:prstGeom prst="rect">
            <a:avLst/>
          </a:prstGeom>
        </p:spPr>
      </p:pic>
      <p:pic>
        <p:nvPicPr>
          <p:cNvPr id="6" name="图片 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162872" y="2464967"/>
            <a:ext cx="3981128" cy="2077110"/>
          </a:xfrm>
          <a:prstGeom prst="rect">
            <a:avLst/>
          </a:prstGeom>
        </p:spPr>
      </p:pic>
      <p:sp>
        <p:nvSpPr>
          <p:cNvPr id="7" name="右箭头 6"/>
          <p:cNvSpPr/>
          <p:nvPr/>
        </p:nvSpPr>
        <p:spPr>
          <a:xfrm>
            <a:off x="4102870" y="3156439"/>
            <a:ext cx="988769" cy="457200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" name="文本框 7"/>
          <p:cNvSpPr txBox="1"/>
          <p:nvPr/>
        </p:nvSpPr>
        <p:spPr>
          <a:xfrm>
            <a:off x="800100" y="4879731"/>
            <a:ext cx="2866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1/10Gbps Network (2004)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5627077" y="4879731"/>
            <a:ext cx="2866292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10/40Gbps Network</a:t>
            </a:r>
          </a:p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(2015)</a:t>
            </a:r>
            <a:endParaRPr lang="zh-CN" alt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6604079" y="2061517"/>
            <a:ext cx="260146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Google, SIGCOMM15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6204275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Data Center Networks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Reducing CPU overhead: batching</a:t>
            </a:r>
          </a:p>
          <a:p>
            <a:pPr lvl="1"/>
            <a:r>
              <a:rPr lang="en-US" altLang="zh-CN" dirty="0" smtClean="0"/>
              <a:t>Large Segment Offload: TSO, GSO</a:t>
            </a:r>
          </a:p>
          <a:p>
            <a:pPr lvl="1"/>
            <a:r>
              <a:rPr lang="en-US" altLang="zh-CN" dirty="0"/>
              <a:t> Receive Side </a:t>
            </a:r>
            <a:r>
              <a:rPr lang="en-US" altLang="zh-CN" dirty="0" smtClean="0"/>
              <a:t>Offload: RSC, LRO, GRO</a:t>
            </a:r>
          </a:p>
          <a:p>
            <a:pPr lvl="1"/>
            <a:r>
              <a:rPr lang="en-US" altLang="zh-CN" dirty="0"/>
              <a:t> Interrupt Coalescing (IC</a:t>
            </a:r>
            <a:r>
              <a:rPr lang="en-US" altLang="zh-CN" dirty="0" smtClean="0"/>
              <a:t>)</a:t>
            </a:r>
          </a:p>
          <a:p>
            <a:pPr lvl="1"/>
            <a:r>
              <a:rPr lang="en-US" altLang="zh-CN" dirty="0"/>
              <a:t> Jumbo </a:t>
            </a:r>
            <a:r>
              <a:rPr lang="en-US" altLang="zh-CN" dirty="0" smtClean="0"/>
              <a:t>Frame</a:t>
            </a:r>
          </a:p>
          <a:p>
            <a:pPr lvl="1"/>
            <a:r>
              <a:rPr lang="en-US" altLang="zh-CN" dirty="0" smtClean="0"/>
              <a:t>…</a:t>
            </a:r>
          </a:p>
        </p:txBody>
      </p:sp>
    </p:spTree>
    <p:extLst>
      <p:ext uri="{BB962C8B-B14F-4D97-AF65-F5344CB8AC3E}">
        <p14:creationId xmlns:p14="http://schemas.microsoft.com/office/powerpoint/2010/main" val="387342361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ECN Marking in DCN</a:t>
            </a:r>
            <a:endParaRPr lang="zh-CN" altLang="en-US" dirty="0"/>
          </a:p>
        </p:txBody>
      </p:sp>
      <p:sp>
        <p:nvSpPr>
          <p:cNvPr id="10" name="文本框 9"/>
          <p:cNvSpPr txBox="1"/>
          <p:nvPr/>
        </p:nvSpPr>
        <p:spPr>
          <a:xfrm>
            <a:off x="186129" y="3051393"/>
            <a:ext cx="118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 smtClean="0">
                <a:latin typeface="+mn-lt"/>
              </a:rPr>
              <a:t>cwnd</a:t>
            </a:r>
            <a:endParaRPr lang="zh-CN" altLang="en-US" sz="2400" dirty="0">
              <a:latin typeface="+mn-lt"/>
            </a:endParaRPr>
          </a:p>
        </p:txBody>
      </p:sp>
      <p:cxnSp>
        <p:nvCxnSpPr>
          <p:cNvPr id="11" name="直接箭头连接符 10"/>
          <p:cNvCxnSpPr/>
          <p:nvPr/>
        </p:nvCxnSpPr>
        <p:spPr>
          <a:xfrm flipV="1">
            <a:off x="780102" y="3565074"/>
            <a:ext cx="0" cy="1187716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780102" y="4752789"/>
            <a:ext cx="3111552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>
            <a:off x="780102" y="4297395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>
            <a:off x="1240790" y="4172393"/>
            <a:ext cx="0" cy="112438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>
            <a:off x="1240790" y="4172393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>
            <a:off x="1713926" y="4056780"/>
            <a:ext cx="0" cy="112438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>
            <a:off x="1713926" y="4056780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3" name="直接箭头连接符 42"/>
          <p:cNvCxnSpPr/>
          <p:nvPr/>
        </p:nvCxnSpPr>
        <p:spPr>
          <a:xfrm>
            <a:off x="2174892" y="3934322"/>
            <a:ext cx="0" cy="112438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4" name="直接箭头连接符 43"/>
          <p:cNvCxnSpPr/>
          <p:nvPr/>
        </p:nvCxnSpPr>
        <p:spPr>
          <a:xfrm>
            <a:off x="2174614" y="3934056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箭头连接符 45"/>
          <p:cNvCxnSpPr/>
          <p:nvPr/>
        </p:nvCxnSpPr>
        <p:spPr>
          <a:xfrm>
            <a:off x="2654639" y="3934056"/>
            <a:ext cx="0" cy="612531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7" name="直接箭头连接符 46"/>
          <p:cNvCxnSpPr/>
          <p:nvPr/>
        </p:nvCxnSpPr>
        <p:spPr>
          <a:xfrm>
            <a:off x="2655274" y="4546587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直接箭头连接符 52"/>
          <p:cNvCxnSpPr/>
          <p:nvPr/>
        </p:nvCxnSpPr>
        <p:spPr>
          <a:xfrm flipV="1">
            <a:off x="4748556" y="3610969"/>
            <a:ext cx="0" cy="1187716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4" name="直接箭头连接符 53"/>
          <p:cNvCxnSpPr/>
          <p:nvPr/>
        </p:nvCxnSpPr>
        <p:spPr>
          <a:xfrm>
            <a:off x="4748556" y="4798684"/>
            <a:ext cx="3111552" cy="0"/>
          </a:xfrm>
          <a:prstGeom prst="straightConnector1">
            <a:avLst/>
          </a:prstGeom>
          <a:ln w="22225">
            <a:solidFill>
              <a:schemeClr val="tx1">
                <a:lumMod val="50000"/>
                <a:lumOff val="50000"/>
              </a:schemeClr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5" name="直接箭头连接符 54"/>
          <p:cNvCxnSpPr/>
          <p:nvPr/>
        </p:nvCxnSpPr>
        <p:spPr>
          <a:xfrm>
            <a:off x="4748556" y="4343290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5217838" y="4225800"/>
            <a:ext cx="0" cy="112438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7" name="直接箭头连接符 56"/>
          <p:cNvCxnSpPr/>
          <p:nvPr/>
        </p:nvCxnSpPr>
        <p:spPr>
          <a:xfrm>
            <a:off x="5217838" y="4223262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8" name="直接箭头连接符 57"/>
          <p:cNvCxnSpPr/>
          <p:nvPr/>
        </p:nvCxnSpPr>
        <p:spPr>
          <a:xfrm>
            <a:off x="5683464" y="4110824"/>
            <a:ext cx="0" cy="112438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9" name="直接箭头连接符 58"/>
          <p:cNvCxnSpPr/>
          <p:nvPr/>
        </p:nvCxnSpPr>
        <p:spPr>
          <a:xfrm>
            <a:off x="5686549" y="4110824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0" name="直接箭头连接符 59"/>
          <p:cNvCxnSpPr/>
          <p:nvPr/>
        </p:nvCxnSpPr>
        <p:spPr>
          <a:xfrm>
            <a:off x="6152050" y="3986617"/>
            <a:ext cx="0" cy="112438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1" name="直接箭头连接符 60"/>
          <p:cNvCxnSpPr/>
          <p:nvPr/>
        </p:nvCxnSpPr>
        <p:spPr>
          <a:xfrm>
            <a:off x="6156761" y="3979951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箭头连接符 61"/>
          <p:cNvCxnSpPr/>
          <p:nvPr/>
        </p:nvCxnSpPr>
        <p:spPr>
          <a:xfrm>
            <a:off x="6619916" y="3979951"/>
            <a:ext cx="0" cy="612531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3" name="直接箭头连接符 62"/>
          <p:cNvCxnSpPr/>
          <p:nvPr/>
        </p:nvCxnSpPr>
        <p:spPr>
          <a:xfrm>
            <a:off x="6619916" y="4592482"/>
            <a:ext cx="460688" cy="0"/>
          </a:xfrm>
          <a:prstGeom prst="straightConnector1">
            <a:avLst/>
          </a:prstGeom>
          <a:ln w="31750" cap="rnd">
            <a:solidFill>
              <a:srgbClr val="0000FF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箭头连接符 65"/>
          <p:cNvCxnSpPr/>
          <p:nvPr/>
        </p:nvCxnSpPr>
        <p:spPr>
          <a:xfrm>
            <a:off x="4787139" y="4028550"/>
            <a:ext cx="2686962" cy="0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1" name="文本框 80"/>
          <p:cNvSpPr txBox="1"/>
          <p:nvPr/>
        </p:nvSpPr>
        <p:spPr>
          <a:xfrm>
            <a:off x="1528284" y="4809033"/>
            <a:ext cx="118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lt"/>
              </a:rPr>
              <a:t>Time</a:t>
            </a:r>
            <a:endParaRPr lang="zh-CN" altLang="en-US" dirty="0">
              <a:latin typeface="+mn-lt"/>
            </a:endParaRPr>
          </a:p>
        </p:txBody>
      </p:sp>
      <p:sp>
        <p:nvSpPr>
          <p:cNvPr id="82" name="文本框 81"/>
          <p:cNvSpPr txBox="1"/>
          <p:nvPr/>
        </p:nvSpPr>
        <p:spPr>
          <a:xfrm>
            <a:off x="5710359" y="4809033"/>
            <a:ext cx="118794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lt"/>
              </a:rPr>
              <a:t>Time</a:t>
            </a:r>
            <a:endParaRPr lang="zh-CN" altLang="en-US" dirty="0">
              <a:latin typeface="+mn-lt"/>
            </a:endParaRPr>
          </a:p>
        </p:txBody>
      </p:sp>
      <p:sp>
        <p:nvSpPr>
          <p:cNvPr id="83" name="文本框 82"/>
          <p:cNvSpPr txBox="1"/>
          <p:nvPr/>
        </p:nvSpPr>
        <p:spPr>
          <a:xfrm>
            <a:off x="4193166" y="3192731"/>
            <a:ext cx="11879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err="1" smtClean="0">
                <a:latin typeface="+mn-lt"/>
              </a:rPr>
              <a:t>qlen</a:t>
            </a:r>
            <a:endParaRPr lang="zh-CN" altLang="en-US" sz="2400" dirty="0">
              <a:latin typeface="+mn-lt"/>
            </a:endParaRPr>
          </a:p>
        </p:txBody>
      </p:sp>
      <p:cxnSp>
        <p:nvCxnSpPr>
          <p:cNvPr id="87" name="直接箭头连接符 86"/>
          <p:cNvCxnSpPr/>
          <p:nvPr/>
        </p:nvCxnSpPr>
        <p:spPr>
          <a:xfrm>
            <a:off x="6156761" y="3979951"/>
            <a:ext cx="460688" cy="0"/>
          </a:xfrm>
          <a:prstGeom prst="straightConnector1">
            <a:avLst/>
          </a:prstGeom>
          <a:ln w="31750" cap="rnd">
            <a:solidFill>
              <a:srgbClr val="FF0000"/>
            </a:solidFill>
            <a:headEnd type="none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8" name="矩形 87"/>
          <p:cNvSpPr/>
          <p:nvPr/>
        </p:nvSpPr>
        <p:spPr>
          <a:xfrm>
            <a:off x="5710359" y="3137080"/>
            <a:ext cx="1450730" cy="28648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chemeClr val="tx1"/>
                </a:solidFill>
              </a:rPr>
              <a:t>ECN Mark</a:t>
            </a:r>
            <a:endParaRPr lang="zh-CN" altLang="en-US" dirty="0">
              <a:solidFill>
                <a:schemeClr val="tx1"/>
              </a:solidFill>
            </a:endParaRPr>
          </a:p>
        </p:txBody>
      </p:sp>
      <p:cxnSp>
        <p:nvCxnSpPr>
          <p:cNvPr id="89" name="直接箭头连接符 88"/>
          <p:cNvCxnSpPr>
            <a:stCxn id="88" idx="2"/>
          </p:cNvCxnSpPr>
          <p:nvPr/>
        </p:nvCxnSpPr>
        <p:spPr>
          <a:xfrm flipH="1">
            <a:off x="6304332" y="3423564"/>
            <a:ext cx="131392" cy="501774"/>
          </a:xfrm>
          <a:prstGeom prst="straightConnector1">
            <a:avLst/>
          </a:prstGeom>
          <a:ln w="22225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" name="直接箭头连接符 3"/>
          <p:cNvCxnSpPr/>
          <p:nvPr/>
        </p:nvCxnSpPr>
        <p:spPr>
          <a:xfrm>
            <a:off x="1241272" y="4297395"/>
            <a:ext cx="472654" cy="0"/>
          </a:xfrm>
          <a:prstGeom prst="straightConnector1">
            <a:avLst/>
          </a:prstGeom>
          <a:ln w="15875">
            <a:solidFill>
              <a:schemeClr val="tx1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5" name="文本框 44"/>
          <p:cNvSpPr txBox="1"/>
          <p:nvPr/>
        </p:nvSpPr>
        <p:spPr>
          <a:xfrm>
            <a:off x="1090521" y="4172194"/>
            <a:ext cx="77395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err="1" smtClean="0">
                <a:latin typeface="+mn-lt"/>
              </a:rPr>
              <a:t>rtt</a:t>
            </a:r>
            <a:endParaRPr lang="zh-CN" altLang="en-US" sz="2400" dirty="0">
              <a:latin typeface="+mn-lt"/>
            </a:endParaRPr>
          </a:p>
        </p:txBody>
      </p:sp>
      <p:sp>
        <p:nvSpPr>
          <p:cNvPr id="51" name="内容占位符 2"/>
          <p:cNvSpPr>
            <a:spLocks noGrp="1"/>
          </p:cNvSpPr>
          <p:nvPr>
            <p:ph idx="1"/>
          </p:nvPr>
        </p:nvSpPr>
        <p:spPr>
          <a:xfrm>
            <a:off x="516956" y="1169461"/>
            <a:ext cx="8229600" cy="1907858"/>
          </a:xfrm>
        </p:spPr>
        <p:txBody>
          <a:bodyPr/>
          <a:lstStyle/>
          <a:p>
            <a:r>
              <a:rPr lang="en-US" altLang="zh-CN" dirty="0" smtClean="0"/>
              <a:t>ECN marking</a:t>
            </a:r>
          </a:p>
          <a:p>
            <a:pPr lvl="1"/>
            <a:r>
              <a:rPr lang="en-US" altLang="zh-CN" sz="2000" dirty="0" smtClean="0"/>
              <a:t>DCTCP, ECN*, DCQCN, ……</a:t>
            </a:r>
          </a:p>
          <a:p>
            <a:pPr lvl="1"/>
            <a:r>
              <a:rPr lang="en-US" altLang="zh-CN" sz="2000" dirty="0" smtClean="0"/>
              <a:t>Single ECN threshold, Instant queue length</a:t>
            </a:r>
          </a:p>
          <a:p>
            <a:pPr lvl="2"/>
            <a:r>
              <a:rPr lang="en-US" altLang="zh-CN" sz="1600" dirty="0" smtClean="0"/>
              <a:t>If </a:t>
            </a:r>
            <a:r>
              <a:rPr lang="en-US" altLang="zh-CN" sz="1600" dirty="0" err="1" smtClean="0"/>
              <a:t>Qlen</a:t>
            </a:r>
            <a:r>
              <a:rPr lang="en-US" altLang="zh-CN" sz="1600" dirty="0" smtClean="0"/>
              <a:t> &gt; K, mark packets with ECN</a:t>
            </a:r>
          </a:p>
          <a:p>
            <a:pPr lvl="2"/>
            <a:r>
              <a:rPr lang="en-US" altLang="zh-CN" sz="1600" dirty="0" smtClean="0"/>
              <a:t>Senders slow down according to ECN feedbacks</a:t>
            </a:r>
          </a:p>
        </p:txBody>
      </p:sp>
      <p:sp>
        <p:nvSpPr>
          <p:cNvPr id="52" name="文本框 51"/>
          <p:cNvSpPr txBox="1"/>
          <p:nvPr/>
        </p:nvSpPr>
        <p:spPr>
          <a:xfrm>
            <a:off x="7426086" y="3834430"/>
            <a:ext cx="3974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  <a:latin typeface="+mn-lt"/>
              </a:rPr>
              <a:t>K</a:t>
            </a:r>
            <a:endParaRPr lang="zh-CN" altLang="en-US" sz="2400" dirty="0">
              <a:solidFill>
                <a:srgbClr val="FF0000"/>
              </a:solidFill>
              <a:latin typeface="+mn-lt"/>
            </a:endParaRPr>
          </a:p>
        </p:txBody>
      </p:sp>
      <p:pic>
        <p:nvPicPr>
          <p:cNvPr id="77" name="图片 7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999" y="5429304"/>
            <a:ext cx="386849" cy="532700"/>
          </a:xfrm>
          <a:prstGeom prst="rect">
            <a:avLst/>
          </a:prstGeom>
        </p:spPr>
      </p:pic>
      <p:pic>
        <p:nvPicPr>
          <p:cNvPr id="78" name="图片 77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113999" y="6049295"/>
            <a:ext cx="386849" cy="532700"/>
          </a:xfrm>
          <a:prstGeom prst="rect">
            <a:avLst/>
          </a:prstGeom>
        </p:spPr>
      </p:pic>
      <p:pic>
        <p:nvPicPr>
          <p:cNvPr id="79" name="图片 7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76541" y="5807392"/>
            <a:ext cx="694038" cy="580377"/>
          </a:xfrm>
          <a:prstGeom prst="rect">
            <a:avLst/>
          </a:prstGeom>
        </p:spPr>
      </p:pic>
      <p:sp>
        <p:nvSpPr>
          <p:cNvPr id="80" name="Freeform 152"/>
          <p:cNvSpPr>
            <a:spLocks/>
          </p:cNvSpPr>
          <p:nvPr/>
        </p:nvSpPr>
        <p:spPr bwMode="auto">
          <a:xfrm>
            <a:off x="4125357" y="5928354"/>
            <a:ext cx="744943" cy="334385"/>
          </a:xfrm>
          <a:custGeom>
            <a:avLst/>
            <a:gdLst>
              <a:gd name="T0" fmla="*/ 0 w 768"/>
              <a:gd name="T1" fmla="*/ 0 h 576"/>
              <a:gd name="T2" fmla="*/ 768 w 768"/>
              <a:gd name="T3" fmla="*/ 0 h 576"/>
              <a:gd name="T4" fmla="*/ 768 w 768"/>
              <a:gd name="T5" fmla="*/ 576 h 576"/>
              <a:gd name="T6" fmla="*/ 0 w 768"/>
              <a:gd name="T7" fmla="*/ 576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576"/>
              <a:gd name="T14" fmla="*/ 768 w 768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576">
                <a:moveTo>
                  <a:pt x="0" y="0"/>
                </a:moveTo>
                <a:lnTo>
                  <a:pt x="768" y="0"/>
                </a:lnTo>
                <a:lnTo>
                  <a:pt x="768" y="576"/>
                </a:lnTo>
                <a:lnTo>
                  <a:pt x="0" y="576"/>
                </a:lnTo>
              </a:path>
            </a:pathLst>
          </a:custGeom>
          <a:solidFill>
            <a:schemeClr val="bg1"/>
          </a:solidFill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333399"/>
              </a:solidFill>
              <a:latin typeface="+mn-lt"/>
              <a:ea typeface="+mn-ea"/>
            </a:endParaRPr>
          </a:p>
        </p:txBody>
      </p:sp>
      <p:pic>
        <p:nvPicPr>
          <p:cNvPr id="86" name="图片 8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3106" y="5824902"/>
            <a:ext cx="386849" cy="532700"/>
          </a:xfrm>
          <a:prstGeom prst="rect">
            <a:avLst/>
          </a:prstGeom>
        </p:spPr>
      </p:pic>
      <p:sp>
        <p:nvSpPr>
          <p:cNvPr id="90" name="文本框 89"/>
          <p:cNvSpPr txBox="1"/>
          <p:nvPr/>
        </p:nvSpPr>
        <p:spPr>
          <a:xfrm>
            <a:off x="1240790" y="5549880"/>
            <a:ext cx="1103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Sender 1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1" name="文本框 90"/>
          <p:cNvSpPr txBox="1"/>
          <p:nvPr/>
        </p:nvSpPr>
        <p:spPr>
          <a:xfrm>
            <a:off x="1240790" y="6141637"/>
            <a:ext cx="1103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Sender 2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2" name="文本框 91"/>
          <p:cNvSpPr txBox="1"/>
          <p:nvPr/>
        </p:nvSpPr>
        <p:spPr>
          <a:xfrm>
            <a:off x="5683625" y="6369901"/>
            <a:ext cx="1103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Receiver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3" name="任意多边形 92"/>
          <p:cNvSpPr/>
          <p:nvPr/>
        </p:nvSpPr>
        <p:spPr>
          <a:xfrm>
            <a:off x="2375720" y="5653241"/>
            <a:ext cx="3534509" cy="429725"/>
          </a:xfrm>
          <a:custGeom>
            <a:avLst/>
            <a:gdLst>
              <a:gd name="connsiteX0" fmla="*/ 0 w 5644661"/>
              <a:gd name="connsiteY0" fmla="*/ 0 h 659424"/>
              <a:gd name="connsiteX1" fmla="*/ 2584938 w 5644661"/>
              <a:gd name="connsiteY1" fmla="*/ 518747 h 659424"/>
              <a:gd name="connsiteX2" fmla="*/ 5644661 w 5644661"/>
              <a:gd name="connsiteY2" fmla="*/ 659424 h 65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4661" h="659424">
                <a:moveTo>
                  <a:pt x="0" y="0"/>
                </a:moveTo>
                <a:cubicBezTo>
                  <a:pt x="822080" y="204421"/>
                  <a:pt x="1644161" y="408843"/>
                  <a:pt x="2584938" y="518747"/>
                </a:cubicBezTo>
                <a:cubicBezTo>
                  <a:pt x="3525715" y="628651"/>
                  <a:pt x="4585188" y="644037"/>
                  <a:pt x="5644661" y="65942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4" name="任意多边形 93"/>
          <p:cNvSpPr/>
          <p:nvPr/>
        </p:nvSpPr>
        <p:spPr>
          <a:xfrm>
            <a:off x="2393305" y="6152497"/>
            <a:ext cx="3516924" cy="231204"/>
          </a:xfrm>
          <a:custGeom>
            <a:avLst/>
            <a:gdLst>
              <a:gd name="connsiteX0" fmla="*/ 0 w 5688623"/>
              <a:gd name="connsiteY0" fmla="*/ 411075 h 411075"/>
              <a:gd name="connsiteX1" fmla="*/ 2769577 w 5688623"/>
              <a:gd name="connsiteY1" fmla="*/ 41799 h 411075"/>
              <a:gd name="connsiteX2" fmla="*/ 5688623 w 5688623"/>
              <a:gd name="connsiteY2" fmla="*/ 24214 h 4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8623" h="411075">
                <a:moveTo>
                  <a:pt x="0" y="411075"/>
                </a:moveTo>
                <a:cubicBezTo>
                  <a:pt x="910736" y="258675"/>
                  <a:pt x="1821473" y="106276"/>
                  <a:pt x="2769577" y="41799"/>
                </a:cubicBezTo>
                <a:cubicBezTo>
                  <a:pt x="3717681" y="-22678"/>
                  <a:pt x="4703152" y="768"/>
                  <a:pt x="5688623" y="2421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5" name="下箭头 94"/>
          <p:cNvSpPr/>
          <p:nvPr/>
        </p:nvSpPr>
        <p:spPr>
          <a:xfrm rot="13584017">
            <a:off x="4928963" y="4928978"/>
            <a:ext cx="319594" cy="957792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6" name="文本框 95"/>
          <p:cNvSpPr txBox="1"/>
          <p:nvPr/>
        </p:nvSpPr>
        <p:spPr>
          <a:xfrm>
            <a:off x="3739950" y="5492335"/>
            <a:ext cx="110355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Switch</a:t>
            </a:r>
            <a:endParaRPr lang="zh-CN" altLang="en-US" sz="1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7" name="下箭头 96"/>
          <p:cNvSpPr/>
          <p:nvPr/>
        </p:nvSpPr>
        <p:spPr>
          <a:xfrm rot="9577038">
            <a:off x="1871904" y="5038022"/>
            <a:ext cx="319594" cy="426567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3513481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6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2" fill="hold">
                      <p:stCondLst>
                        <p:cond delay="indefinite"/>
                      </p:stCondLst>
                      <p:childTnLst>
                        <p:par>
                          <p:cTn id="13" fill="hold">
                            <p:stCondLst>
                              <p:cond delay="0"/>
                            </p:stCondLst>
                            <p:childTnLst>
                              <p:par>
                                <p:cTn id="14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6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" fill="hold">
                            <p:stCondLst>
                              <p:cond delay="500"/>
                            </p:stCondLst>
                            <p:childTnLst>
                              <p:par>
                                <p:cTn id="1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1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10"/>
                            </p:stCondLst>
                            <p:childTnLst>
                              <p:par>
                                <p:cTn id="2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10"/>
                            </p:stCondLst>
                            <p:childTnLst>
                              <p:par>
                                <p:cTn id="2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8" dur="1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9" fill="hold">
                            <p:stCondLst>
                              <p:cond delay="1020"/>
                            </p:stCondLst>
                            <p:childTnLst>
                              <p:par>
                                <p:cTn id="3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2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3" fill="hold">
                            <p:stCondLst>
                              <p:cond delay="1520"/>
                            </p:stCondLst>
                            <p:childTnLst>
                              <p:par>
                                <p:cTn id="3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6" dur="1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7" fill="hold">
                            <p:stCondLst>
                              <p:cond delay="1530"/>
                            </p:stCondLst>
                            <p:childTnLst>
                              <p:par>
                                <p:cTn id="3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0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1" fill="hold">
                            <p:stCondLst>
                              <p:cond delay="2030"/>
                            </p:stCondLst>
                            <p:childTnLst>
                              <p:par>
                                <p:cTn id="42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6" dur="1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510"/>
                            </p:stCondLst>
                            <p:childTnLst>
                              <p:par>
                                <p:cTn id="5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0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1" fill="hold">
                            <p:stCondLst>
                              <p:cond delay="1010"/>
                            </p:stCondLst>
                            <p:childTnLst>
                              <p:par>
                                <p:cTn id="6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4" dur="1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5" fill="hold">
                            <p:stCondLst>
                              <p:cond delay="1020"/>
                            </p:stCondLst>
                            <p:childTnLst>
                              <p:par>
                                <p:cTn id="66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68" dur="500"/>
                                        <p:tgtEl>
                                          <p:spTgt spid="5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9" fill="hold">
                            <p:stCondLst>
                              <p:cond delay="1520"/>
                            </p:stCondLst>
                            <p:childTnLst>
                              <p:par>
                                <p:cTn id="7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2" dur="1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3" fill="hold">
                            <p:stCondLst>
                              <p:cond delay="1530"/>
                            </p:stCondLst>
                            <p:childTnLst>
                              <p:par>
                                <p:cTn id="74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6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>
                      <p:stCondLst>
                        <p:cond delay="indefinite"/>
                      </p:stCondLst>
                      <p:childTnLst>
                        <p:par>
                          <p:cTn id="78" fill="hold">
                            <p:stCondLst>
                              <p:cond delay="0"/>
                            </p:stCondLst>
                            <p:childTnLst>
                              <p:par>
                                <p:cTn id="79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81" dur="500"/>
                                        <p:tgtEl>
                                          <p:spTgt spid="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2" fill="hold">
                            <p:stCondLst>
                              <p:cond delay="500"/>
                            </p:stCondLst>
                            <p:childTnLst>
                              <p:par>
                                <p:cTn id="8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85" dur="500"/>
                                        <p:tgtEl>
                                          <p:spTgt spid="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6" fill="hold">
                            <p:stCondLst>
                              <p:cond delay="1000"/>
                            </p:stCondLst>
                            <p:childTnLst>
                              <p:par>
                                <p:cTn id="8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9" dur="250"/>
                                        <p:tgtEl>
                                          <p:spTgt spid="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0" fill="hold">
                            <p:stCondLst>
                              <p:cond delay="1250"/>
                            </p:stCondLst>
                            <p:childTnLst>
                              <p:par>
                                <p:cTn id="9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3" dur="500"/>
                                        <p:tgtEl>
                                          <p:spTgt spid="51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4" fill="hold">
                      <p:stCondLst>
                        <p:cond delay="indefinite"/>
                      </p:stCondLst>
                      <p:childTnLst>
                        <p:par>
                          <p:cTn id="95" fill="hold">
                            <p:stCondLst>
                              <p:cond delay="0"/>
                            </p:stCondLst>
                            <p:childTnLst>
                              <p:par>
                                <p:cTn id="96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8" dur="75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99" fill="hold">
                            <p:stCondLst>
                              <p:cond delay="750"/>
                            </p:stCondLst>
                            <p:childTnLst>
                              <p:par>
                                <p:cTn id="100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2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3" fill="hold">
                            <p:stCondLst>
                              <p:cond delay="1250"/>
                            </p:stCondLst>
                            <p:childTnLst>
                              <p:par>
                                <p:cTn id="104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6" dur="500"/>
                                        <p:tgtEl>
                                          <p:spTgt spid="6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7" fill="hold">
                            <p:stCondLst>
                              <p:cond delay="1750"/>
                            </p:stCondLst>
                            <p:childTnLst>
                              <p:par>
                                <p:cTn id="10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0" dur="500"/>
                                        <p:tgtEl>
                                          <p:spTgt spid="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1" fill="hold">
                            <p:stCondLst>
                              <p:cond delay="2250"/>
                            </p:stCondLst>
                            <p:childTnLst>
                              <p:par>
                                <p:cTn id="1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4" dur="500"/>
                                        <p:tgtEl>
                                          <p:spTgt spid="51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8" grpId="0" animBg="1"/>
      <p:bldP spid="45" grpId="0"/>
      <p:bldP spid="52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</a:t>
            </a:r>
            <a:r>
              <a:rPr lang="en-US" altLang="zh-CN" dirty="0" smtClean="0"/>
              <a:t>Underflow </a:t>
            </a:r>
            <a:r>
              <a:rPr lang="en-US" altLang="zh-CN" dirty="0"/>
              <a:t>P</a:t>
            </a:r>
            <a:r>
              <a:rPr lang="en-US" altLang="zh-CN" dirty="0" smtClean="0"/>
              <a:t>roblem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37378" y="2140976"/>
            <a:ext cx="4931020" cy="107631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777560" y="4303451"/>
            <a:ext cx="5102375" cy="1045672"/>
          </a:xfrm>
          <a:prstGeom prst="rect">
            <a:avLst/>
          </a:prstGeom>
        </p:spPr>
      </p:pic>
      <p:sp>
        <p:nvSpPr>
          <p:cNvPr id="8" name="圆角矩形 7"/>
          <p:cNvSpPr/>
          <p:nvPr/>
        </p:nvSpPr>
        <p:spPr>
          <a:xfrm>
            <a:off x="4538078" y="3465501"/>
            <a:ext cx="1294413" cy="53749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Batching</a:t>
            </a:r>
            <a:endParaRPr lang="zh-CN" altLang="en-US" dirty="0"/>
          </a:p>
        </p:txBody>
      </p:sp>
      <p:sp>
        <p:nvSpPr>
          <p:cNvPr id="9" name="下箭头 8"/>
          <p:cNvSpPr/>
          <p:nvPr/>
        </p:nvSpPr>
        <p:spPr>
          <a:xfrm>
            <a:off x="4102887" y="3386093"/>
            <a:ext cx="451720" cy="91735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4538078" y="1657111"/>
            <a:ext cx="203032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000" dirty="0" smtClean="0">
                <a:latin typeface="+mn-lt"/>
              </a:rPr>
              <a:t>w/o burst</a:t>
            </a:r>
            <a:endParaRPr lang="zh-CN" altLang="en-US" sz="2000" dirty="0">
              <a:latin typeface="+mn-lt"/>
            </a:endParaRPr>
          </a:p>
        </p:txBody>
      </p:sp>
      <p:cxnSp>
        <p:nvCxnSpPr>
          <p:cNvPr id="11" name="直接箭头连接符 10"/>
          <p:cNvCxnSpPr>
            <a:stCxn id="10" idx="1"/>
          </p:cNvCxnSpPr>
          <p:nvPr/>
        </p:nvCxnSpPr>
        <p:spPr>
          <a:xfrm flipH="1">
            <a:off x="3877952" y="1857166"/>
            <a:ext cx="660126" cy="283810"/>
          </a:xfrm>
          <a:prstGeom prst="straightConnector1">
            <a:avLst/>
          </a:prstGeom>
          <a:ln w="22225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椭圆 13"/>
          <p:cNvSpPr/>
          <p:nvPr/>
        </p:nvSpPr>
        <p:spPr>
          <a:xfrm>
            <a:off x="3283592" y="4762080"/>
            <a:ext cx="819295" cy="458729"/>
          </a:xfrm>
          <a:prstGeom prst="ellipse">
            <a:avLst/>
          </a:prstGeom>
          <a:noFill/>
          <a:ln cap="rnd">
            <a:solidFill>
              <a:srgbClr val="FF0000"/>
            </a:solidFill>
            <a:prstDash val="dash"/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" name="直接箭头连接符 14"/>
          <p:cNvCxnSpPr/>
          <p:nvPr/>
        </p:nvCxnSpPr>
        <p:spPr>
          <a:xfrm flipH="1" flipV="1">
            <a:off x="3894481" y="5243308"/>
            <a:ext cx="434266" cy="210172"/>
          </a:xfrm>
          <a:prstGeom prst="straightConnector1">
            <a:avLst/>
          </a:prstGeom>
          <a:ln w="22225">
            <a:solidFill>
              <a:srgbClr val="FF000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圆角矩形 16"/>
          <p:cNvSpPr/>
          <p:nvPr/>
        </p:nvSpPr>
        <p:spPr>
          <a:xfrm>
            <a:off x="3968151" y="5475979"/>
            <a:ext cx="3457673" cy="537491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2" algn="just"/>
            <a:r>
              <a:rPr lang="en-US" altLang="zh-CN" b="1" dirty="0" smtClean="0"/>
              <a:t>Micro-burst:</a:t>
            </a:r>
          </a:p>
          <a:p>
            <a:pPr marL="0" lvl="2" algn="ctr"/>
            <a:r>
              <a:rPr lang="en-US" altLang="zh-CN" sz="1600" dirty="0" smtClean="0"/>
              <a:t>traffic </a:t>
            </a:r>
            <a:r>
              <a:rPr lang="en-US" altLang="zh-CN" sz="1600" dirty="0"/>
              <a:t>burst in sub-RTT </a:t>
            </a:r>
            <a:r>
              <a:rPr lang="en-US" altLang="zh-CN" sz="1600" dirty="0" smtClean="0"/>
              <a:t>level</a:t>
            </a:r>
            <a:endParaRPr lang="en-US" altLang="zh-CN" sz="1600" dirty="0"/>
          </a:p>
        </p:txBody>
      </p:sp>
    </p:spTree>
    <p:extLst>
      <p:ext uri="{BB962C8B-B14F-4D97-AF65-F5344CB8AC3E}">
        <p14:creationId xmlns:p14="http://schemas.microsoft.com/office/powerpoint/2010/main" val="386775169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500"/>
                            </p:stCondLst>
                            <p:childTnLst>
                              <p:par>
                                <p:cTn id="20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/>
      <p:bldP spid="9" grpId="0" animBg="1"/>
      <p:bldP spid="10" grpId="0"/>
      <p:bldP spid="14" grpId="0" animBg="1"/>
      <p:bldP spid="17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Buffer </a:t>
            </a:r>
            <a:r>
              <a:rPr lang="en-US" altLang="zh-CN" dirty="0" smtClean="0"/>
              <a:t>Underflow </a:t>
            </a:r>
            <a:r>
              <a:rPr lang="en-US" altLang="zh-CN" dirty="0"/>
              <a:t>P</a:t>
            </a:r>
            <a:r>
              <a:rPr lang="en-US" altLang="zh-CN" dirty="0" smtClean="0"/>
              <a:t>roblem</a:t>
            </a:r>
            <a:endParaRPr lang="zh-CN" altLang="en-US" dirty="0"/>
          </a:p>
        </p:txBody>
      </p:sp>
      <p:cxnSp>
        <p:nvCxnSpPr>
          <p:cNvPr id="5" name="直接箭头连接符 4"/>
          <p:cNvCxnSpPr/>
          <p:nvPr/>
        </p:nvCxnSpPr>
        <p:spPr>
          <a:xfrm flipV="1">
            <a:off x="776370" y="1196752"/>
            <a:ext cx="11568" cy="1492176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8" name="直接箭头连接符 7"/>
          <p:cNvCxnSpPr/>
          <p:nvPr/>
        </p:nvCxnSpPr>
        <p:spPr>
          <a:xfrm>
            <a:off x="787938" y="2688928"/>
            <a:ext cx="5071548" cy="0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/>
          <p:nvPr/>
        </p:nvCxnSpPr>
        <p:spPr>
          <a:xfrm flipV="1">
            <a:off x="780884" y="3890145"/>
            <a:ext cx="16630" cy="2145135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/>
          <p:nvPr/>
        </p:nvCxnSpPr>
        <p:spPr>
          <a:xfrm>
            <a:off x="777062" y="6035280"/>
            <a:ext cx="5490388" cy="0"/>
          </a:xfrm>
          <a:prstGeom prst="straightConnector1">
            <a:avLst/>
          </a:prstGeom>
          <a:ln w="25400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连接符 150"/>
          <p:cNvCxnSpPr/>
          <p:nvPr/>
        </p:nvCxnSpPr>
        <p:spPr>
          <a:xfrm flipV="1">
            <a:off x="938564" y="5008109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5" name="直接连接符 174"/>
          <p:cNvCxnSpPr/>
          <p:nvPr/>
        </p:nvCxnSpPr>
        <p:spPr>
          <a:xfrm>
            <a:off x="1607499" y="1680726"/>
            <a:ext cx="178603" cy="45467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6" name="直接连接符 175"/>
          <p:cNvCxnSpPr/>
          <p:nvPr/>
        </p:nvCxnSpPr>
        <p:spPr>
          <a:xfrm flipV="1">
            <a:off x="877394" y="1675081"/>
            <a:ext cx="730105" cy="460504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2" name="直接连接符 201"/>
          <p:cNvCxnSpPr/>
          <p:nvPr/>
        </p:nvCxnSpPr>
        <p:spPr>
          <a:xfrm flipH="1" flipV="1">
            <a:off x="1066260" y="5008109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8" name="直接连接符 207"/>
          <p:cNvCxnSpPr/>
          <p:nvPr/>
        </p:nvCxnSpPr>
        <p:spPr>
          <a:xfrm flipV="1">
            <a:off x="1193956" y="4799786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9" name="直接连接符 208"/>
          <p:cNvCxnSpPr/>
          <p:nvPr/>
        </p:nvCxnSpPr>
        <p:spPr>
          <a:xfrm flipH="1" flipV="1">
            <a:off x="1321652" y="4799786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0" name="直接连接符 209"/>
          <p:cNvCxnSpPr/>
          <p:nvPr/>
        </p:nvCxnSpPr>
        <p:spPr>
          <a:xfrm flipV="1">
            <a:off x="1455895" y="4602779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1" name="直接连接符 210"/>
          <p:cNvCxnSpPr/>
          <p:nvPr/>
        </p:nvCxnSpPr>
        <p:spPr>
          <a:xfrm flipH="1" flipV="1">
            <a:off x="1583591" y="4602779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2" name="直接连接符 211"/>
          <p:cNvCxnSpPr/>
          <p:nvPr/>
        </p:nvCxnSpPr>
        <p:spPr>
          <a:xfrm flipV="1">
            <a:off x="1693653" y="4422354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3" name="直接连接符 212"/>
          <p:cNvCxnSpPr/>
          <p:nvPr/>
        </p:nvCxnSpPr>
        <p:spPr>
          <a:xfrm flipH="1" flipV="1">
            <a:off x="1821349" y="4422354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4" name="直接连接符 213"/>
          <p:cNvCxnSpPr/>
          <p:nvPr/>
        </p:nvCxnSpPr>
        <p:spPr>
          <a:xfrm flipV="1">
            <a:off x="1942669" y="4235195"/>
            <a:ext cx="127696" cy="651152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5" name="直接连接符 214"/>
          <p:cNvCxnSpPr/>
          <p:nvPr/>
        </p:nvCxnSpPr>
        <p:spPr>
          <a:xfrm flipH="1" flipV="1">
            <a:off x="2070365" y="4235194"/>
            <a:ext cx="369339" cy="142406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0" name="直接连接符 219"/>
          <p:cNvCxnSpPr/>
          <p:nvPr/>
        </p:nvCxnSpPr>
        <p:spPr>
          <a:xfrm flipV="1">
            <a:off x="2442366" y="4988358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1" name="直接连接符 220"/>
          <p:cNvCxnSpPr/>
          <p:nvPr/>
        </p:nvCxnSpPr>
        <p:spPr>
          <a:xfrm flipH="1" flipV="1">
            <a:off x="2570062" y="4988358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2" name="直接连接符 221"/>
          <p:cNvCxnSpPr/>
          <p:nvPr/>
        </p:nvCxnSpPr>
        <p:spPr>
          <a:xfrm flipV="1">
            <a:off x="2697758" y="4780035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3" name="直接连接符 222"/>
          <p:cNvCxnSpPr/>
          <p:nvPr/>
        </p:nvCxnSpPr>
        <p:spPr>
          <a:xfrm flipH="1" flipV="1">
            <a:off x="2825454" y="4780035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4" name="直接连接符 223"/>
          <p:cNvCxnSpPr/>
          <p:nvPr/>
        </p:nvCxnSpPr>
        <p:spPr>
          <a:xfrm flipV="1">
            <a:off x="2959697" y="4583028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5" name="直接连接符 224"/>
          <p:cNvCxnSpPr/>
          <p:nvPr/>
        </p:nvCxnSpPr>
        <p:spPr>
          <a:xfrm flipH="1" flipV="1">
            <a:off x="3087393" y="4583028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6" name="直接连接符 225"/>
          <p:cNvCxnSpPr/>
          <p:nvPr/>
        </p:nvCxnSpPr>
        <p:spPr>
          <a:xfrm flipV="1">
            <a:off x="3197455" y="4402603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7" name="直接连接符 226"/>
          <p:cNvCxnSpPr/>
          <p:nvPr/>
        </p:nvCxnSpPr>
        <p:spPr>
          <a:xfrm flipH="1" flipV="1">
            <a:off x="3325151" y="4402603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8" name="直接连接符 227"/>
          <p:cNvCxnSpPr/>
          <p:nvPr/>
        </p:nvCxnSpPr>
        <p:spPr>
          <a:xfrm flipV="1">
            <a:off x="3446471" y="4215444"/>
            <a:ext cx="127696" cy="651152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9" name="直接连接符 228"/>
          <p:cNvCxnSpPr/>
          <p:nvPr/>
        </p:nvCxnSpPr>
        <p:spPr>
          <a:xfrm flipH="1" flipV="1">
            <a:off x="3574167" y="4215443"/>
            <a:ext cx="369339" cy="142406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0" name="直接连接符 229"/>
          <p:cNvCxnSpPr/>
          <p:nvPr/>
        </p:nvCxnSpPr>
        <p:spPr>
          <a:xfrm flipV="1">
            <a:off x="3959382" y="4988358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1" name="直接连接符 230"/>
          <p:cNvCxnSpPr/>
          <p:nvPr/>
        </p:nvCxnSpPr>
        <p:spPr>
          <a:xfrm flipH="1" flipV="1">
            <a:off x="4087078" y="4988358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2" name="直接连接符 231"/>
          <p:cNvCxnSpPr/>
          <p:nvPr/>
        </p:nvCxnSpPr>
        <p:spPr>
          <a:xfrm flipV="1">
            <a:off x="4214774" y="4780035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3" name="直接连接符 232"/>
          <p:cNvCxnSpPr/>
          <p:nvPr/>
        </p:nvCxnSpPr>
        <p:spPr>
          <a:xfrm flipH="1" flipV="1">
            <a:off x="4342470" y="4780035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4" name="直接连接符 233"/>
          <p:cNvCxnSpPr/>
          <p:nvPr/>
        </p:nvCxnSpPr>
        <p:spPr>
          <a:xfrm flipV="1">
            <a:off x="4476713" y="4583028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5" name="直接连接符 234"/>
          <p:cNvCxnSpPr/>
          <p:nvPr/>
        </p:nvCxnSpPr>
        <p:spPr>
          <a:xfrm flipH="1" flipV="1">
            <a:off x="4604409" y="4583028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6" name="直接连接符 235"/>
          <p:cNvCxnSpPr/>
          <p:nvPr/>
        </p:nvCxnSpPr>
        <p:spPr>
          <a:xfrm flipV="1">
            <a:off x="4714471" y="4402603"/>
            <a:ext cx="127696" cy="651153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7" name="直接连接符 236"/>
          <p:cNvCxnSpPr/>
          <p:nvPr/>
        </p:nvCxnSpPr>
        <p:spPr>
          <a:xfrm flipH="1" flipV="1">
            <a:off x="4842167" y="4402603"/>
            <a:ext cx="110062" cy="454146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8" name="直接连接符 237"/>
          <p:cNvCxnSpPr/>
          <p:nvPr/>
        </p:nvCxnSpPr>
        <p:spPr>
          <a:xfrm flipV="1">
            <a:off x="4963487" y="4215444"/>
            <a:ext cx="127696" cy="651152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9" name="直接连接符 238"/>
          <p:cNvCxnSpPr/>
          <p:nvPr/>
        </p:nvCxnSpPr>
        <p:spPr>
          <a:xfrm flipH="1" flipV="1">
            <a:off x="5091183" y="4215443"/>
            <a:ext cx="369339" cy="142406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4" name="直接连接符 253"/>
          <p:cNvCxnSpPr/>
          <p:nvPr/>
        </p:nvCxnSpPr>
        <p:spPr>
          <a:xfrm>
            <a:off x="2526209" y="1691931"/>
            <a:ext cx="178603" cy="45467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5" name="直接连接符 254"/>
          <p:cNvCxnSpPr/>
          <p:nvPr/>
        </p:nvCxnSpPr>
        <p:spPr>
          <a:xfrm flipV="1">
            <a:off x="1796104" y="1686286"/>
            <a:ext cx="730105" cy="460504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6" name="直接连接符 255"/>
          <p:cNvCxnSpPr/>
          <p:nvPr/>
        </p:nvCxnSpPr>
        <p:spPr>
          <a:xfrm>
            <a:off x="3453525" y="1691931"/>
            <a:ext cx="178603" cy="45467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7" name="直接连接符 256"/>
          <p:cNvCxnSpPr/>
          <p:nvPr/>
        </p:nvCxnSpPr>
        <p:spPr>
          <a:xfrm flipV="1">
            <a:off x="2723420" y="1686286"/>
            <a:ext cx="730105" cy="460504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8" name="直接连接符 257"/>
          <p:cNvCxnSpPr/>
          <p:nvPr/>
        </p:nvCxnSpPr>
        <p:spPr>
          <a:xfrm>
            <a:off x="4370284" y="1701531"/>
            <a:ext cx="178603" cy="45467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9" name="直接连接符 258"/>
          <p:cNvCxnSpPr/>
          <p:nvPr/>
        </p:nvCxnSpPr>
        <p:spPr>
          <a:xfrm flipV="1">
            <a:off x="3640179" y="1695886"/>
            <a:ext cx="730105" cy="460504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0" name="直接连接符 259"/>
          <p:cNvCxnSpPr/>
          <p:nvPr/>
        </p:nvCxnSpPr>
        <p:spPr>
          <a:xfrm>
            <a:off x="5304849" y="1695886"/>
            <a:ext cx="178603" cy="454678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1" name="直接连接符 260"/>
          <p:cNvCxnSpPr/>
          <p:nvPr/>
        </p:nvCxnSpPr>
        <p:spPr>
          <a:xfrm flipV="1">
            <a:off x="4574744" y="1690241"/>
            <a:ext cx="730105" cy="460504"/>
          </a:xfrm>
          <a:prstGeom prst="line">
            <a:avLst/>
          </a:prstGeom>
          <a:ln w="19050" cap="rnd">
            <a:solidFill>
              <a:srgbClr val="0000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80" name="圆角矩形 279"/>
          <p:cNvSpPr/>
          <p:nvPr/>
        </p:nvSpPr>
        <p:spPr>
          <a:xfrm>
            <a:off x="2489705" y="3082233"/>
            <a:ext cx="1852765" cy="53749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w/ micro-burst</a:t>
            </a:r>
            <a:endParaRPr lang="zh-CN" altLang="en-US" dirty="0"/>
          </a:p>
        </p:txBody>
      </p:sp>
      <p:sp>
        <p:nvSpPr>
          <p:cNvPr id="281" name="下箭头 280"/>
          <p:cNvSpPr/>
          <p:nvPr/>
        </p:nvSpPr>
        <p:spPr>
          <a:xfrm>
            <a:off x="2126121" y="2981695"/>
            <a:ext cx="451720" cy="917358"/>
          </a:xfrm>
          <a:prstGeom prst="downArrow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3" name="矩形 282"/>
          <p:cNvSpPr/>
          <p:nvPr/>
        </p:nvSpPr>
        <p:spPr>
          <a:xfrm>
            <a:off x="5202360" y="2794510"/>
            <a:ext cx="955635" cy="26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Time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84" name="矩形 283"/>
          <p:cNvSpPr/>
          <p:nvPr/>
        </p:nvSpPr>
        <p:spPr>
          <a:xfrm>
            <a:off x="222402" y="612179"/>
            <a:ext cx="1233493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Queue Length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5" name="矩形 284"/>
          <p:cNvSpPr/>
          <p:nvPr/>
        </p:nvSpPr>
        <p:spPr>
          <a:xfrm>
            <a:off x="223081" y="3302867"/>
            <a:ext cx="1233493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>
                <a:solidFill>
                  <a:schemeClr val="tx1"/>
                </a:solidFill>
              </a:rPr>
              <a:t>Queue Length</a:t>
            </a:r>
            <a:endParaRPr lang="zh-CN" altLang="en-US" sz="1600" dirty="0">
              <a:solidFill>
                <a:schemeClr val="tx1"/>
              </a:solidFill>
            </a:endParaRPr>
          </a:p>
        </p:txBody>
      </p:sp>
      <p:sp>
        <p:nvSpPr>
          <p:cNvPr id="286" name="矩形 285"/>
          <p:cNvSpPr/>
          <p:nvPr/>
        </p:nvSpPr>
        <p:spPr>
          <a:xfrm>
            <a:off x="5698638" y="6130655"/>
            <a:ext cx="955635" cy="336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Time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287" name="圆角矩形 286"/>
          <p:cNvSpPr/>
          <p:nvPr/>
        </p:nvSpPr>
        <p:spPr>
          <a:xfrm>
            <a:off x="6662499" y="3101829"/>
            <a:ext cx="1695635" cy="537491"/>
          </a:xfrm>
          <a:prstGeom prst="roundRect">
            <a:avLst/>
          </a:prstGeom>
          <a:noFill/>
          <a:ln>
            <a:noFill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</a:rPr>
              <a:t>Queue length oscillations</a:t>
            </a:r>
            <a:endParaRPr lang="zh-CN" altLang="en-US" dirty="0">
              <a:solidFill>
                <a:srgbClr val="0000FF"/>
              </a:solidFill>
            </a:endParaRPr>
          </a:p>
        </p:txBody>
      </p:sp>
      <p:cxnSp>
        <p:nvCxnSpPr>
          <p:cNvPr id="288" name="直接箭头连接符 287"/>
          <p:cNvCxnSpPr/>
          <p:nvPr/>
        </p:nvCxnSpPr>
        <p:spPr>
          <a:xfrm>
            <a:off x="858689" y="1663666"/>
            <a:ext cx="5000797" cy="0"/>
          </a:xfrm>
          <a:prstGeom prst="straightConnector1">
            <a:avLst/>
          </a:prstGeom>
          <a:ln w="22225" cap="rnd">
            <a:solidFill>
              <a:schemeClr val="tx1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89" name="直接箭头连接符 288"/>
          <p:cNvCxnSpPr/>
          <p:nvPr/>
        </p:nvCxnSpPr>
        <p:spPr>
          <a:xfrm>
            <a:off x="877394" y="2156209"/>
            <a:ext cx="4914022" cy="0"/>
          </a:xfrm>
          <a:prstGeom prst="straightConnector1">
            <a:avLst/>
          </a:prstGeom>
          <a:ln w="22225" cap="rnd">
            <a:solidFill>
              <a:schemeClr val="tx1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0" name="直接箭头连接符 289"/>
          <p:cNvCxnSpPr/>
          <p:nvPr/>
        </p:nvCxnSpPr>
        <p:spPr>
          <a:xfrm>
            <a:off x="776370" y="4215443"/>
            <a:ext cx="5083116" cy="0"/>
          </a:xfrm>
          <a:prstGeom prst="straightConnector1">
            <a:avLst/>
          </a:prstGeom>
          <a:ln w="22225" cap="rnd">
            <a:solidFill>
              <a:schemeClr val="tx1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1" name="直接箭头连接符 290"/>
          <p:cNvCxnSpPr/>
          <p:nvPr/>
        </p:nvCxnSpPr>
        <p:spPr>
          <a:xfrm>
            <a:off x="840690" y="5661898"/>
            <a:ext cx="5018796" cy="0"/>
          </a:xfrm>
          <a:prstGeom prst="straightConnector1">
            <a:avLst/>
          </a:prstGeom>
          <a:ln w="22225" cap="rnd">
            <a:solidFill>
              <a:schemeClr val="tx1">
                <a:lumMod val="50000"/>
                <a:lumOff val="50000"/>
              </a:schemeClr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1" name="直接连接符 300"/>
          <p:cNvCxnSpPr/>
          <p:nvPr/>
        </p:nvCxnSpPr>
        <p:spPr>
          <a:xfrm flipV="1">
            <a:off x="5680178" y="1654276"/>
            <a:ext cx="0" cy="481128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1" name="直接连接符 310"/>
          <p:cNvCxnSpPr/>
          <p:nvPr/>
        </p:nvCxnSpPr>
        <p:spPr>
          <a:xfrm flipV="1">
            <a:off x="5791416" y="4215443"/>
            <a:ext cx="0" cy="1443819"/>
          </a:xfrm>
          <a:prstGeom prst="line">
            <a:avLst/>
          </a:prstGeom>
          <a:ln w="19050" cap="rnd">
            <a:solidFill>
              <a:schemeClr val="tx1">
                <a:lumMod val="50000"/>
                <a:lumOff val="50000"/>
              </a:schemeClr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13" name="弧形 312"/>
          <p:cNvSpPr/>
          <p:nvPr/>
        </p:nvSpPr>
        <p:spPr>
          <a:xfrm>
            <a:off x="4872596" y="1830600"/>
            <a:ext cx="1795963" cy="3157758"/>
          </a:xfrm>
          <a:prstGeom prst="arc">
            <a:avLst>
              <a:gd name="adj1" fmla="val 16146911"/>
              <a:gd name="adj2" fmla="val 5319308"/>
            </a:avLst>
          </a:prstGeom>
          <a:ln w="19050" cap="rnd">
            <a:solidFill>
              <a:schemeClr val="tx1"/>
            </a:solidFill>
            <a:prstDash val="sysDash"/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317" name="直接箭头连接符 316"/>
          <p:cNvCxnSpPr/>
          <p:nvPr/>
        </p:nvCxnSpPr>
        <p:spPr>
          <a:xfrm>
            <a:off x="858689" y="1762278"/>
            <a:ext cx="5408761" cy="3769"/>
          </a:xfrm>
          <a:prstGeom prst="straightConnector1">
            <a:avLst/>
          </a:prstGeom>
          <a:ln w="28575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5" name="矩形 324"/>
          <p:cNvSpPr/>
          <p:nvPr/>
        </p:nvSpPr>
        <p:spPr>
          <a:xfrm>
            <a:off x="443038" y="2005187"/>
            <a:ext cx="280872" cy="26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27" name="矩形 326"/>
          <p:cNvSpPr/>
          <p:nvPr/>
        </p:nvSpPr>
        <p:spPr>
          <a:xfrm>
            <a:off x="6010273" y="4037723"/>
            <a:ext cx="293280" cy="26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</a:rPr>
              <a:t>K</a:t>
            </a:r>
            <a:endParaRPr lang="zh-CN" altLang="en-US" sz="2000" dirty="0">
              <a:solidFill>
                <a:srgbClr val="FF0000"/>
              </a:solidFill>
            </a:endParaRPr>
          </a:p>
        </p:txBody>
      </p:sp>
      <p:cxnSp>
        <p:nvCxnSpPr>
          <p:cNvPr id="328" name="直接箭头连接符 327"/>
          <p:cNvCxnSpPr/>
          <p:nvPr/>
        </p:nvCxnSpPr>
        <p:spPr>
          <a:xfrm>
            <a:off x="818259" y="4316714"/>
            <a:ext cx="5408761" cy="3769"/>
          </a:xfrm>
          <a:prstGeom prst="straightConnector1">
            <a:avLst/>
          </a:prstGeom>
          <a:ln w="28575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29" name="矩形 328"/>
          <p:cNvSpPr/>
          <p:nvPr/>
        </p:nvSpPr>
        <p:spPr>
          <a:xfrm>
            <a:off x="6010273" y="1458246"/>
            <a:ext cx="2499807" cy="26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rgbClr val="FF0000"/>
                </a:solidFill>
              </a:rPr>
              <a:t>K</a:t>
            </a:r>
            <a:r>
              <a:rPr lang="en-US" altLang="zh-CN" sz="2000" dirty="0" smtClean="0">
                <a:solidFill>
                  <a:schemeClr val="tx1"/>
                </a:solidFill>
              </a:rPr>
              <a:t>  (ECN Threshold)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40" name="矩形 339"/>
          <p:cNvSpPr/>
          <p:nvPr/>
        </p:nvSpPr>
        <p:spPr>
          <a:xfrm>
            <a:off x="433712" y="4859632"/>
            <a:ext cx="280872" cy="26043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000" dirty="0" smtClean="0">
                <a:solidFill>
                  <a:schemeClr val="tx1"/>
                </a:solidFill>
              </a:rPr>
              <a:t>0</a:t>
            </a:r>
            <a:endParaRPr lang="zh-CN" altLang="en-US" sz="2000" dirty="0">
              <a:solidFill>
                <a:schemeClr val="tx1"/>
              </a:solidFill>
            </a:endParaRPr>
          </a:p>
        </p:txBody>
      </p:sp>
      <p:sp>
        <p:nvSpPr>
          <p:cNvPr id="342" name="矩形 341"/>
          <p:cNvSpPr/>
          <p:nvPr/>
        </p:nvSpPr>
        <p:spPr>
          <a:xfrm>
            <a:off x="799798" y="5066772"/>
            <a:ext cx="5059688" cy="753164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3" name="椭圆 342"/>
          <p:cNvSpPr/>
          <p:nvPr/>
        </p:nvSpPr>
        <p:spPr>
          <a:xfrm>
            <a:off x="2241971" y="4892984"/>
            <a:ext cx="925055" cy="311919"/>
          </a:xfrm>
          <a:prstGeom prst="ellipse">
            <a:avLst/>
          </a:prstGeom>
          <a:noFill/>
          <a:ln w="31750" cap="rnd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44" name="矩形 343"/>
          <p:cNvSpPr/>
          <p:nvPr/>
        </p:nvSpPr>
        <p:spPr>
          <a:xfrm>
            <a:off x="2023792" y="5296582"/>
            <a:ext cx="1396412" cy="336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chemeClr val="tx1"/>
                </a:solidFill>
              </a:rPr>
              <a:t>Buffer underflow</a:t>
            </a:r>
            <a:endParaRPr lang="zh-CN" altLang="en-US" sz="1400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40100345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500"/>
                                        <p:tgtEl>
                                          <p:spTgt spid="20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20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2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2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2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2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2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500"/>
                                        <p:tgtEl>
                                          <p:spTgt spid="2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2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2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4" dur="500"/>
                                        <p:tgtEl>
                                          <p:spTgt spid="2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2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500"/>
                                        <p:tgtEl>
                                          <p:spTgt spid="2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500"/>
                                        <p:tgtEl>
                                          <p:spTgt spid="2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0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2" dur="500"/>
                                        <p:tgtEl>
                                          <p:spTgt spid="2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5" dur="500"/>
                                        <p:tgtEl>
                                          <p:spTgt spid="2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8" dur="500"/>
                                        <p:tgtEl>
                                          <p:spTgt spid="2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1" dur="500"/>
                                        <p:tgtEl>
                                          <p:spTgt spid="2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2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4" dur="500"/>
                                        <p:tgtEl>
                                          <p:spTgt spid="2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7" dur="500"/>
                                        <p:tgtEl>
                                          <p:spTgt spid="2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0" dur="500"/>
                                        <p:tgtEl>
                                          <p:spTgt spid="2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3" dur="500"/>
                                        <p:tgtEl>
                                          <p:spTgt spid="28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6" dur="500"/>
                                        <p:tgtEl>
                                          <p:spTgt spid="28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0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9" dur="500"/>
                                        <p:tgtEl>
                                          <p:spTgt spid="28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2" dur="500"/>
                                        <p:tgtEl>
                                          <p:spTgt spid="28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5" dur="500"/>
                                        <p:tgtEl>
                                          <p:spTgt spid="3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8" dur="500"/>
                                        <p:tgtEl>
                                          <p:spTgt spid="3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9" fill="hold">
                      <p:stCondLst>
                        <p:cond delay="indefinite"/>
                      </p:stCondLst>
                      <p:childTnLst>
                        <p:par>
                          <p:cTn id="120" fill="hold">
                            <p:stCondLst>
                              <p:cond delay="0"/>
                            </p:stCondLst>
                            <p:childTnLst>
                              <p:par>
                                <p:cTn id="12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3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6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9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0" fill="hold">
                            <p:stCondLst>
                              <p:cond delay="500"/>
                            </p:stCondLst>
                            <p:childTnLst>
                              <p:par>
                                <p:cTn id="131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3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6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7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9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0" fill="hold">
                            <p:stCondLst>
                              <p:cond delay="1000"/>
                            </p:stCondLst>
                            <p:childTnLst>
                              <p:par>
                                <p:cTn id="141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3" dur="500"/>
                                        <p:tgtEl>
                                          <p:spTgt spid="3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6" dur="500"/>
                                        <p:tgtEl>
                                          <p:spTgt spid="28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7" fill="hold">
                      <p:stCondLst>
                        <p:cond delay="indefinite"/>
                      </p:stCondLst>
                      <p:childTnLst>
                        <p:par>
                          <p:cTn id="148" fill="hold">
                            <p:stCondLst>
                              <p:cond delay="0"/>
                            </p:stCondLst>
                            <p:childTnLst>
                              <p:par>
                                <p:cTn id="149" presetID="22" presetClass="exit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0" dur="500"/>
                                        <p:tgtEl>
                                          <p:spTgt spid="288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1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2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3" dur="500"/>
                                        <p:tgtEl>
                                          <p:spTgt spid="289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4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5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6" dur="500"/>
                                        <p:tgtEl>
                                          <p:spTgt spid="290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5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8" presetID="22" presetClass="exit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wipe(down)">
                                      <p:cBhvr>
                                        <p:cTn id="159" dur="500"/>
                                        <p:tgtEl>
                                          <p:spTgt spid="29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1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2" dur="500"/>
                                        <p:tgtEl>
                                          <p:spTgt spid="30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4" presetID="10" presetClass="exit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65" dur="500"/>
                                        <p:tgtEl>
                                          <p:spTgt spid="311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166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7" fill="hold">
                            <p:stCondLst>
                              <p:cond delay="500"/>
                            </p:stCondLst>
                            <p:childTnLst>
                              <p:par>
                                <p:cTn id="168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0" dur="500"/>
                                        <p:tgtEl>
                                          <p:spTgt spid="3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71" fill="hold">
                            <p:stCondLst>
                              <p:cond delay="1000"/>
                            </p:stCondLst>
                            <p:childTnLst>
                              <p:par>
                                <p:cTn id="17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94444E-6 3.7037E-7 L 0.00035 -0.06713 " pathEditMode="relative" rAng="0" ptsTypes="AA">
                                      <p:cBhvr>
                                        <p:cTn id="173" dur="75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7" y="-3356"/>
                                    </p:animMotion>
                                  </p:childTnLst>
                                </p:cTn>
                              </p:par>
                              <p:par>
                                <p:cTn id="174" presetID="42" presetClass="path" presetSubtype="0" accel="50000" decel="5000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5.55556E-7 1.11111E-6 L -5.55556E-7 -0.06968 " pathEditMode="relative" rAng="0" ptsTypes="AA">
                                      <p:cBhvr>
                                        <p:cTn id="175" dur="750" fill="hold"/>
                                        <p:tgtEl>
                                          <p:spTgt spid="283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-349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6" fill="hold">
                      <p:stCondLst>
                        <p:cond delay="indefinite"/>
                      </p:stCondLst>
                      <p:childTnLst>
                        <p:par>
                          <p:cTn id="177" fill="hold">
                            <p:stCondLst>
                              <p:cond delay="0"/>
                            </p:stCondLst>
                            <p:childTnLst>
                              <p:par>
                                <p:cTn id="17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0" dur="500"/>
                                        <p:tgtEl>
                                          <p:spTgt spid="3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1" fill="hold">
                            <p:stCondLst>
                              <p:cond delay="500"/>
                            </p:stCondLst>
                            <p:childTnLst>
                              <p:par>
                                <p:cTn id="182" presetID="42" presetClass="path" presetSubtype="0" accel="50000" decel="5000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5.55556E-7 -2.59259E-6 L 0.00573 -0.1456 " pathEditMode="relative" rAng="0" ptsTypes="AA">
                                      <p:cBhvr>
                                        <p:cTn id="183" dur="750" fill="hold"/>
                                        <p:tgtEl>
                                          <p:spTgt spid="24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78" y="-7292"/>
                                    </p:animMotion>
                                  </p:childTnLst>
                                </p:cTn>
                              </p:par>
                              <p:par>
                                <p:cTn id="184" presetID="42" presetClass="path" presetSubtype="0" accel="50000" decel="50000" fill="hold" grpId="1" nodeType="with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8.33333E-7 1.48148E-6 L -0.00208 -0.1463 " pathEditMode="relative" rAng="0" ptsTypes="AA">
                                      <p:cBhvr>
                                        <p:cTn id="185" dur="750" fill="hold"/>
                                        <p:tgtEl>
                                          <p:spTgt spid="286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-104" y="-7315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6" fill="hold">
                            <p:stCondLst>
                              <p:cond delay="1250"/>
                            </p:stCondLst>
                            <p:childTnLst>
                              <p:par>
                                <p:cTn id="18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89" dur="500"/>
                                        <p:tgtEl>
                                          <p:spTgt spid="3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0" fill="hold">
                      <p:stCondLst>
                        <p:cond delay="indefinite"/>
                      </p:stCondLst>
                      <p:childTnLst>
                        <p:par>
                          <p:cTn id="191" fill="hold">
                            <p:stCondLst>
                              <p:cond delay="0"/>
                            </p:stCondLst>
                            <p:childTnLst>
                              <p:par>
                                <p:cTn id="19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4" dur="500"/>
                                        <p:tgtEl>
                                          <p:spTgt spid="3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9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7" dur="500"/>
                                        <p:tgtEl>
                                          <p:spTgt spid="3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0" grpId="0"/>
      <p:bldP spid="281" grpId="0" animBg="1"/>
      <p:bldP spid="283" grpId="0" animBg="1"/>
      <p:bldP spid="285" grpId="0" animBg="1"/>
      <p:bldP spid="286" grpId="0" animBg="1"/>
      <p:bldP spid="286" grpId="1" animBg="1"/>
      <p:bldP spid="287" grpId="0"/>
      <p:bldP spid="313" grpId="0" animBg="1"/>
      <p:bldP spid="325" grpId="0" animBg="1"/>
      <p:bldP spid="327" grpId="0" animBg="1"/>
      <p:bldP spid="340" grpId="0" animBg="1"/>
      <p:bldP spid="342" grpId="0" animBg="1"/>
      <p:bldP spid="343" grpId="0" animBg="1"/>
      <p:bldP spid="344" grpId="0" animBg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Buffer Underflow Problem</a:t>
            </a:r>
            <a:endParaRPr lang="zh-CN" altLang="en-US" dirty="0"/>
          </a:p>
        </p:txBody>
      </p:sp>
      <p:sp>
        <p:nvSpPr>
          <p:cNvPr id="6" name="圆角矩形 5"/>
          <p:cNvSpPr/>
          <p:nvPr/>
        </p:nvSpPr>
        <p:spPr>
          <a:xfrm>
            <a:off x="3631224" y="1705710"/>
            <a:ext cx="1459523" cy="82647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Switch</a:t>
            </a:r>
          </a:p>
          <a:p>
            <a:pPr algn="ctr"/>
            <a:r>
              <a:rPr lang="en-US" altLang="zh-CN" dirty="0" smtClean="0"/>
              <a:t>(</a:t>
            </a:r>
            <a:r>
              <a:rPr lang="en-US" altLang="zh-CN" dirty="0" err="1" smtClean="0"/>
              <a:t>NetFPGA</a:t>
            </a:r>
            <a:r>
              <a:rPr lang="en-US" altLang="zh-CN" dirty="0" smtClean="0"/>
              <a:t>)</a:t>
            </a:r>
            <a:endParaRPr lang="zh-CN" altLang="en-US" dirty="0"/>
          </a:p>
        </p:txBody>
      </p:sp>
      <p:sp>
        <p:nvSpPr>
          <p:cNvPr id="9" name="矩形 8"/>
          <p:cNvSpPr/>
          <p:nvPr/>
        </p:nvSpPr>
        <p:spPr>
          <a:xfrm>
            <a:off x="6224955" y="1850782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Receiver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380394" y="1437544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Sender 1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380393" y="2264021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Sender 2</a:t>
            </a:r>
            <a:endParaRPr lang="zh-CN" altLang="en-US" dirty="0"/>
          </a:p>
        </p:txBody>
      </p:sp>
      <p:cxnSp>
        <p:nvCxnSpPr>
          <p:cNvPr id="13" name="直接连接符 12"/>
          <p:cNvCxnSpPr>
            <a:stCxn id="10" idx="3"/>
          </p:cNvCxnSpPr>
          <p:nvPr/>
        </p:nvCxnSpPr>
        <p:spPr>
          <a:xfrm>
            <a:off x="2690447" y="1705710"/>
            <a:ext cx="940777" cy="268165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/>
          <p:cNvCxnSpPr>
            <a:stCxn id="11" idx="3"/>
          </p:cNvCxnSpPr>
          <p:nvPr/>
        </p:nvCxnSpPr>
        <p:spPr>
          <a:xfrm flipV="1">
            <a:off x="2690446" y="2264021"/>
            <a:ext cx="940778" cy="268166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连接符 17"/>
          <p:cNvCxnSpPr>
            <a:endCxn id="9" idx="1"/>
          </p:cNvCxnSpPr>
          <p:nvPr/>
        </p:nvCxnSpPr>
        <p:spPr>
          <a:xfrm>
            <a:off x="5090747" y="2118947"/>
            <a:ext cx="1134208" cy="1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任意多边形 28"/>
          <p:cNvSpPr/>
          <p:nvPr/>
        </p:nvSpPr>
        <p:spPr>
          <a:xfrm>
            <a:off x="2690446" y="1600202"/>
            <a:ext cx="3534509" cy="429724"/>
          </a:xfrm>
          <a:custGeom>
            <a:avLst/>
            <a:gdLst>
              <a:gd name="connsiteX0" fmla="*/ 0 w 5644661"/>
              <a:gd name="connsiteY0" fmla="*/ 0 h 659424"/>
              <a:gd name="connsiteX1" fmla="*/ 2584938 w 5644661"/>
              <a:gd name="connsiteY1" fmla="*/ 518747 h 659424"/>
              <a:gd name="connsiteX2" fmla="*/ 5644661 w 5644661"/>
              <a:gd name="connsiteY2" fmla="*/ 659424 h 65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4661" h="659424">
                <a:moveTo>
                  <a:pt x="0" y="0"/>
                </a:moveTo>
                <a:cubicBezTo>
                  <a:pt x="822080" y="204421"/>
                  <a:pt x="1644161" y="408843"/>
                  <a:pt x="2584938" y="518747"/>
                </a:cubicBezTo>
                <a:cubicBezTo>
                  <a:pt x="3525715" y="628651"/>
                  <a:pt x="4585188" y="644037"/>
                  <a:pt x="5644661" y="65942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1" name="任意多边形 30"/>
          <p:cNvSpPr/>
          <p:nvPr/>
        </p:nvSpPr>
        <p:spPr>
          <a:xfrm>
            <a:off x="2708032" y="2235412"/>
            <a:ext cx="3516924" cy="411075"/>
          </a:xfrm>
          <a:custGeom>
            <a:avLst/>
            <a:gdLst>
              <a:gd name="connsiteX0" fmla="*/ 0 w 5688623"/>
              <a:gd name="connsiteY0" fmla="*/ 411075 h 411075"/>
              <a:gd name="connsiteX1" fmla="*/ 2769577 w 5688623"/>
              <a:gd name="connsiteY1" fmla="*/ 41799 h 411075"/>
              <a:gd name="connsiteX2" fmla="*/ 5688623 w 5688623"/>
              <a:gd name="connsiteY2" fmla="*/ 24214 h 4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8623" h="411075">
                <a:moveTo>
                  <a:pt x="0" y="411075"/>
                </a:moveTo>
                <a:cubicBezTo>
                  <a:pt x="910736" y="258675"/>
                  <a:pt x="1821473" y="106276"/>
                  <a:pt x="2769577" y="41799"/>
                </a:cubicBezTo>
                <a:cubicBezTo>
                  <a:pt x="3717681" y="-22678"/>
                  <a:pt x="4703152" y="768"/>
                  <a:pt x="5688623" y="2421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3" name="图片 3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90872" y="3766242"/>
            <a:ext cx="3712773" cy="2070520"/>
          </a:xfrm>
          <a:prstGeom prst="rect">
            <a:avLst/>
          </a:prstGeom>
        </p:spPr>
      </p:pic>
      <p:sp>
        <p:nvSpPr>
          <p:cNvPr id="34" name="文本框 33"/>
          <p:cNvSpPr txBox="1"/>
          <p:nvPr/>
        </p:nvSpPr>
        <p:spPr>
          <a:xfrm>
            <a:off x="2214748" y="5923358"/>
            <a:ext cx="102639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ECN*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35" name="图片 3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0" y="3766242"/>
            <a:ext cx="3739611" cy="2102470"/>
          </a:xfrm>
          <a:prstGeom prst="rect">
            <a:avLst/>
          </a:prstGeom>
        </p:spPr>
      </p:pic>
      <p:sp>
        <p:nvSpPr>
          <p:cNvPr id="36" name="文本框 35"/>
          <p:cNvSpPr txBox="1"/>
          <p:nvPr/>
        </p:nvSpPr>
        <p:spPr>
          <a:xfrm>
            <a:off x="6260667" y="5923358"/>
            <a:ext cx="1274341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DCTCP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7" name="椭圆 36"/>
          <p:cNvSpPr/>
          <p:nvPr/>
        </p:nvSpPr>
        <p:spPr>
          <a:xfrm>
            <a:off x="2214748" y="5073504"/>
            <a:ext cx="475698" cy="432086"/>
          </a:xfrm>
          <a:prstGeom prst="ellipse">
            <a:avLst/>
          </a:prstGeom>
          <a:noFill/>
          <a:ln w="34925" cap="rnd">
            <a:solidFill>
              <a:srgbClr val="FF0000"/>
            </a:solidFill>
            <a:prstDash val="solid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4" name="直接连接符 43"/>
          <p:cNvCxnSpPr/>
          <p:nvPr/>
        </p:nvCxnSpPr>
        <p:spPr>
          <a:xfrm>
            <a:off x="5187462" y="4866546"/>
            <a:ext cx="3026898" cy="0"/>
          </a:xfrm>
          <a:prstGeom prst="line">
            <a:avLst/>
          </a:prstGeom>
          <a:ln w="19050" cap="rnd">
            <a:solidFill>
              <a:srgbClr val="047E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直接连接符 45"/>
          <p:cNvCxnSpPr/>
          <p:nvPr/>
        </p:nvCxnSpPr>
        <p:spPr>
          <a:xfrm flipV="1">
            <a:off x="5187462" y="5008764"/>
            <a:ext cx="3718502" cy="15553"/>
          </a:xfrm>
          <a:prstGeom prst="line">
            <a:avLst/>
          </a:prstGeom>
          <a:ln w="19050" cap="rnd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6" name="直接箭头连接符 55"/>
          <p:cNvCxnSpPr/>
          <p:nvPr/>
        </p:nvCxnSpPr>
        <p:spPr>
          <a:xfrm>
            <a:off x="8647304" y="4573572"/>
            <a:ext cx="0" cy="435192"/>
          </a:xfrm>
          <a:prstGeom prst="straightConnector1">
            <a:avLst/>
          </a:prstGeom>
          <a:ln w="19050" cap="rnd">
            <a:solidFill>
              <a:srgbClr val="C00000"/>
            </a:solidFill>
            <a:headEnd type="arrow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1" name="矩形 60"/>
          <p:cNvSpPr/>
          <p:nvPr/>
        </p:nvSpPr>
        <p:spPr>
          <a:xfrm>
            <a:off x="8576454" y="4616836"/>
            <a:ext cx="488035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 algn="ctr"/>
            <a:r>
              <a:rPr lang="en-US" altLang="zh-CN" dirty="0" smtClean="0">
                <a:solidFill>
                  <a:srgbClr val="0000FF"/>
                </a:solidFill>
                <a:latin typeface="Comic Sans MS"/>
                <a:ea typeface="宋体"/>
              </a:rPr>
              <a:t>3x</a:t>
            </a:r>
            <a:endParaRPr lang="zh-CN" altLang="en-US" dirty="0">
              <a:solidFill>
                <a:srgbClr val="0000FF"/>
              </a:solidFill>
              <a:latin typeface="Comic Sans MS"/>
              <a:ea typeface="宋体"/>
            </a:endParaRPr>
          </a:p>
        </p:txBody>
      </p:sp>
      <p:sp>
        <p:nvSpPr>
          <p:cNvPr id="21" name="矩形 20"/>
          <p:cNvSpPr/>
          <p:nvPr/>
        </p:nvSpPr>
        <p:spPr>
          <a:xfrm>
            <a:off x="2663726" y="5423989"/>
            <a:ext cx="1110415" cy="33639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>
                <a:solidFill>
                  <a:srgbClr val="FF0000"/>
                </a:solidFill>
              </a:rPr>
              <a:t>Buffer underflow</a:t>
            </a:r>
            <a:endParaRPr lang="zh-CN" altLang="en-US" sz="1400" dirty="0">
              <a:solidFill>
                <a:srgbClr val="FF0000"/>
              </a:solidFill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2747748" y="1233635"/>
            <a:ext cx="1026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1Gbps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5187462" y="4691286"/>
            <a:ext cx="3026898" cy="0"/>
          </a:xfrm>
          <a:prstGeom prst="line">
            <a:avLst/>
          </a:prstGeom>
          <a:ln w="19050" cap="rnd">
            <a:solidFill>
              <a:srgbClr val="047E0A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直接连接符 24"/>
          <p:cNvCxnSpPr/>
          <p:nvPr/>
        </p:nvCxnSpPr>
        <p:spPr>
          <a:xfrm flipV="1">
            <a:off x="5187461" y="4581348"/>
            <a:ext cx="3718503" cy="15554"/>
          </a:xfrm>
          <a:prstGeom prst="line">
            <a:avLst/>
          </a:prstGeom>
          <a:ln w="19050" cap="rnd">
            <a:solidFill>
              <a:srgbClr val="C00000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直接箭头连接符 29"/>
          <p:cNvCxnSpPr/>
          <p:nvPr/>
        </p:nvCxnSpPr>
        <p:spPr>
          <a:xfrm>
            <a:off x="8214360" y="4693171"/>
            <a:ext cx="0" cy="173375"/>
          </a:xfrm>
          <a:prstGeom prst="straightConnector1">
            <a:avLst/>
          </a:prstGeom>
          <a:ln w="19050" cap="rnd">
            <a:solidFill>
              <a:srgbClr val="047E0A"/>
            </a:solidFill>
            <a:headEnd type="arrow" w="sm" len="sm"/>
            <a:tailEnd type="arrow" w="sm" len="sm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/>
          <p:cNvCxnSpPr/>
          <p:nvPr/>
        </p:nvCxnSpPr>
        <p:spPr>
          <a:xfrm>
            <a:off x="8244573" y="4777635"/>
            <a:ext cx="402731" cy="0"/>
          </a:xfrm>
          <a:prstGeom prst="straightConnector1">
            <a:avLst/>
          </a:prstGeom>
          <a:ln w="19050" cap="rnd">
            <a:solidFill>
              <a:srgbClr val="7030A0"/>
            </a:solidFill>
            <a:headEnd type="none"/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046968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2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3" fill="hold">
                            <p:stCondLst>
                              <p:cond delay="500"/>
                            </p:stCondLst>
                            <p:childTnLst>
                              <p:par>
                                <p:cTn id="44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7" fill="hold">
                            <p:stCondLst>
                              <p:cond delay="1000"/>
                            </p:stCondLst>
                            <p:childTnLst>
                              <p:par>
                                <p:cTn id="48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0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1" fill="hold">
                            <p:stCondLst>
                              <p:cond delay="1500"/>
                            </p:stCondLst>
                            <p:childTnLst>
                              <p:par>
                                <p:cTn id="52" presetID="22" presetClass="entr" presetSubtype="8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4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5" presetID="22" presetClass="entr" presetSubtype="8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5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8" fill="hold">
                            <p:stCondLst>
                              <p:cond delay="2000"/>
                            </p:stCondLst>
                            <p:childTnLst>
                              <p:par>
                                <p:cTn id="59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1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2" fill="hold">
                            <p:stCondLst>
                              <p:cond delay="2500"/>
                            </p:stCondLst>
                            <p:childTnLst>
                              <p:par>
                                <p:cTn id="6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500"/>
                                        <p:tgtEl>
                                          <p:spTgt spid="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  <p:bldP spid="31" grpId="0" animBg="1"/>
      <p:bldP spid="34" grpId="0"/>
      <p:bldP spid="36" grpId="0"/>
      <p:bldP spid="37" grpId="0" animBg="1"/>
      <p:bldP spid="61" grpId="0"/>
      <p:bldP spid="21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Buffer Underflow </a:t>
            </a:r>
            <a:r>
              <a:rPr lang="en-US" altLang="zh-CN" dirty="0"/>
              <a:t>P</a:t>
            </a:r>
            <a:r>
              <a:rPr lang="en-US" altLang="zh-CN" dirty="0" smtClean="0"/>
              <a:t>roblem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11221" y="3389687"/>
            <a:ext cx="3394588" cy="1840028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25584" y="3351288"/>
            <a:ext cx="3404007" cy="1954380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95519" y="5335895"/>
            <a:ext cx="388711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ECN*</a:t>
            </a:r>
          </a:p>
          <a:p>
            <a:pPr algn="ctr"/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127Mbps throughput loss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234704" y="5335895"/>
            <a:ext cx="358576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DCTCP</a:t>
            </a:r>
          </a:p>
          <a:p>
            <a:pPr algn="ctr"/>
            <a:r>
              <a:rPr lang="en-US" altLang="zh-CN" sz="2400" dirty="0" smtClean="0">
                <a:solidFill>
                  <a:srgbClr val="0000FF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1.391Gbps throughput loss</a:t>
            </a:r>
            <a:endParaRPr lang="zh-CN" altLang="en-US" dirty="0">
              <a:solidFill>
                <a:srgbClr val="0000FF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圆角矩形 7"/>
          <p:cNvSpPr/>
          <p:nvPr/>
        </p:nvSpPr>
        <p:spPr>
          <a:xfrm>
            <a:off x="3676048" y="1655627"/>
            <a:ext cx="1459523" cy="723734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Switch</a:t>
            </a:r>
          </a:p>
        </p:txBody>
      </p:sp>
      <p:sp>
        <p:nvSpPr>
          <p:cNvPr id="9" name="矩形 8"/>
          <p:cNvSpPr/>
          <p:nvPr/>
        </p:nvSpPr>
        <p:spPr>
          <a:xfrm>
            <a:off x="6269779" y="1793839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Receiver</a:t>
            </a:r>
            <a:endParaRPr lang="zh-CN" altLang="en-US" dirty="0"/>
          </a:p>
        </p:txBody>
      </p:sp>
      <p:sp>
        <p:nvSpPr>
          <p:cNvPr id="10" name="矩形 9"/>
          <p:cNvSpPr/>
          <p:nvPr/>
        </p:nvSpPr>
        <p:spPr>
          <a:xfrm>
            <a:off x="1425218" y="1380601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Sender 1</a:t>
            </a:r>
            <a:endParaRPr lang="zh-CN" altLang="en-US" dirty="0"/>
          </a:p>
        </p:txBody>
      </p:sp>
      <p:sp>
        <p:nvSpPr>
          <p:cNvPr id="11" name="矩形 10"/>
          <p:cNvSpPr/>
          <p:nvPr/>
        </p:nvSpPr>
        <p:spPr>
          <a:xfrm>
            <a:off x="1425217" y="2207078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Sender 2</a:t>
            </a:r>
            <a:endParaRPr lang="zh-CN" altLang="en-US" dirty="0"/>
          </a:p>
        </p:txBody>
      </p:sp>
      <p:cxnSp>
        <p:nvCxnSpPr>
          <p:cNvPr id="12" name="直接连接符 11"/>
          <p:cNvCxnSpPr>
            <a:stCxn id="10" idx="3"/>
          </p:cNvCxnSpPr>
          <p:nvPr/>
        </p:nvCxnSpPr>
        <p:spPr>
          <a:xfrm>
            <a:off x="2735271" y="1648767"/>
            <a:ext cx="940777" cy="268165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连接符 12"/>
          <p:cNvCxnSpPr>
            <a:stCxn id="11" idx="3"/>
          </p:cNvCxnSpPr>
          <p:nvPr/>
        </p:nvCxnSpPr>
        <p:spPr>
          <a:xfrm flipV="1">
            <a:off x="2735270" y="2207078"/>
            <a:ext cx="940778" cy="268166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连接符 13"/>
          <p:cNvCxnSpPr>
            <a:endCxn id="9" idx="1"/>
          </p:cNvCxnSpPr>
          <p:nvPr/>
        </p:nvCxnSpPr>
        <p:spPr>
          <a:xfrm>
            <a:off x="5135571" y="2062004"/>
            <a:ext cx="1134208" cy="1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 14"/>
          <p:cNvSpPr/>
          <p:nvPr/>
        </p:nvSpPr>
        <p:spPr>
          <a:xfrm>
            <a:off x="2735270" y="1543259"/>
            <a:ext cx="3534509" cy="429724"/>
          </a:xfrm>
          <a:custGeom>
            <a:avLst/>
            <a:gdLst>
              <a:gd name="connsiteX0" fmla="*/ 0 w 5644661"/>
              <a:gd name="connsiteY0" fmla="*/ 0 h 659424"/>
              <a:gd name="connsiteX1" fmla="*/ 2584938 w 5644661"/>
              <a:gd name="connsiteY1" fmla="*/ 518747 h 659424"/>
              <a:gd name="connsiteX2" fmla="*/ 5644661 w 5644661"/>
              <a:gd name="connsiteY2" fmla="*/ 659424 h 65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4661" h="659424">
                <a:moveTo>
                  <a:pt x="0" y="0"/>
                </a:moveTo>
                <a:cubicBezTo>
                  <a:pt x="822080" y="204421"/>
                  <a:pt x="1644161" y="408843"/>
                  <a:pt x="2584938" y="518747"/>
                </a:cubicBezTo>
                <a:cubicBezTo>
                  <a:pt x="3525715" y="628651"/>
                  <a:pt x="4585188" y="644037"/>
                  <a:pt x="5644661" y="65942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" name="任意多边形 15"/>
          <p:cNvSpPr/>
          <p:nvPr/>
        </p:nvSpPr>
        <p:spPr>
          <a:xfrm>
            <a:off x="2752856" y="2178469"/>
            <a:ext cx="3516924" cy="411075"/>
          </a:xfrm>
          <a:custGeom>
            <a:avLst/>
            <a:gdLst>
              <a:gd name="connsiteX0" fmla="*/ 0 w 5688623"/>
              <a:gd name="connsiteY0" fmla="*/ 411075 h 411075"/>
              <a:gd name="connsiteX1" fmla="*/ 2769577 w 5688623"/>
              <a:gd name="connsiteY1" fmla="*/ 41799 h 411075"/>
              <a:gd name="connsiteX2" fmla="*/ 5688623 w 5688623"/>
              <a:gd name="connsiteY2" fmla="*/ 24214 h 4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8623" h="411075">
                <a:moveTo>
                  <a:pt x="0" y="411075"/>
                </a:moveTo>
                <a:cubicBezTo>
                  <a:pt x="910736" y="258675"/>
                  <a:pt x="1821473" y="106276"/>
                  <a:pt x="2769577" y="41799"/>
                </a:cubicBezTo>
                <a:cubicBezTo>
                  <a:pt x="3717681" y="-22678"/>
                  <a:pt x="4703152" y="768"/>
                  <a:pt x="5688623" y="2421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2792572" y="1176692"/>
            <a:ext cx="102639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10Gbps</a:t>
            </a:r>
            <a:endParaRPr lang="zh-CN" alt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143118049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Brief Summary</a:t>
            </a:r>
            <a:endParaRPr lang="zh-CN" altLang="en-US" dirty="0"/>
          </a:p>
        </p:txBody>
      </p:sp>
      <p:graphicFrame>
        <p:nvGraphicFramePr>
          <p:cNvPr id="4" name="图示 3"/>
          <p:cNvGraphicFramePr/>
          <p:nvPr>
            <p:extLst>
              <p:ext uri="{D42A27DB-BD31-4B8C-83A1-F6EECF244321}">
                <p14:modId xmlns:p14="http://schemas.microsoft.com/office/powerpoint/2010/main" val="3004321418"/>
              </p:ext>
            </p:extLst>
          </p:nvPr>
        </p:nvGraphicFramePr>
        <p:xfrm>
          <a:off x="241249" y="2026024"/>
          <a:ext cx="8579223" cy="15688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sp>
        <p:nvSpPr>
          <p:cNvPr id="5" name="圆角矩形 4"/>
          <p:cNvSpPr/>
          <p:nvPr/>
        </p:nvSpPr>
        <p:spPr>
          <a:xfrm>
            <a:off x="1202951" y="3594848"/>
            <a:ext cx="5916705" cy="81578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The amplitude of queue length oscillations?</a:t>
            </a:r>
          </a:p>
        </p:txBody>
      </p:sp>
      <p:sp>
        <p:nvSpPr>
          <p:cNvPr id="6" name="圆角矩形 5"/>
          <p:cNvSpPr/>
          <p:nvPr/>
        </p:nvSpPr>
        <p:spPr>
          <a:xfrm>
            <a:off x="1202950" y="4946278"/>
            <a:ext cx="5916705" cy="815788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How to set ECN threshold with micro-burst traffic?</a:t>
            </a:r>
          </a:p>
        </p:txBody>
      </p:sp>
      <p:pic>
        <p:nvPicPr>
          <p:cNvPr id="1026" name="Picture 2" descr="“问题”的图片搜索结果"/>
          <p:cNvPicPr>
            <a:picLocks noChangeAspect="1" noChangeArrowheads="1"/>
          </p:cNvPicPr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543798" y="3802717"/>
            <a:ext cx="1600202" cy="16002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2198342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0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Background &amp; Motivation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Analysis</a:t>
            </a:r>
            <a:endParaRPr lang="en-US" altLang="zh-CN" dirty="0">
              <a:solidFill>
                <a:srgbClr val="FF0000"/>
              </a:solidFill>
            </a:endParaRPr>
          </a:p>
          <a:p>
            <a:r>
              <a:rPr lang="en-US" altLang="zh-CN" dirty="0" smtClean="0"/>
              <a:t>Solution</a:t>
            </a:r>
          </a:p>
          <a:p>
            <a:r>
              <a:rPr lang="en-US" altLang="zh-CN" dirty="0" smtClean="0"/>
              <a:t>Evaluation</a:t>
            </a:r>
          </a:p>
          <a:p>
            <a:r>
              <a:rPr lang="en-US" altLang="zh-CN" dirty="0" smtClean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96436360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Amplitude of queue length oscillations (DCTCP)</a:t>
            </a:r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4" name="矩形 3"/>
              <p:cNvSpPr/>
              <p:nvPr/>
            </p:nvSpPr>
            <p:spPr>
              <a:xfrm>
                <a:off x="2064394" y="3892921"/>
                <a:ext cx="6562929" cy="771889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−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</m:den>
                      </m:f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𝐶𝑑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≤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≤ </m:t>
                      </m:r>
                      <m:f>
                        <m:f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𝛽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𝑁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−1</m:t>
                              </m:r>
                            </m:e>
                          </m:d>
                        </m:num>
                        <m:den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𝑁</m:t>
                          </m:r>
                          <m:d>
                            <m:d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1−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</m:e>
                          </m:d>
                        </m:den>
                      </m:f>
                      <m:d>
                        <m:dPr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𝐶𝑑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sz="1600" i="1">
                              <a:latin typeface="Cambria Math" panose="02040503050406030204" pitchFamily="18" charset="0"/>
                            </a:rPr>
                            <m:t>𝐾</m:t>
                          </m:r>
                        </m:e>
                      </m:d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US" altLang="zh-CN" sz="1600" i="1">
                          <a:latin typeface="Cambria Math" panose="02040503050406030204" pitchFamily="18" charset="0"/>
                        </a:rPr>
                        <m:t>𝑁</m:t>
                      </m:r>
                      <m:rad>
                        <m:radPr>
                          <m:degHide m:val="on"/>
                          <m:ctrlPr>
                            <a:rPr lang="en-US" altLang="zh-CN" sz="1600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f>
                            <m:fPr>
                              <m:ctrlP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(1−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𝛽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)(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𝐶𝑑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+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𝐾</m:t>
                              </m:r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)</m:t>
                              </m:r>
                            </m:num>
                            <m:den>
                              <m:r>
                                <a:rPr lang="en-US" altLang="zh-CN" sz="1600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den>
                          </m:f>
                        </m:e>
                      </m:rad>
                    </m:oMath>
                  </m:oMathPara>
                </a14:m>
                <a:endParaRPr lang="zh-CN" altLang="en-US" sz="1600" dirty="0"/>
              </a:p>
            </p:txBody>
          </p:sp>
        </mc:Choice>
        <mc:Fallback xmlns="">
          <p:sp>
            <p:nvSpPr>
              <p:cNvPr id="4" name="矩形 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64394" y="3892921"/>
                <a:ext cx="6562929" cy="771889"/>
              </a:xfrm>
              <a:prstGeom prst="rect">
                <a:avLst/>
              </a:prstGeom>
              <a:blipFill>
                <a:blip r:embed="rId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4" name="矩形 13"/>
          <p:cNvSpPr/>
          <p:nvPr/>
        </p:nvSpPr>
        <p:spPr>
          <a:xfrm>
            <a:off x="0" y="3945617"/>
            <a:ext cx="1998268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w/ TSO-induced micro-burst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16875" y="2680839"/>
            <a:ext cx="20080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w/o micro-burst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矩形 16"/>
              <p:cNvSpPr/>
              <p:nvPr/>
            </p:nvSpPr>
            <p:spPr>
              <a:xfrm>
                <a:off x="303508" y="5219253"/>
                <a:ext cx="3068515" cy="116541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w/o micro-burst traffic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ad>
                            <m:radPr>
                              <m:degHide m:val="on"/>
                              <m:ctrlP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</m:ctrlPr>
                            </m:radPr>
                            <m:deg/>
                            <m:e>
                              <m:r>
                                <a:rPr lang="en-US" altLang="zh-CN" sz="2400" b="0" i="1" smtClean="0">
                                  <a:latin typeface="Cambria Math" panose="02040503050406030204" pitchFamily="18" charset="0"/>
                                </a:rPr>
                                <m:t>𝐵𝐷𝑃</m:t>
                              </m:r>
                            </m:e>
                          </m:rad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7" name="矩形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03508" y="5219253"/>
                <a:ext cx="3068515" cy="1165412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矩形 17"/>
              <p:cNvSpPr/>
              <p:nvPr/>
            </p:nvSpPr>
            <p:spPr>
              <a:xfrm>
                <a:off x="5789908" y="5219253"/>
                <a:ext cx="2998176" cy="1165412"/>
              </a:xfrm>
              <a:prstGeom prst="rect">
                <a:avLst/>
              </a:prstGeom>
            </p:spPr>
            <p:style>
              <a:lnRef idx="1">
                <a:schemeClr val="accent5"/>
              </a:lnRef>
              <a:fillRef idx="2">
                <a:schemeClr val="accent5"/>
              </a:fillRef>
              <a:effectRef idx="1">
                <a:schemeClr val="accent5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:r>
                  <a:rPr lang="en-US" altLang="zh-CN" dirty="0" smtClean="0"/>
                  <a:t>w/ micro-burst traffic</a:t>
                </a: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sz="2400" b="0" i="1" smtClean="0">
                          <a:latin typeface="Cambria Math" panose="02040503050406030204" pitchFamily="18" charset="0"/>
                        </a:rPr>
                        <m:t>𝑂</m:t>
                      </m:r>
                      <m:d>
                        <m:dPr>
                          <m:ctrlP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US" altLang="zh-CN" sz="2400" b="0" i="1" smtClean="0">
                              <a:latin typeface="Cambria Math" panose="02040503050406030204" pitchFamily="18" charset="0"/>
                            </a:rPr>
                            <m:t>𝐵𝐷𝑃</m:t>
                          </m:r>
                        </m:e>
                      </m:d>
                    </m:oMath>
                  </m:oMathPara>
                </a14:m>
                <a:endParaRPr lang="zh-CN" altLang="en-US" sz="2400" dirty="0"/>
              </a:p>
            </p:txBody>
          </p:sp>
        </mc:Choice>
        <mc:Fallback xmlns="">
          <p:sp>
            <p:nvSpPr>
              <p:cNvPr id="18" name="矩形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89908" y="5219253"/>
                <a:ext cx="2998176" cy="1165412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9" name="右箭头 18"/>
          <p:cNvSpPr/>
          <p:nvPr/>
        </p:nvSpPr>
        <p:spPr>
          <a:xfrm>
            <a:off x="3591831" y="5452680"/>
            <a:ext cx="1978269" cy="474784"/>
          </a:xfrm>
          <a:prstGeom prst="right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竖卷形 20"/>
          <p:cNvSpPr/>
          <p:nvPr/>
        </p:nvSpPr>
        <p:spPr>
          <a:xfrm>
            <a:off x="5789908" y="2057400"/>
            <a:ext cx="3354092" cy="1684926"/>
          </a:xfrm>
          <a:prstGeom prst="verticalScrol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dirty="0" smtClean="0"/>
              <a:t>N: # of flows</a:t>
            </a:r>
          </a:p>
          <a:p>
            <a:pPr algn="just"/>
            <a:r>
              <a:rPr lang="en-US" altLang="zh-CN" dirty="0" smtClean="0"/>
              <a:t>C: link capacity</a:t>
            </a:r>
          </a:p>
          <a:p>
            <a:pPr algn="just"/>
            <a:r>
              <a:rPr lang="en-US" altLang="zh-CN" dirty="0" smtClean="0"/>
              <a:t>d: Base RTT</a:t>
            </a:r>
          </a:p>
          <a:p>
            <a:pPr algn="just"/>
            <a:r>
              <a:rPr lang="en-US" altLang="zh-CN" dirty="0" smtClean="0"/>
              <a:t>K: ECN threshold</a:t>
            </a:r>
          </a:p>
          <a:p>
            <a:pPr algn="just"/>
            <a:r>
              <a:rPr lang="en-US" altLang="zh-CN" dirty="0" smtClean="0"/>
              <a:t>A: </a:t>
            </a:r>
            <a:r>
              <a:rPr lang="en-US" altLang="zh-CN" sz="1600" dirty="0" smtClean="0"/>
              <a:t>Amplitude of oscillation</a:t>
            </a:r>
            <a:endParaRPr lang="zh-CN" altLang="en-US" sz="1600" dirty="0"/>
          </a:p>
        </p:txBody>
      </p:sp>
      <p:sp>
        <p:nvSpPr>
          <p:cNvPr id="22" name="椭圆 21"/>
          <p:cNvSpPr/>
          <p:nvPr/>
        </p:nvSpPr>
        <p:spPr>
          <a:xfrm>
            <a:off x="3074248" y="4088199"/>
            <a:ext cx="914400" cy="503749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3" name="矩形 22"/>
          <p:cNvSpPr/>
          <p:nvPr/>
        </p:nvSpPr>
        <p:spPr>
          <a:xfrm>
            <a:off x="1885931" y="3378582"/>
            <a:ext cx="344677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BDP: Bandwidth Delay Product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矩形 4"/>
              <p:cNvSpPr/>
              <p:nvPr/>
            </p:nvSpPr>
            <p:spPr>
              <a:xfrm>
                <a:off x="2024969" y="2595859"/>
                <a:ext cx="2738543" cy="602085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rtlCol="0" anchor="ctr"/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US" altLang="zh-C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</m:den>
                      </m:f>
                      <m:rad>
                        <m:radPr>
                          <m:degHide m:val="on"/>
                          <m:ctrlPr>
                            <a:rPr lang="en-US" altLang="zh-CN" i="1">
                              <a:latin typeface="Cambria Math" panose="02040503050406030204" pitchFamily="18" charset="0"/>
                            </a:rPr>
                          </m:ctrlPr>
                        </m:radPr>
                        <m:deg/>
                        <m:e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2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𝑁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𝐶𝑑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𝐾</m:t>
                          </m:r>
                          <m:r>
                            <a:rPr lang="en-US" altLang="zh-CN" i="1">
                              <a:latin typeface="Cambria Math" panose="02040503050406030204" pitchFamily="18" charset="0"/>
                            </a:rPr>
                            <m:t>)</m:t>
                          </m:r>
                        </m:e>
                      </m:rad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5" name="矩形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024969" y="2595859"/>
                <a:ext cx="2738543" cy="602085"/>
              </a:xfrm>
              <a:prstGeom prst="rect">
                <a:avLst/>
              </a:prstGeom>
              <a:blipFill>
                <a:blip r:embed="rId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6" name="椭圆 15"/>
          <p:cNvSpPr/>
          <p:nvPr/>
        </p:nvSpPr>
        <p:spPr>
          <a:xfrm>
            <a:off x="3442554" y="2694195"/>
            <a:ext cx="914400" cy="503749"/>
          </a:xfrm>
          <a:prstGeom prst="ellipse">
            <a:avLst/>
          </a:prstGeom>
          <a:noFill/>
          <a:ln>
            <a:solidFill>
              <a:srgbClr val="0000FF"/>
            </a:solidFill>
          </a:ln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3803650" y="3212878"/>
            <a:ext cx="98497" cy="203256"/>
          </a:xfrm>
          <a:prstGeom prst="straightConnector1">
            <a:avLst/>
          </a:prstGeom>
          <a:ln w="19050" cap="rnd">
            <a:solidFill>
              <a:srgbClr val="0000FF"/>
            </a:solidFill>
            <a:headEnd type="arrow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直接箭头连接符 23"/>
          <p:cNvCxnSpPr>
            <a:stCxn id="22" idx="0"/>
            <a:endCxn id="23" idx="2"/>
          </p:cNvCxnSpPr>
          <p:nvPr/>
        </p:nvCxnSpPr>
        <p:spPr>
          <a:xfrm flipV="1">
            <a:off x="3531448" y="3747914"/>
            <a:ext cx="77872" cy="340285"/>
          </a:xfrm>
          <a:prstGeom prst="straightConnector1">
            <a:avLst/>
          </a:prstGeom>
          <a:ln w="19050" cap="rnd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76692243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500"/>
                            </p:stCondLst>
                            <p:childTnLst>
                              <p:par>
                                <p:cTn id="12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1000"/>
                            </p:stCondLst>
                            <p:childTnLst>
                              <p:par>
                                <p:cTn id="1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500"/>
                            </p:stCondLst>
                            <p:childTnLst>
                              <p:par>
                                <p:cTn id="28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4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7" grpId="0" animBg="1"/>
      <p:bldP spid="18" grpId="0" animBg="1"/>
      <p:bldP spid="19" grpId="0" animBg="1"/>
      <p:bldP spid="22" grpId="0" animBg="1"/>
      <p:bldP spid="23" grpId="0"/>
      <p:bldP spid="16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ECN threshold settings to achieve 100% throughput (DCTCP)</a:t>
            </a:r>
          </a:p>
          <a:p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282561" y="3789081"/>
            <a:ext cx="4067447" cy="1742584"/>
          </a:xfrm>
          <a:prstGeom prst="rect">
            <a:avLst/>
          </a:prstGeom>
        </p:spPr>
      </p:pic>
      <p:sp>
        <p:nvSpPr>
          <p:cNvPr id="5" name="竖卷形 4"/>
          <p:cNvSpPr/>
          <p:nvPr/>
        </p:nvSpPr>
        <p:spPr>
          <a:xfrm>
            <a:off x="6544235" y="103733"/>
            <a:ext cx="2599765" cy="1549617"/>
          </a:xfrm>
          <a:prstGeom prst="verticalScroll">
            <a:avLst/>
          </a:prstGeom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dirty="0" smtClean="0"/>
              <a:t>N: # of flows</a:t>
            </a:r>
          </a:p>
          <a:p>
            <a:pPr algn="just"/>
            <a:r>
              <a:rPr lang="en-US" altLang="zh-CN" dirty="0" smtClean="0"/>
              <a:t>C: link capacity</a:t>
            </a:r>
          </a:p>
          <a:p>
            <a:pPr algn="just"/>
            <a:r>
              <a:rPr lang="en-US" altLang="zh-CN" dirty="0" smtClean="0"/>
              <a:t>d: Base RTT</a:t>
            </a:r>
          </a:p>
          <a:p>
            <a:pPr algn="just"/>
            <a:r>
              <a:rPr lang="en-US" altLang="zh-CN" dirty="0" smtClean="0"/>
              <a:t>K: ECN threshold</a:t>
            </a:r>
            <a:endParaRPr lang="zh-CN" altLang="en-US" dirty="0"/>
          </a:p>
        </p:txBody>
      </p:sp>
      <p:sp>
        <p:nvSpPr>
          <p:cNvPr id="8" name="矩形 7"/>
          <p:cNvSpPr/>
          <p:nvPr/>
        </p:nvSpPr>
        <p:spPr>
          <a:xfrm>
            <a:off x="1115308" y="3009916"/>
            <a:ext cx="20080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w/o micro-burst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9" name="矩形 8"/>
              <p:cNvSpPr/>
              <p:nvPr/>
            </p:nvSpPr>
            <p:spPr>
              <a:xfrm>
                <a:off x="3580602" y="2915450"/>
                <a:ext cx="2250140" cy="369332"/>
              </a:xfrm>
              <a:prstGeom prst="rect">
                <a:avLst/>
              </a:prstGeom>
            </p:spPr>
            <p:txBody>
              <a:bodyPr wrap="square">
                <a:spAutoFit/>
              </a:bodyPr>
              <a:lstStyle/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𝐾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≥0.17</m:t>
                      </m:r>
                      <m:r>
                        <a:rPr lang="en-US" altLang="zh-CN" b="0" i="1" smtClean="0">
                          <a:latin typeface="Cambria Math" panose="02040503050406030204" pitchFamily="18" charset="0"/>
                        </a:rPr>
                        <m:t>𝐶𝑑</m:t>
                      </m:r>
                    </m:oMath>
                  </m:oMathPara>
                </a14:m>
                <a:endParaRPr lang="zh-CN" altLang="en-US" dirty="0"/>
              </a:p>
            </p:txBody>
          </p:sp>
        </mc:Choice>
        <mc:Fallback xmlns="">
          <p:sp>
            <p:nvSpPr>
              <p:cNvPr id="9" name="矩形 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80602" y="2915450"/>
                <a:ext cx="2250140" cy="369332"/>
              </a:xfrm>
              <a:prstGeom prst="rect">
                <a:avLst/>
              </a:prstGeom>
              <a:blipFill>
                <a:blip r:embed="rId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0" name="矩形 9"/>
          <p:cNvSpPr/>
          <p:nvPr/>
        </p:nvSpPr>
        <p:spPr>
          <a:xfrm>
            <a:off x="1115308" y="4241958"/>
            <a:ext cx="20037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w/ TSO-induced micro-burst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52544050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Analysis</a:t>
            </a:r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3" name="内容占位符 2"/>
              <p:cNvSpPr>
                <a:spLocks noGrp="1"/>
              </p:cNvSpPr>
              <p:nvPr>
                <p:ph idx="1"/>
              </p:nvPr>
            </p:nvSpPr>
            <p:spPr/>
            <p:txBody>
              <a:bodyPr/>
              <a:lstStyle/>
              <a:p>
                <a:r>
                  <a:rPr lang="en-US" altLang="zh-CN" dirty="0" smtClean="0"/>
                  <a:t>An example</a:t>
                </a: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𝑁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=2, 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𝛽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=</m:t>
                    </m:r>
                    <m:f>
                      <m:fPr>
                        <m:ctrlPr>
                          <a:rPr lang="en-US" altLang="zh-CN" b="0" i="1" smtClean="0">
                            <a:latin typeface="Cambria Math" panose="02040503050406030204" pitchFamily="18" charset="0"/>
                          </a:rPr>
                        </m:ctrlPr>
                      </m:fPr>
                      <m:num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1</m:t>
                        </m:r>
                      </m:num>
                      <m:den>
                        <m:r>
                          <a:rPr lang="en-US" altLang="zh-CN" b="0" i="1" smtClean="0">
                            <a:latin typeface="Cambria Math" panose="02040503050406030204" pitchFamily="18" charset="0"/>
                          </a:rPr>
                          <m:t>3</m:t>
                        </m:r>
                      </m:den>
                    </m:f>
                  </m:oMath>
                </a14:m>
                <a:endParaRPr lang="en-US" altLang="zh-CN" b="0" i="1" dirty="0" smtClean="0">
                  <a:latin typeface="Cambria Math" panose="02040503050406030204" pitchFamily="18" charset="0"/>
                </a:endParaRPr>
              </a:p>
              <a:p>
                <a:pPr lvl="1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𝐵𝐷𝑃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=83.3</m:t>
                    </m:r>
                  </m:oMath>
                </a14:m>
                <a:r>
                  <a:rPr lang="en-US" altLang="zh-CN" dirty="0" smtClean="0"/>
                  <a:t> packets</a:t>
                </a:r>
              </a:p>
              <a:p>
                <a:pPr lvl="2"/>
                <a:r>
                  <a:rPr lang="en-US" altLang="zh-CN" dirty="0" smtClean="0"/>
                  <a:t>RTT=100us, C=10Gbps</a:t>
                </a:r>
              </a:p>
              <a:p>
                <a:endParaRPr lang="zh-CN" altLang="en-US" dirty="0"/>
              </a:p>
            </p:txBody>
          </p:sp>
        </mc:Choice>
        <mc:Fallback xmlns="">
          <p:sp>
            <p:nvSpPr>
              <p:cNvPr id="3" name="内容占位符 2"/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blipFill>
                <a:blip r:embed="rId3"/>
                <a:stretch>
                  <a:fillRect l="-1333" t="-1482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矩形 7"/>
          <p:cNvSpPr/>
          <p:nvPr/>
        </p:nvSpPr>
        <p:spPr>
          <a:xfrm>
            <a:off x="575416" y="3961674"/>
            <a:ext cx="2008094" cy="3693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w/o micro-burst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pic>
        <p:nvPicPr>
          <p:cNvPr id="19" name="图片 1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749360" y="744246"/>
            <a:ext cx="3937440" cy="2286650"/>
          </a:xfrm>
          <a:prstGeom prst="rect">
            <a:avLst/>
          </a:prstGeom>
        </p:spPr>
      </p:pic>
      <mc:AlternateContent xmlns:mc="http://schemas.openxmlformats.org/markup-compatibility/2006" xmlns:a14="http://schemas.microsoft.com/office/drawing/2010/main">
        <mc:Choice Requires="a14">
          <p:sp>
            <p:nvSpPr>
              <p:cNvPr id="11" name="矩形 10"/>
              <p:cNvSpPr/>
              <p:nvPr/>
            </p:nvSpPr>
            <p:spPr>
              <a:xfrm>
                <a:off x="2981926" y="4742659"/>
                <a:ext cx="5623417" cy="540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 anchorCtr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22.9</m:t>
                    </m:r>
                  </m:oMath>
                </a14:m>
                <a:r>
                  <a:rPr lang="en-US" altLang="zh-CN" dirty="0" smtClean="0"/>
                  <a:t> packets</a:t>
                </a:r>
              </a:p>
            </p:txBody>
          </p:sp>
        </mc:Choice>
        <mc:Fallback xmlns="">
          <p:sp>
            <p:nvSpPr>
              <p:cNvPr id="11" name="矩形 10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1926" y="4742659"/>
                <a:ext cx="5623417" cy="540000"/>
              </a:xfrm>
              <a:prstGeom prst="rect">
                <a:avLst/>
              </a:prstGeom>
              <a:blipFill>
                <a:blip r:embed="rId5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矩形 11"/>
              <p:cNvSpPr/>
              <p:nvPr/>
            </p:nvSpPr>
            <p:spPr>
              <a:xfrm>
                <a:off x="2989343" y="3934004"/>
                <a:ext cx="5616000" cy="540000"/>
              </a:xfrm>
              <a:prstGeom prst="rect">
                <a:avLst/>
              </a:prstGeom>
            </p:spPr>
            <p:style>
              <a:lnRef idx="1">
                <a:schemeClr val="accent1"/>
              </a:lnRef>
              <a:fillRef idx="2">
                <a:schemeClr val="accent1"/>
              </a:fillRef>
              <a:effectRef idx="1">
                <a:schemeClr val="accent1"/>
              </a:effectRef>
              <a:fontRef idx="minor">
                <a:schemeClr val="dk1"/>
              </a:fontRef>
            </p:style>
            <p:txBody>
              <a:bodyPr wrap="square" anchor="ctr" anchorCtr="0">
                <a:spAutoFit/>
              </a:bodyPr>
              <a:lstStyle/>
              <a:p>
                <a:pPr algn="ctr"/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𝐾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≥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16.7</m:t>
                    </m:r>
                  </m:oMath>
                </a14:m>
                <a:r>
                  <a:rPr lang="en-US" altLang="zh-CN" dirty="0" smtClean="0"/>
                  <a:t> packets</a:t>
                </a:r>
                <a:endParaRPr lang="zh-CN" altLang="en-US" dirty="0"/>
              </a:p>
            </p:txBody>
          </p:sp>
        </mc:Choice>
        <mc:Fallback xmlns="">
          <p:sp>
            <p:nvSpPr>
              <p:cNvPr id="12" name="矩形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89343" y="3934004"/>
                <a:ext cx="5616000" cy="540000"/>
              </a:xfrm>
              <a:prstGeom prst="rect">
                <a:avLst/>
              </a:prstGeom>
              <a:blipFill>
                <a:blip r:embed="rId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cxnSp>
        <p:nvCxnSpPr>
          <p:cNvPr id="14" name="直接连接符 13"/>
          <p:cNvCxnSpPr/>
          <p:nvPr/>
        </p:nvCxnSpPr>
        <p:spPr>
          <a:xfrm>
            <a:off x="6977123" y="744246"/>
            <a:ext cx="15346" cy="1787862"/>
          </a:xfrm>
          <a:prstGeom prst="line">
            <a:avLst/>
          </a:prstGeom>
          <a:ln w="34925" cap="rnd">
            <a:solidFill>
              <a:srgbClr val="0000FF"/>
            </a:solidFill>
            <a:prstDash val="sys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6496050" y="2504935"/>
            <a:ext cx="481073" cy="2237724"/>
          </a:xfrm>
          <a:prstGeom prst="straightConnector1">
            <a:avLst/>
          </a:prstGeom>
          <a:ln w="28575" cap="rnd">
            <a:solidFill>
              <a:srgbClr val="0000FF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矩形 24"/>
          <p:cNvSpPr/>
          <p:nvPr/>
        </p:nvSpPr>
        <p:spPr>
          <a:xfrm>
            <a:off x="1258742" y="5671715"/>
            <a:ext cx="6893859" cy="851647"/>
          </a:xfrm>
          <a:prstGeom prst="rect">
            <a:avLst/>
          </a:prstGeom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/>
              <a:t>W</a:t>
            </a:r>
            <a:r>
              <a:rPr lang="en-US" altLang="zh-CN" dirty="0" smtClean="0"/>
              <a:t>ith TSO</a:t>
            </a:r>
            <a:r>
              <a:rPr lang="en-US" altLang="zh-CN" dirty="0"/>
              <a:t>, the ECN threshold</a:t>
            </a:r>
          </a:p>
          <a:p>
            <a:pPr algn="ctr"/>
            <a:r>
              <a:rPr lang="en-US" altLang="zh-CN" dirty="0"/>
              <a:t>should be </a:t>
            </a:r>
            <a:r>
              <a:rPr lang="en-US" altLang="zh-CN" dirty="0">
                <a:solidFill>
                  <a:srgbClr val="FF0000"/>
                </a:solidFill>
              </a:rPr>
              <a:t>61.6% larger</a:t>
            </a:r>
            <a:r>
              <a:rPr lang="en-US" altLang="zh-CN" dirty="0"/>
              <a:t> than that without batching.</a:t>
            </a:r>
            <a:endParaRPr lang="zh-CN" altLang="en-US" dirty="0"/>
          </a:p>
        </p:txBody>
      </p:sp>
      <p:sp>
        <p:nvSpPr>
          <p:cNvPr id="16" name="矩形 15"/>
          <p:cNvSpPr/>
          <p:nvPr/>
        </p:nvSpPr>
        <p:spPr>
          <a:xfrm>
            <a:off x="583455" y="4685439"/>
            <a:ext cx="2003764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w/ TSO-induced micro-burst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3647723845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8" fill="hold">
                            <p:stCondLst>
                              <p:cond delay="500"/>
                            </p:stCondLst>
                            <p:childTnLst>
                              <p:par>
                                <p:cTn id="1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1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2" fill="hold">
                            <p:stCondLst>
                              <p:cond delay="1000"/>
                            </p:stCondLst>
                            <p:childTnLst>
                              <p:par>
                                <p:cTn id="2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5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6" fill="hold">
                      <p:stCondLst>
                        <p:cond delay="indefinite"/>
                      </p:stCondLst>
                      <p:childTnLst>
                        <p:par>
                          <p:cTn id="27" fill="hold">
                            <p:stCondLst>
                              <p:cond delay="0"/>
                            </p:stCondLst>
                            <p:childTnLst>
                              <p:par>
                                <p:cTn id="2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 animBg="1"/>
      <p:bldP spid="12" grpId="0" animBg="1"/>
      <p:bldP spid="25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Background &amp; Motivation</a:t>
            </a:r>
          </a:p>
          <a:p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Analysis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 smtClean="0">
                <a:solidFill>
                  <a:srgbClr val="FF0000"/>
                </a:solidFill>
              </a:rPr>
              <a:t>Solution</a:t>
            </a:r>
          </a:p>
          <a:p>
            <a:r>
              <a:rPr lang="en-US" altLang="zh-CN" dirty="0" smtClean="0"/>
              <a:t>Evaluation</a:t>
            </a:r>
          </a:p>
          <a:p>
            <a:r>
              <a:rPr lang="en-US" altLang="zh-CN" dirty="0" smtClean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191536638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What Can </a:t>
            </a:r>
            <a:r>
              <a:rPr lang="en-US" altLang="zh-CN" dirty="0"/>
              <a:t>W</a:t>
            </a:r>
            <a:r>
              <a:rPr lang="en-US" altLang="zh-CN" dirty="0" smtClean="0"/>
              <a:t>e </a:t>
            </a:r>
            <a:r>
              <a:rPr lang="en-US" altLang="zh-CN" dirty="0"/>
              <a:t>D</a:t>
            </a:r>
            <a:r>
              <a:rPr lang="en-US" altLang="zh-CN" dirty="0" smtClean="0"/>
              <a:t>o?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2353728" y="1180165"/>
            <a:ext cx="3334894" cy="633047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Why the problem occurs?</a:t>
            </a:r>
            <a:endParaRPr lang="zh-CN" altLang="en-US" dirty="0"/>
          </a:p>
        </p:txBody>
      </p:sp>
      <p:sp>
        <p:nvSpPr>
          <p:cNvPr id="5" name="矩形 4"/>
          <p:cNvSpPr/>
          <p:nvPr/>
        </p:nvSpPr>
        <p:spPr>
          <a:xfrm>
            <a:off x="605776" y="2345692"/>
            <a:ext cx="2242039" cy="540230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Bursty</a:t>
            </a:r>
            <a:r>
              <a:rPr lang="en-US" altLang="zh-CN" dirty="0" smtClean="0"/>
              <a:t> traffic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5007218" y="2339752"/>
            <a:ext cx="2242039" cy="540229"/>
          </a:xfrm>
          <a:prstGeom prst="rect">
            <a:avLst/>
          </a:prstGeom>
        </p:spPr>
        <p:style>
          <a:lnRef idx="1">
            <a:schemeClr val="accent1"/>
          </a:lnRef>
          <a:fillRef idx="2">
            <a:schemeClr val="accent1"/>
          </a:fillRef>
          <a:effectRef idx="1">
            <a:schemeClr val="accent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ECN </a:t>
            </a:r>
            <a:r>
              <a:rPr lang="en-US" altLang="zh-CN" dirty="0" err="1" smtClean="0"/>
              <a:t>mis</a:t>
            </a:r>
            <a:r>
              <a:rPr lang="en-US" altLang="zh-CN" dirty="0" smtClean="0"/>
              <a:t>-marking</a:t>
            </a:r>
            <a:endParaRPr lang="zh-CN" altLang="en-US" dirty="0"/>
          </a:p>
        </p:txBody>
      </p:sp>
      <p:sp>
        <p:nvSpPr>
          <p:cNvPr id="7" name="圆角矩形 6"/>
          <p:cNvSpPr/>
          <p:nvPr/>
        </p:nvSpPr>
        <p:spPr>
          <a:xfrm>
            <a:off x="271223" y="3239469"/>
            <a:ext cx="2911147" cy="6330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Eliminate </a:t>
            </a:r>
            <a:r>
              <a:rPr lang="en-US" altLang="zh-CN" dirty="0" err="1"/>
              <a:t>bursty</a:t>
            </a:r>
            <a:r>
              <a:rPr lang="en-US" altLang="zh-CN" dirty="0"/>
              <a:t> traffic</a:t>
            </a:r>
            <a:endParaRPr lang="zh-CN" altLang="en-US" dirty="0"/>
          </a:p>
        </p:txBody>
      </p:sp>
      <p:sp>
        <p:nvSpPr>
          <p:cNvPr id="8" name="圆角矩形 7"/>
          <p:cNvSpPr/>
          <p:nvPr/>
        </p:nvSpPr>
        <p:spPr>
          <a:xfrm>
            <a:off x="224202" y="4154867"/>
            <a:ext cx="1279281" cy="4610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TCP pacing</a:t>
            </a:r>
            <a:endParaRPr lang="zh-CN" altLang="en-US" sz="1600" dirty="0"/>
          </a:p>
        </p:txBody>
      </p:sp>
      <p:sp>
        <p:nvSpPr>
          <p:cNvPr id="9" name="圆角矩形 8"/>
          <p:cNvSpPr/>
          <p:nvPr/>
        </p:nvSpPr>
        <p:spPr>
          <a:xfrm>
            <a:off x="1652952" y="4154867"/>
            <a:ext cx="1582170" cy="461095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Pacing at NIC</a:t>
            </a:r>
            <a:endParaRPr lang="zh-CN" altLang="en-US" sz="1600" dirty="0"/>
          </a:p>
        </p:txBody>
      </p:sp>
      <p:sp>
        <p:nvSpPr>
          <p:cNvPr id="10" name="圆角矩形 9"/>
          <p:cNvSpPr/>
          <p:nvPr/>
        </p:nvSpPr>
        <p:spPr>
          <a:xfrm>
            <a:off x="4309982" y="3243371"/>
            <a:ext cx="3636510" cy="6330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Improve ECN marking scheme</a:t>
            </a:r>
            <a:endParaRPr lang="zh-CN" altLang="en-US" dirty="0"/>
          </a:p>
        </p:txBody>
      </p:sp>
      <p:sp>
        <p:nvSpPr>
          <p:cNvPr id="11" name="圆角矩形 10"/>
          <p:cNvSpPr/>
          <p:nvPr/>
        </p:nvSpPr>
        <p:spPr>
          <a:xfrm>
            <a:off x="3921813" y="4321924"/>
            <a:ext cx="1652509" cy="6330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altLang="zh-CN" sz="1600" dirty="0" smtClean="0"/>
              <a:t>Increasing </a:t>
            </a:r>
            <a:r>
              <a:rPr lang="en-US" altLang="zh-CN" sz="1600" dirty="0"/>
              <a:t>ECN </a:t>
            </a:r>
            <a:r>
              <a:rPr lang="en-US" altLang="zh-CN" sz="1600" dirty="0" smtClean="0"/>
              <a:t>threshold</a:t>
            </a:r>
            <a:endParaRPr lang="en-US" altLang="zh-CN" sz="1600" dirty="0"/>
          </a:p>
        </p:txBody>
      </p:sp>
      <p:sp>
        <p:nvSpPr>
          <p:cNvPr id="12" name="圆角矩形 11"/>
          <p:cNvSpPr/>
          <p:nvPr/>
        </p:nvSpPr>
        <p:spPr>
          <a:xfrm>
            <a:off x="5890846" y="4321923"/>
            <a:ext cx="1468316" cy="633047"/>
          </a:xfrm>
          <a:prstGeom prst="round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lvl="1" algn="ctr"/>
            <a:r>
              <a:rPr lang="en-US" altLang="zh-CN" sz="1600" dirty="0"/>
              <a:t>Average </a:t>
            </a:r>
            <a:r>
              <a:rPr lang="en-US" altLang="zh-CN" sz="1600" dirty="0" smtClean="0"/>
              <a:t>queue length</a:t>
            </a:r>
            <a:endParaRPr lang="en-US" altLang="zh-CN" sz="1600" dirty="0"/>
          </a:p>
        </p:txBody>
      </p:sp>
      <p:cxnSp>
        <p:nvCxnSpPr>
          <p:cNvPr id="15" name="直接箭头连接符 14"/>
          <p:cNvCxnSpPr>
            <a:stCxn id="4" idx="2"/>
            <a:endCxn id="5" idx="0"/>
          </p:cNvCxnSpPr>
          <p:nvPr/>
        </p:nvCxnSpPr>
        <p:spPr>
          <a:xfrm flipH="1">
            <a:off x="1726796" y="1813212"/>
            <a:ext cx="2294379" cy="532480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>
            <a:stCxn id="5" idx="2"/>
            <a:endCxn id="7" idx="0"/>
          </p:cNvCxnSpPr>
          <p:nvPr/>
        </p:nvCxnSpPr>
        <p:spPr>
          <a:xfrm>
            <a:off x="1726796" y="2885922"/>
            <a:ext cx="1" cy="353547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/>
          <p:cNvCxnSpPr>
            <a:stCxn id="7" idx="2"/>
            <a:endCxn id="8" idx="0"/>
          </p:cNvCxnSpPr>
          <p:nvPr/>
        </p:nvCxnSpPr>
        <p:spPr>
          <a:xfrm flipH="1">
            <a:off x="863843" y="3872516"/>
            <a:ext cx="862954" cy="282351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>
            <a:stCxn id="7" idx="2"/>
            <a:endCxn id="9" idx="0"/>
          </p:cNvCxnSpPr>
          <p:nvPr/>
        </p:nvCxnSpPr>
        <p:spPr>
          <a:xfrm>
            <a:off x="1726797" y="3872516"/>
            <a:ext cx="717240" cy="282351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050" name="Picture 2" descr="“哭脸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6492" y="4279870"/>
            <a:ext cx="873980" cy="88434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9" name="文本框 28"/>
          <p:cNvSpPr txBox="1"/>
          <p:nvPr/>
        </p:nvSpPr>
        <p:spPr>
          <a:xfrm>
            <a:off x="171234" y="4766293"/>
            <a:ext cx="159140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+mn-lt"/>
              </a:rPr>
              <a:t>Not enough:</a:t>
            </a:r>
          </a:p>
          <a:p>
            <a:r>
              <a:rPr lang="en-US" altLang="zh-CN" dirty="0" smtClean="0">
                <a:latin typeface="+mn-lt"/>
              </a:rPr>
              <a:t>TSO</a:t>
            </a:r>
            <a:endParaRPr lang="zh-CN" altLang="en-US" dirty="0">
              <a:latin typeface="+mn-lt"/>
            </a:endParaRPr>
          </a:p>
        </p:txBody>
      </p:sp>
      <p:sp>
        <p:nvSpPr>
          <p:cNvPr id="31" name="文本框 30"/>
          <p:cNvSpPr txBox="1"/>
          <p:nvPr/>
        </p:nvSpPr>
        <p:spPr>
          <a:xfrm>
            <a:off x="1549643" y="4868942"/>
            <a:ext cx="159140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lt"/>
              </a:rPr>
              <a:t>Hard</a:t>
            </a:r>
            <a:endParaRPr lang="zh-CN" altLang="en-US" dirty="0">
              <a:latin typeface="+mn-lt"/>
            </a:endParaRPr>
          </a:p>
        </p:txBody>
      </p:sp>
      <p:sp>
        <p:nvSpPr>
          <p:cNvPr id="32" name="AutoShape 4" descr="相关图片"/>
          <p:cNvSpPr>
            <a:spLocks noChangeAspect="1" noChangeArrowheads="1"/>
          </p:cNvSpPr>
          <p:nvPr/>
        </p:nvSpPr>
        <p:spPr bwMode="auto">
          <a:xfrm>
            <a:off x="155575" y="-144463"/>
            <a:ext cx="304800" cy="3048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sp>
        <p:nvSpPr>
          <p:cNvPr id="33" name="AutoShape 6" descr="相关图片"/>
          <p:cNvSpPr>
            <a:spLocks noChangeAspect="1" noChangeArrowheads="1"/>
          </p:cNvSpPr>
          <p:nvPr/>
        </p:nvSpPr>
        <p:spPr bwMode="auto">
          <a:xfrm>
            <a:off x="63500" y="-136525"/>
            <a:ext cx="304800" cy="3048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zh-CN" altLang="en-US"/>
          </a:p>
        </p:txBody>
      </p:sp>
      <p:cxnSp>
        <p:nvCxnSpPr>
          <p:cNvPr id="36" name="直接箭头连接符 35"/>
          <p:cNvCxnSpPr>
            <a:stCxn id="4" idx="2"/>
            <a:endCxn id="6" idx="0"/>
          </p:cNvCxnSpPr>
          <p:nvPr/>
        </p:nvCxnSpPr>
        <p:spPr>
          <a:xfrm>
            <a:off x="4021175" y="1813212"/>
            <a:ext cx="2107063" cy="526540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>
            <a:stCxn id="6" idx="2"/>
            <a:endCxn id="10" idx="0"/>
          </p:cNvCxnSpPr>
          <p:nvPr/>
        </p:nvCxnSpPr>
        <p:spPr>
          <a:xfrm flipH="1">
            <a:off x="6128237" y="2879981"/>
            <a:ext cx="1" cy="363390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>
            <a:endCxn id="11" idx="0"/>
          </p:cNvCxnSpPr>
          <p:nvPr/>
        </p:nvCxnSpPr>
        <p:spPr>
          <a:xfrm flipH="1">
            <a:off x="4748068" y="3876418"/>
            <a:ext cx="1367424" cy="445506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5" name="直接箭头连接符 44"/>
          <p:cNvCxnSpPr>
            <a:stCxn id="10" idx="2"/>
            <a:endCxn id="12" idx="0"/>
          </p:cNvCxnSpPr>
          <p:nvPr/>
        </p:nvCxnSpPr>
        <p:spPr>
          <a:xfrm>
            <a:off x="6128237" y="3876418"/>
            <a:ext cx="496767" cy="445505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>
            <a:stCxn id="10" idx="2"/>
            <a:endCxn id="2050" idx="0"/>
          </p:cNvCxnSpPr>
          <p:nvPr/>
        </p:nvCxnSpPr>
        <p:spPr>
          <a:xfrm>
            <a:off x="6128237" y="3876418"/>
            <a:ext cx="2255245" cy="403452"/>
          </a:xfrm>
          <a:prstGeom prst="straightConnector1">
            <a:avLst/>
          </a:prstGeom>
          <a:ln w="31750" cap="rnd">
            <a:solidFill>
              <a:srgbClr val="FF0000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1" name="文本框 50"/>
          <p:cNvSpPr txBox="1"/>
          <p:nvPr/>
        </p:nvSpPr>
        <p:spPr>
          <a:xfrm>
            <a:off x="3422216" y="5053608"/>
            <a:ext cx="2566912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+mn-lt"/>
              </a:rPr>
              <a:t>Increase queueing latency</a:t>
            </a:r>
          </a:p>
          <a:p>
            <a:pPr marL="285750" indent="-285750">
              <a:buFont typeface="Wingdings" panose="05000000000000000000" pitchFamily="2" charset="2"/>
              <a:buChar char="l"/>
            </a:pPr>
            <a:r>
              <a:rPr lang="en-US" altLang="zh-CN" dirty="0" smtClean="0">
                <a:latin typeface="+mn-lt"/>
              </a:rPr>
              <a:t>Hard to determine ECN threshold</a:t>
            </a:r>
          </a:p>
          <a:p>
            <a:endParaRPr lang="zh-CN" altLang="en-US" dirty="0">
              <a:latin typeface="+mn-lt"/>
            </a:endParaRPr>
          </a:p>
        </p:txBody>
      </p:sp>
      <p:sp>
        <p:nvSpPr>
          <p:cNvPr id="53" name="文本框 52"/>
          <p:cNvSpPr txBox="1"/>
          <p:nvPr/>
        </p:nvSpPr>
        <p:spPr>
          <a:xfrm>
            <a:off x="5890846" y="5187394"/>
            <a:ext cx="22332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>
                <a:latin typeface="+mn-lt"/>
              </a:rPr>
              <a:t>Reduce responsiveness</a:t>
            </a:r>
            <a:endParaRPr lang="zh-CN" altLang="en-US" dirty="0">
              <a:latin typeface="+mn-lt"/>
            </a:endParaRPr>
          </a:p>
        </p:txBody>
      </p:sp>
      <p:sp>
        <p:nvSpPr>
          <p:cNvPr id="35" name="矩形 34"/>
          <p:cNvSpPr/>
          <p:nvPr/>
        </p:nvSpPr>
        <p:spPr>
          <a:xfrm>
            <a:off x="126596" y="2066193"/>
            <a:ext cx="3207888" cy="3411416"/>
          </a:xfrm>
          <a:prstGeom prst="rect">
            <a:avLst/>
          </a:prstGeom>
          <a:noFill/>
          <a:ln w="38100" cap="rnd">
            <a:solidFill>
              <a:schemeClr val="tx1">
                <a:lumMod val="50000"/>
                <a:lumOff val="50000"/>
              </a:schemeClr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37" name="图片 3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12669" y="5533757"/>
            <a:ext cx="873948" cy="85486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4192483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3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6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1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4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29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32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2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45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3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6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1" dur="500"/>
                                        <p:tgtEl>
                                          <p:spTgt spid="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7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5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0" fill="hold">
                      <p:stCondLst>
                        <p:cond delay="indefinite"/>
                      </p:stCondLst>
                      <p:childTnLst>
                        <p:par>
                          <p:cTn id="81" fill="hold">
                            <p:stCondLst>
                              <p:cond delay="0"/>
                            </p:stCondLst>
                            <p:childTnLst>
                              <p:par>
                                <p:cTn id="82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4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5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8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8" fill="hold">
                      <p:stCondLst>
                        <p:cond delay="indefinite"/>
                      </p:stCondLst>
                      <p:childTnLst>
                        <p:par>
                          <p:cTn id="89" fill="hold">
                            <p:stCondLst>
                              <p:cond delay="0"/>
                            </p:stCondLst>
                            <p:childTnLst>
                              <p:par>
                                <p:cTn id="9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92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3" fill="hold">
                      <p:stCondLst>
                        <p:cond delay="indefinite"/>
                      </p:stCondLst>
                      <p:childTnLst>
                        <p:par>
                          <p:cTn id="94" fill="hold">
                            <p:stCondLst>
                              <p:cond delay="0"/>
                            </p:stCondLst>
                            <p:childTnLst>
                              <p:par>
                                <p:cTn id="95" presetID="22" presetClass="entr" presetSubtype="1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9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98" presetID="22" presetClass="entr" presetSubtype="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00" dur="500"/>
                                        <p:tgtEl>
                                          <p:spTgt spid="20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 animBg="1"/>
      <p:bldP spid="7" grpId="0" animBg="1"/>
      <p:bldP spid="8" grpId="0" animBg="1"/>
      <p:bldP spid="9" grpId="0" animBg="1"/>
      <p:bldP spid="10" grpId="0" animBg="1"/>
      <p:bldP spid="11" grpId="0" animBg="1"/>
      <p:bldP spid="12" grpId="0" animBg="1"/>
      <p:bldP spid="29" grpId="0"/>
      <p:bldP spid="31" grpId="0"/>
      <p:bldP spid="51" grpId="0"/>
      <p:bldP spid="53" grpId="0"/>
      <p:bldP spid="35" grpId="0" animBg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矩形 26"/>
          <p:cNvSpPr/>
          <p:nvPr/>
        </p:nvSpPr>
        <p:spPr>
          <a:xfrm>
            <a:off x="5139725" y="3251851"/>
            <a:ext cx="1029547" cy="287447"/>
          </a:xfrm>
          <a:prstGeom prst="rect">
            <a:avLst/>
          </a:prstGeom>
          <a:solidFill>
            <a:srgbClr val="CCE9A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4" name="矩形 43"/>
          <p:cNvSpPr/>
          <p:nvPr/>
        </p:nvSpPr>
        <p:spPr>
          <a:xfrm>
            <a:off x="2650665" y="2694374"/>
            <a:ext cx="1141328" cy="866511"/>
          </a:xfrm>
          <a:prstGeom prst="rect">
            <a:avLst/>
          </a:prstGeom>
          <a:solidFill>
            <a:srgbClr val="CCE9A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Queue Composition</a:t>
            </a:r>
            <a:endParaRPr lang="zh-CN" altLang="en-US" dirty="0"/>
          </a:p>
        </p:txBody>
      </p:sp>
      <p:sp>
        <p:nvSpPr>
          <p:cNvPr id="45" name="矩形 44"/>
          <p:cNvSpPr/>
          <p:nvPr/>
        </p:nvSpPr>
        <p:spPr>
          <a:xfrm>
            <a:off x="3799008" y="2436468"/>
            <a:ext cx="1356526" cy="1133943"/>
          </a:xfrm>
          <a:prstGeom prst="rect">
            <a:avLst/>
          </a:prstGeom>
          <a:solidFill>
            <a:srgbClr val="CCE9A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5327" y="4791808"/>
            <a:ext cx="6680689" cy="1677530"/>
          </a:xfrm>
          <a:prstGeom prst="rect">
            <a:avLst/>
          </a:prstGeom>
        </p:spPr>
      </p:pic>
      <p:sp>
        <p:nvSpPr>
          <p:cNvPr id="43" name="矩形 42"/>
          <p:cNvSpPr/>
          <p:nvPr/>
        </p:nvSpPr>
        <p:spPr>
          <a:xfrm>
            <a:off x="1600198" y="2961075"/>
            <a:ext cx="1183297" cy="591017"/>
          </a:xfrm>
          <a:prstGeom prst="rect">
            <a:avLst/>
          </a:prstGeom>
          <a:solidFill>
            <a:srgbClr val="CCE9A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" name="直接箭头连接符 6"/>
          <p:cNvCxnSpPr/>
          <p:nvPr/>
        </p:nvCxnSpPr>
        <p:spPr>
          <a:xfrm flipV="1">
            <a:off x="1600199" y="1635369"/>
            <a:ext cx="8792" cy="1925516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V="1">
            <a:off x="1608991" y="3552092"/>
            <a:ext cx="6664571" cy="8793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>
            <a:off x="1617782" y="2961075"/>
            <a:ext cx="1006722" cy="0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>
            <a:off x="2641871" y="2690373"/>
            <a:ext cx="1157137" cy="0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>
            <a:off x="3799008" y="2423673"/>
            <a:ext cx="1363542" cy="0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2641871" y="2694375"/>
            <a:ext cx="0" cy="266700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V="1">
            <a:off x="3799008" y="2423673"/>
            <a:ext cx="0" cy="266700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7561508" y="367864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Time</a:t>
            </a:r>
            <a:endParaRPr lang="zh-CN" altLang="en-US" dirty="0">
              <a:latin typeface="+mj-lt"/>
            </a:endParaRPr>
          </a:p>
        </p:txBody>
      </p:sp>
      <p:sp>
        <p:nvSpPr>
          <p:cNvPr id="41" name="矩形 40"/>
          <p:cNvSpPr/>
          <p:nvPr/>
        </p:nvSpPr>
        <p:spPr>
          <a:xfrm rot="16200000">
            <a:off x="437903" y="2509709"/>
            <a:ext cx="1622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Queue length</a:t>
            </a:r>
            <a:endParaRPr lang="zh-CN" altLang="en-US" dirty="0">
              <a:latin typeface="+mj-lt"/>
            </a:endParaRPr>
          </a:p>
        </p:txBody>
      </p:sp>
      <p:sp>
        <p:nvSpPr>
          <p:cNvPr id="42" name="上箭头 41"/>
          <p:cNvSpPr/>
          <p:nvPr/>
        </p:nvSpPr>
        <p:spPr>
          <a:xfrm>
            <a:off x="5229225" y="3828317"/>
            <a:ext cx="523875" cy="1080706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6" name="矩形 45"/>
          <p:cNvSpPr/>
          <p:nvPr/>
        </p:nvSpPr>
        <p:spPr>
          <a:xfrm>
            <a:off x="3758659" y="2873151"/>
            <a:ext cx="1271502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400" dirty="0" smtClean="0">
                <a:latin typeface="+mj-lt"/>
              </a:rPr>
              <a:t>Backlog</a:t>
            </a:r>
            <a:endParaRPr lang="zh-CN" altLang="en-US" sz="2400" dirty="0">
              <a:latin typeface="+mj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624504" y="6139946"/>
            <a:ext cx="40005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smtClean="0">
                <a:solidFill>
                  <a:schemeClr val="tx1"/>
                </a:solidFill>
              </a:rPr>
              <a:t>Uniform traffic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cxnSp>
        <p:nvCxnSpPr>
          <p:cNvPr id="24" name="直接箭头连接符 23"/>
          <p:cNvCxnSpPr/>
          <p:nvPr/>
        </p:nvCxnSpPr>
        <p:spPr>
          <a:xfrm flipV="1">
            <a:off x="5162550" y="2423673"/>
            <a:ext cx="0" cy="815384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6" name="直接箭头连接符 25"/>
          <p:cNvCxnSpPr/>
          <p:nvPr/>
        </p:nvCxnSpPr>
        <p:spPr>
          <a:xfrm>
            <a:off x="5162550" y="3239057"/>
            <a:ext cx="1006722" cy="0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0341550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矩形 162"/>
          <p:cNvSpPr/>
          <p:nvPr/>
        </p:nvSpPr>
        <p:spPr>
          <a:xfrm>
            <a:off x="1627725" y="2433797"/>
            <a:ext cx="1810804" cy="530464"/>
          </a:xfrm>
          <a:prstGeom prst="rect">
            <a:avLst/>
          </a:prstGeom>
          <a:solidFill>
            <a:srgbClr val="B5E5F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64" name="矩形 163"/>
          <p:cNvSpPr/>
          <p:nvPr/>
        </p:nvSpPr>
        <p:spPr>
          <a:xfrm>
            <a:off x="3383693" y="2222785"/>
            <a:ext cx="1915908" cy="502351"/>
          </a:xfrm>
          <a:prstGeom prst="rect">
            <a:avLst/>
          </a:prstGeom>
          <a:solidFill>
            <a:srgbClr val="B5E5F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Queue Composition</a:t>
            </a:r>
            <a:endParaRPr lang="zh-CN" altLang="en-US" dirty="0"/>
          </a:p>
        </p:txBody>
      </p:sp>
      <p:cxnSp>
        <p:nvCxnSpPr>
          <p:cNvPr id="134" name="直接箭头连接符 133"/>
          <p:cNvCxnSpPr/>
          <p:nvPr/>
        </p:nvCxnSpPr>
        <p:spPr>
          <a:xfrm flipV="1">
            <a:off x="1600199" y="1635369"/>
            <a:ext cx="8792" cy="1925516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5" name="直接箭头连接符 134"/>
          <p:cNvCxnSpPr/>
          <p:nvPr/>
        </p:nvCxnSpPr>
        <p:spPr>
          <a:xfrm flipV="1">
            <a:off x="1608991" y="3552092"/>
            <a:ext cx="6664571" cy="8793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6" name="矩形 135"/>
          <p:cNvSpPr/>
          <p:nvPr/>
        </p:nvSpPr>
        <p:spPr>
          <a:xfrm rot="16200000">
            <a:off x="437903" y="2509709"/>
            <a:ext cx="1622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Queue length</a:t>
            </a:r>
            <a:endParaRPr lang="zh-CN" altLang="en-US" dirty="0">
              <a:latin typeface="+mj-lt"/>
            </a:endParaRPr>
          </a:p>
        </p:txBody>
      </p:sp>
      <p:cxnSp>
        <p:nvCxnSpPr>
          <p:cNvPr id="152" name="直接箭头连接符 151"/>
          <p:cNvCxnSpPr/>
          <p:nvPr/>
        </p:nvCxnSpPr>
        <p:spPr>
          <a:xfrm flipH="1" flipV="1">
            <a:off x="4901476" y="2256450"/>
            <a:ext cx="979289" cy="148514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3" name="直接箭头连接符 152"/>
          <p:cNvCxnSpPr/>
          <p:nvPr/>
        </p:nvCxnSpPr>
        <p:spPr>
          <a:xfrm flipV="1">
            <a:off x="5898425" y="3269717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4" name="直接箭头连接符 153"/>
          <p:cNvCxnSpPr/>
          <p:nvPr/>
        </p:nvCxnSpPr>
        <p:spPr>
          <a:xfrm flipH="1" flipV="1">
            <a:off x="6158777" y="3269717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5" name="直接箭头连接符 154"/>
          <p:cNvCxnSpPr/>
          <p:nvPr/>
        </p:nvCxnSpPr>
        <p:spPr>
          <a:xfrm flipV="1">
            <a:off x="6469927" y="3269717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6" name="直接箭头连接符 155"/>
          <p:cNvCxnSpPr/>
          <p:nvPr/>
        </p:nvCxnSpPr>
        <p:spPr>
          <a:xfrm flipH="1" flipV="1">
            <a:off x="6730279" y="3269717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7" name="直接箭头连接符 156"/>
          <p:cNvCxnSpPr/>
          <p:nvPr/>
        </p:nvCxnSpPr>
        <p:spPr>
          <a:xfrm flipV="1">
            <a:off x="7050221" y="3272903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1" name="矩形 160"/>
          <p:cNvSpPr/>
          <p:nvPr/>
        </p:nvSpPr>
        <p:spPr>
          <a:xfrm>
            <a:off x="1628773" y="2939335"/>
            <a:ext cx="1901103" cy="601332"/>
          </a:xfrm>
          <a:prstGeom prst="rect">
            <a:avLst/>
          </a:prstGeom>
          <a:solidFill>
            <a:srgbClr val="CCE9A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2" name="矩形 161"/>
          <p:cNvSpPr/>
          <p:nvPr/>
        </p:nvSpPr>
        <p:spPr>
          <a:xfrm>
            <a:off x="3360346" y="2747423"/>
            <a:ext cx="1939255" cy="794632"/>
          </a:xfrm>
          <a:prstGeom prst="rect">
            <a:avLst/>
          </a:prstGeom>
          <a:solidFill>
            <a:srgbClr val="CCE9A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58" name="直接箭头连接符 157"/>
          <p:cNvCxnSpPr/>
          <p:nvPr/>
        </p:nvCxnSpPr>
        <p:spPr>
          <a:xfrm flipH="1" flipV="1">
            <a:off x="7310573" y="3272903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7" name="直接箭头连接符 136"/>
          <p:cNvCxnSpPr/>
          <p:nvPr/>
        </p:nvCxnSpPr>
        <p:spPr>
          <a:xfrm flipV="1">
            <a:off x="1600198" y="2489200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8" name="直接箭头连接符 137"/>
          <p:cNvCxnSpPr/>
          <p:nvPr/>
        </p:nvCxnSpPr>
        <p:spPr>
          <a:xfrm flipH="1" flipV="1">
            <a:off x="1860550" y="2489200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9" name="直接箭头连接符 138"/>
          <p:cNvCxnSpPr/>
          <p:nvPr/>
        </p:nvCxnSpPr>
        <p:spPr>
          <a:xfrm flipV="1">
            <a:off x="2171700" y="2489200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0" name="直接箭头连接符 139"/>
          <p:cNvCxnSpPr/>
          <p:nvPr/>
        </p:nvCxnSpPr>
        <p:spPr>
          <a:xfrm flipH="1" flipV="1">
            <a:off x="2432052" y="2489200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1" name="直接箭头连接符 140"/>
          <p:cNvCxnSpPr/>
          <p:nvPr/>
        </p:nvCxnSpPr>
        <p:spPr>
          <a:xfrm flipV="1">
            <a:off x="2751994" y="2492386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2" name="直接箭头连接符 141"/>
          <p:cNvCxnSpPr/>
          <p:nvPr/>
        </p:nvCxnSpPr>
        <p:spPr>
          <a:xfrm flipH="1" flipV="1">
            <a:off x="3012347" y="2492387"/>
            <a:ext cx="319941" cy="475061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7" name="直接箭头连接符 146"/>
          <p:cNvCxnSpPr/>
          <p:nvPr/>
        </p:nvCxnSpPr>
        <p:spPr>
          <a:xfrm flipV="1">
            <a:off x="3355634" y="2253263"/>
            <a:ext cx="394045" cy="71418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8" name="直接箭头连接符 147"/>
          <p:cNvCxnSpPr/>
          <p:nvPr/>
        </p:nvCxnSpPr>
        <p:spPr>
          <a:xfrm flipH="1" flipV="1">
            <a:off x="3749679" y="2253262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9" name="直接箭头连接符 148"/>
          <p:cNvCxnSpPr/>
          <p:nvPr/>
        </p:nvCxnSpPr>
        <p:spPr>
          <a:xfrm flipV="1">
            <a:off x="4060829" y="2253262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0" name="直接箭头连接符 149"/>
          <p:cNvCxnSpPr/>
          <p:nvPr/>
        </p:nvCxnSpPr>
        <p:spPr>
          <a:xfrm flipH="1" flipV="1">
            <a:off x="4321181" y="2253262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1" name="直接箭头连接符 150"/>
          <p:cNvCxnSpPr/>
          <p:nvPr/>
        </p:nvCxnSpPr>
        <p:spPr>
          <a:xfrm flipV="1">
            <a:off x="4641123" y="2256448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9" name="直接箭头连接符 158"/>
          <p:cNvCxnSpPr/>
          <p:nvPr/>
        </p:nvCxnSpPr>
        <p:spPr>
          <a:xfrm>
            <a:off x="1608991" y="2948348"/>
            <a:ext cx="1723297" cy="7675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0" name="直接箭头连接符 159"/>
          <p:cNvCxnSpPr/>
          <p:nvPr/>
        </p:nvCxnSpPr>
        <p:spPr>
          <a:xfrm>
            <a:off x="3529876" y="2728323"/>
            <a:ext cx="1723297" cy="7675"/>
          </a:xfrm>
          <a:prstGeom prst="straightConnector1">
            <a:avLst/>
          </a:prstGeom>
          <a:ln w="25400" cap="rnd">
            <a:solidFill>
              <a:schemeClr val="bg1">
                <a:lumMod val="50000"/>
              </a:schemeClr>
            </a:solidFill>
            <a:prstDash val="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5" name="矩形 164"/>
          <p:cNvSpPr/>
          <p:nvPr/>
        </p:nvSpPr>
        <p:spPr>
          <a:xfrm>
            <a:off x="4139642" y="1934336"/>
            <a:ext cx="1082348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+mj-lt"/>
              </a:rPr>
              <a:t>Multiplex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66" name="矩形 165"/>
          <p:cNvSpPr/>
          <p:nvPr/>
        </p:nvSpPr>
        <p:spPr>
          <a:xfrm>
            <a:off x="4379016" y="3050019"/>
            <a:ext cx="9092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+mj-lt"/>
              </a:rPr>
              <a:t>Backlog</a:t>
            </a:r>
            <a:endParaRPr lang="zh-CN" altLang="en-US" sz="1600" dirty="0">
              <a:latin typeface="+mj-lt"/>
            </a:endParaRPr>
          </a:p>
        </p:txBody>
      </p:sp>
      <p:sp>
        <p:nvSpPr>
          <p:cNvPr id="167" name="上箭头 166"/>
          <p:cNvSpPr/>
          <p:nvPr/>
        </p:nvSpPr>
        <p:spPr>
          <a:xfrm rot="5400000">
            <a:off x="5517696" y="2160270"/>
            <a:ext cx="277787" cy="657860"/>
          </a:xfrm>
          <a:prstGeom prst="upArrow">
            <a:avLst>
              <a:gd name="adj1" fmla="val 41148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68" name="矩形 167"/>
          <p:cNvSpPr/>
          <p:nvPr/>
        </p:nvSpPr>
        <p:spPr>
          <a:xfrm>
            <a:off x="6054218" y="2293152"/>
            <a:ext cx="2890402" cy="34671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Should NOT be considered</a:t>
            </a:r>
            <a:endParaRPr lang="zh-CN" altLang="en-US" sz="1600" dirty="0"/>
          </a:p>
        </p:txBody>
      </p:sp>
      <p:sp>
        <p:nvSpPr>
          <p:cNvPr id="169" name="上箭头 168"/>
          <p:cNvSpPr/>
          <p:nvPr/>
        </p:nvSpPr>
        <p:spPr>
          <a:xfrm rot="5400000">
            <a:off x="5489638" y="2807959"/>
            <a:ext cx="277787" cy="657861"/>
          </a:xfrm>
          <a:prstGeom prst="upArrow">
            <a:avLst>
              <a:gd name="adj1" fmla="val 41148"/>
              <a:gd name="adj2" fmla="val 50000"/>
            </a:avLst>
          </a:prstGeom>
          <a:solidFill>
            <a:schemeClr val="accent1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0" name="矩形 169"/>
          <p:cNvSpPr/>
          <p:nvPr/>
        </p:nvSpPr>
        <p:spPr>
          <a:xfrm>
            <a:off x="6026160" y="2970166"/>
            <a:ext cx="2890402" cy="346711"/>
          </a:xfrm>
          <a:prstGeom prst="rect">
            <a:avLst/>
          </a:prstGeom>
        </p:spPr>
        <p:style>
          <a:lnRef idx="1">
            <a:schemeClr val="accent3"/>
          </a:lnRef>
          <a:fillRef idx="2">
            <a:schemeClr val="accent3"/>
          </a:fillRef>
          <a:effectRef idx="1">
            <a:schemeClr val="accent3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sz="1600" dirty="0" smtClean="0"/>
              <a:t>Should be considered</a:t>
            </a:r>
            <a:endParaRPr lang="zh-CN" altLang="en-US" sz="1600" dirty="0"/>
          </a:p>
        </p:txBody>
      </p:sp>
      <p:sp>
        <p:nvSpPr>
          <p:cNvPr id="171" name="文本框 170"/>
          <p:cNvSpPr txBox="1"/>
          <p:nvPr/>
        </p:nvSpPr>
        <p:spPr>
          <a:xfrm>
            <a:off x="5395443" y="1726710"/>
            <a:ext cx="374855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dirty="0" smtClean="0">
                <a:latin typeface="+mn-lt"/>
              </a:rPr>
              <a:t>When making ECN mark decision</a:t>
            </a:r>
            <a:endParaRPr lang="zh-CN" altLang="en-US" dirty="0">
              <a:latin typeface="+mn-lt"/>
            </a:endParaRPr>
          </a:p>
        </p:txBody>
      </p:sp>
      <p:sp>
        <p:nvSpPr>
          <p:cNvPr id="172" name="矩形 171"/>
          <p:cNvSpPr/>
          <p:nvPr/>
        </p:nvSpPr>
        <p:spPr>
          <a:xfrm>
            <a:off x="5477491" y="1686953"/>
            <a:ext cx="3561734" cy="1991695"/>
          </a:xfrm>
          <a:prstGeom prst="rect">
            <a:avLst/>
          </a:prstGeom>
          <a:noFill/>
          <a:ln w="19050" cap="rnd">
            <a:solidFill>
              <a:schemeClr val="bg1">
                <a:lumMod val="50000"/>
              </a:schemeClr>
            </a:solidFill>
            <a:prstDash val="sysDash"/>
          </a:ln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sz="1600" dirty="0"/>
          </a:p>
        </p:txBody>
      </p:sp>
      <p:sp>
        <p:nvSpPr>
          <p:cNvPr id="173" name="矩形 172"/>
          <p:cNvSpPr/>
          <p:nvPr/>
        </p:nvSpPr>
        <p:spPr>
          <a:xfrm>
            <a:off x="7739398" y="3533739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Time</a:t>
            </a:r>
            <a:endParaRPr lang="zh-CN" altLang="en-US" dirty="0">
              <a:latin typeface="+mj-lt"/>
            </a:endParaRPr>
          </a:p>
        </p:txBody>
      </p:sp>
      <p:sp>
        <p:nvSpPr>
          <p:cNvPr id="174" name="上箭头 173"/>
          <p:cNvSpPr/>
          <p:nvPr/>
        </p:nvSpPr>
        <p:spPr>
          <a:xfrm>
            <a:off x="5229225" y="3828317"/>
            <a:ext cx="523875" cy="1080706"/>
          </a:xfrm>
          <a:prstGeom prst="upArrow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75" name="图片 17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22420" y="4909023"/>
            <a:ext cx="5037712" cy="1062902"/>
          </a:xfrm>
          <a:prstGeom prst="rect">
            <a:avLst/>
          </a:prstGeom>
        </p:spPr>
      </p:pic>
      <p:sp>
        <p:nvSpPr>
          <p:cNvPr id="176" name="矩形 175"/>
          <p:cNvSpPr/>
          <p:nvPr/>
        </p:nvSpPr>
        <p:spPr>
          <a:xfrm>
            <a:off x="2699604" y="6077652"/>
            <a:ext cx="4000500" cy="5334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2400" dirty="0" err="1" smtClean="0">
                <a:solidFill>
                  <a:schemeClr val="tx1"/>
                </a:solidFill>
              </a:rPr>
              <a:t>Bursty</a:t>
            </a:r>
            <a:r>
              <a:rPr lang="en-US" altLang="zh-CN" sz="2400" dirty="0" smtClean="0">
                <a:solidFill>
                  <a:schemeClr val="tx1"/>
                </a:solidFill>
              </a:rPr>
              <a:t> traffic</a:t>
            </a:r>
            <a:endParaRPr lang="zh-CN" altLang="en-US" sz="2400" dirty="0">
              <a:solidFill>
                <a:schemeClr val="tx1"/>
              </a:solidFill>
            </a:endParaRPr>
          </a:p>
        </p:txBody>
      </p:sp>
      <p:sp>
        <p:nvSpPr>
          <p:cNvPr id="177" name="矩形 176"/>
          <p:cNvSpPr/>
          <p:nvPr/>
        </p:nvSpPr>
        <p:spPr>
          <a:xfrm>
            <a:off x="1381600" y="1073252"/>
            <a:ext cx="3871573" cy="584775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en-US" altLang="zh-CN" sz="3200" b="1" cap="none" spc="0" dirty="0" smtClean="0">
                <a:ln w="9525">
                  <a:solidFill>
                    <a:schemeClr val="bg1"/>
                  </a:solidFill>
                  <a:prstDash val="solid"/>
                </a:ln>
                <a:solidFill>
                  <a:schemeClr val="tx1"/>
                </a:solidFill>
                <a:effectLst>
                  <a:outerShdw blurRad="12700" dist="38100" dir="2700000" algn="tl" rotWithShape="0">
                    <a:schemeClr val="bg1">
                      <a:lumMod val="50000"/>
                    </a:schemeClr>
                  </a:outerShdw>
                </a:effectLst>
              </a:rPr>
              <a:t>Can we exclude it?</a:t>
            </a:r>
            <a:endParaRPr lang="zh-CN" altLang="en-US" sz="3200" b="1" cap="none" spc="0" dirty="0">
              <a:ln w="9525">
                <a:solidFill>
                  <a:schemeClr val="bg1"/>
                </a:solidFill>
                <a:prstDash val="solid"/>
              </a:ln>
              <a:solidFill>
                <a:schemeClr val="tx1"/>
              </a:solidFill>
              <a:effectLst>
                <a:outerShdw blurRad="12700" dist="38100" dir="2700000" algn="tl" rotWithShape="0">
                  <a:schemeClr val="bg1">
                    <a:lumMod val="50000"/>
                  </a:schemeClr>
                </a:outerShdw>
              </a:effectLst>
            </a:endParaRPr>
          </a:p>
        </p:txBody>
      </p:sp>
      <p:sp>
        <p:nvSpPr>
          <p:cNvPr id="178" name="上箭头 177"/>
          <p:cNvSpPr/>
          <p:nvPr/>
        </p:nvSpPr>
        <p:spPr>
          <a:xfrm rot="19449644">
            <a:off x="4088319" y="1503064"/>
            <a:ext cx="277787" cy="467788"/>
          </a:xfrm>
          <a:prstGeom prst="upArrow">
            <a:avLst>
              <a:gd name="adj1" fmla="val 41148"/>
              <a:gd name="adj2" fmla="val 50000"/>
            </a:avLst>
          </a:prstGeom>
          <a:solidFill>
            <a:schemeClr val="accent4"/>
          </a:solidFill>
          <a:ln>
            <a:noFill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79" name="直接箭头连接符 178"/>
          <p:cNvCxnSpPr/>
          <p:nvPr/>
        </p:nvCxnSpPr>
        <p:spPr>
          <a:xfrm>
            <a:off x="1556137" y="2382199"/>
            <a:ext cx="3697036" cy="16466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0" name="矩形 179"/>
          <p:cNvSpPr/>
          <p:nvPr/>
        </p:nvSpPr>
        <p:spPr>
          <a:xfrm>
            <a:off x="1818892" y="1885639"/>
            <a:ext cx="14526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ECN Threshold</a:t>
            </a:r>
            <a:endParaRPr lang="zh-CN" altLang="en-US" sz="1400" dirty="0">
              <a:latin typeface="+mj-lt"/>
            </a:endParaRPr>
          </a:p>
        </p:txBody>
      </p:sp>
      <p:cxnSp>
        <p:nvCxnSpPr>
          <p:cNvPr id="181" name="直接箭头连接符 180"/>
          <p:cNvCxnSpPr/>
          <p:nvPr/>
        </p:nvCxnSpPr>
        <p:spPr>
          <a:xfrm flipV="1">
            <a:off x="2086987" y="2107745"/>
            <a:ext cx="279678" cy="271324"/>
          </a:xfrm>
          <a:prstGeom prst="straightConnector1">
            <a:avLst/>
          </a:prstGeom>
          <a:ln w="12700" cap="rnd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12676286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7" dur="500"/>
                                        <p:tgtEl>
                                          <p:spTgt spid="16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11" dur="500"/>
                                        <p:tgtEl>
                                          <p:spTgt spid="1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500"/>
                                        <p:tgtEl>
                                          <p:spTgt spid="16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7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7" dur="500"/>
                                        <p:tgtEl>
                                          <p:spTgt spid="16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0" dur="500"/>
                                        <p:tgtEl>
                                          <p:spTgt spid="17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5" dur="500"/>
                                        <p:tgtEl>
                                          <p:spTgt spid="16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22" presetClass="entr" presetSubtype="8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16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3" dur="500"/>
                                        <p:tgtEl>
                                          <p:spTgt spid="1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46" dur="500"/>
                                        <p:tgtEl>
                                          <p:spTgt spid="1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3" grpId="0" animBg="1"/>
      <p:bldP spid="164" grpId="0" animBg="1"/>
      <p:bldP spid="165" grpId="0"/>
      <p:bldP spid="167" grpId="0" animBg="1"/>
      <p:bldP spid="168" grpId="0" animBg="1"/>
      <p:bldP spid="169" grpId="0" animBg="1"/>
      <p:bldP spid="170" grpId="0" animBg="1"/>
      <p:bldP spid="171" grpId="0"/>
      <p:bldP spid="172" grpId="0" animBg="1"/>
      <p:bldP spid="177" grpId="0"/>
      <p:bldP spid="178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Basic Idea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542316" y="2147800"/>
            <a:ext cx="3710942" cy="495500"/>
          </a:xfrm>
          <a:prstGeom prst="rect">
            <a:avLst/>
          </a:prstGeom>
          <a:solidFill>
            <a:srgbClr val="B5E5F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33523" y="2656275"/>
            <a:ext cx="3710942" cy="591017"/>
          </a:xfrm>
          <a:prstGeom prst="rect">
            <a:avLst/>
          </a:prstGeom>
          <a:solidFill>
            <a:srgbClr val="CDFFE4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556137" y="2382199"/>
            <a:ext cx="3312119" cy="14752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 rot="16200000">
            <a:off x="371228" y="2204909"/>
            <a:ext cx="1622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Queue length</a:t>
            </a:r>
            <a:endParaRPr lang="zh-CN" altLang="en-US" dirty="0"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44035" y="2881970"/>
            <a:ext cx="9092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+mj-lt"/>
              </a:rPr>
              <a:t>Backlog</a:t>
            </a:r>
            <a:endParaRPr lang="zh-CN" altLang="en-US" sz="1600" dirty="0">
              <a:latin typeface="+mj-lt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533523" y="2184400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1793875" y="2184400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105025" y="2184400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2365377" y="2184400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2685319" y="2187586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2945671" y="2187586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3248028" y="2188828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3508380" y="2188828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3828322" y="2185993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4088674" y="2185994"/>
            <a:ext cx="310100" cy="470281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301319" y="2368385"/>
            <a:ext cx="9701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Multiplex</a:t>
            </a:r>
            <a:endParaRPr lang="zh-CN" altLang="en-US" sz="1400" dirty="0">
              <a:latin typeface="+mj-lt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1533524" y="1330569"/>
            <a:ext cx="8792" cy="1925516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542316" y="3247292"/>
            <a:ext cx="6664571" cy="8793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391031" y="1903521"/>
            <a:ext cx="14526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ECN Threshold</a:t>
            </a:r>
            <a:endParaRPr lang="zh-CN" altLang="en-US" sz="1400" dirty="0">
              <a:latin typeface="+mj-lt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4659126" y="2125627"/>
            <a:ext cx="279678" cy="271324"/>
          </a:xfrm>
          <a:prstGeom prst="straightConnector1">
            <a:avLst/>
          </a:prstGeom>
          <a:ln w="12700" cap="rnd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椭圆 45"/>
          <p:cNvSpPr/>
          <p:nvPr/>
        </p:nvSpPr>
        <p:spPr>
          <a:xfrm>
            <a:off x="1446739" y="2070482"/>
            <a:ext cx="695095" cy="811488"/>
          </a:xfrm>
          <a:prstGeom prst="ellipse">
            <a:avLst/>
          </a:prstGeom>
          <a:noFill/>
          <a:ln cap="rnd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7" name="直接箭头连接符 46"/>
          <p:cNvCxnSpPr>
            <a:stCxn id="46" idx="4"/>
          </p:cNvCxnSpPr>
          <p:nvPr/>
        </p:nvCxnSpPr>
        <p:spPr>
          <a:xfrm flipH="1">
            <a:off x="1734097" y="2881970"/>
            <a:ext cx="60190" cy="708955"/>
          </a:xfrm>
          <a:prstGeom prst="straightConnector1">
            <a:avLst/>
          </a:prstGeom>
          <a:ln w="53975" cap="rnd">
            <a:solidFill>
              <a:schemeClr val="tx1"/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2" name="矩形 51"/>
          <p:cNvSpPr/>
          <p:nvPr/>
        </p:nvSpPr>
        <p:spPr>
          <a:xfrm>
            <a:off x="540295" y="3579582"/>
            <a:ext cx="451758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+mj-lt"/>
              </a:rPr>
              <a:t>Queue length increasing is transient</a:t>
            </a:r>
            <a:endParaRPr lang="zh-CN" altLang="en-US" sz="2000" dirty="0">
              <a:latin typeface="+mj-lt"/>
            </a:endParaRPr>
          </a:p>
        </p:txBody>
      </p:sp>
      <p:sp>
        <p:nvSpPr>
          <p:cNvPr id="54" name="Freeform 152"/>
          <p:cNvSpPr>
            <a:spLocks/>
          </p:cNvSpPr>
          <p:nvPr/>
        </p:nvSpPr>
        <p:spPr bwMode="auto">
          <a:xfrm>
            <a:off x="3023170" y="4819650"/>
            <a:ext cx="2876739" cy="756214"/>
          </a:xfrm>
          <a:custGeom>
            <a:avLst/>
            <a:gdLst>
              <a:gd name="T0" fmla="*/ 0 w 768"/>
              <a:gd name="T1" fmla="*/ 0 h 576"/>
              <a:gd name="T2" fmla="*/ 768 w 768"/>
              <a:gd name="T3" fmla="*/ 0 h 576"/>
              <a:gd name="T4" fmla="*/ 768 w 768"/>
              <a:gd name="T5" fmla="*/ 576 h 576"/>
              <a:gd name="T6" fmla="*/ 0 w 768"/>
              <a:gd name="T7" fmla="*/ 576 h 576"/>
              <a:gd name="T8" fmla="*/ 0 60000 65536"/>
              <a:gd name="T9" fmla="*/ 0 60000 65536"/>
              <a:gd name="T10" fmla="*/ 0 60000 65536"/>
              <a:gd name="T11" fmla="*/ 0 60000 65536"/>
              <a:gd name="T12" fmla="*/ 0 w 768"/>
              <a:gd name="T13" fmla="*/ 0 h 576"/>
              <a:gd name="T14" fmla="*/ 768 w 768"/>
              <a:gd name="T15" fmla="*/ 576 h 576"/>
            </a:gdLst>
            <a:ahLst/>
            <a:cxnLst>
              <a:cxn ang="T8">
                <a:pos x="T0" y="T1"/>
              </a:cxn>
              <a:cxn ang="T9">
                <a:pos x="T2" y="T3"/>
              </a:cxn>
              <a:cxn ang="T10">
                <a:pos x="T4" y="T5"/>
              </a:cxn>
              <a:cxn ang="T11">
                <a:pos x="T6" y="T7"/>
              </a:cxn>
            </a:cxnLst>
            <a:rect l="T12" t="T13" r="T14" b="T15"/>
            <a:pathLst>
              <a:path w="768" h="576">
                <a:moveTo>
                  <a:pt x="0" y="0"/>
                </a:moveTo>
                <a:lnTo>
                  <a:pt x="768" y="0"/>
                </a:lnTo>
                <a:lnTo>
                  <a:pt x="768" y="576"/>
                </a:lnTo>
                <a:lnTo>
                  <a:pt x="0" y="576"/>
                </a:lnTo>
              </a:path>
            </a:pathLst>
          </a:custGeom>
          <a:noFill/>
          <a:ln w="28575">
            <a:solidFill>
              <a:schemeClr val="tx1"/>
            </a:solidFill>
            <a:round/>
            <a:headEnd/>
            <a:tailEnd/>
          </a:ln>
        </p:spPr>
        <p:txBody>
          <a:bodyPr/>
          <a:lstStyle/>
          <a:p>
            <a:pPr fontAlgn="auto">
              <a:spcBef>
                <a:spcPts val="0"/>
              </a:spcBef>
              <a:spcAft>
                <a:spcPts val="0"/>
              </a:spcAft>
              <a:defRPr/>
            </a:pPr>
            <a:endParaRPr lang="en-US" dirty="0">
              <a:solidFill>
                <a:srgbClr val="333399"/>
              </a:solidFill>
              <a:latin typeface="+mn-lt"/>
              <a:ea typeface="+mn-ea"/>
            </a:endParaRPr>
          </a:p>
        </p:txBody>
      </p:sp>
      <p:sp>
        <p:nvSpPr>
          <p:cNvPr id="56" name="矩形 55"/>
          <p:cNvSpPr/>
          <p:nvPr/>
        </p:nvSpPr>
        <p:spPr>
          <a:xfrm>
            <a:off x="3508380" y="5818148"/>
            <a:ext cx="2032929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Bottleneck queue</a:t>
            </a:r>
            <a:endParaRPr lang="zh-CN" altLang="en-US" dirty="0">
              <a:latin typeface="+mj-lt"/>
            </a:endParaRPr>
          </a:p>
        </p:txBody>
      </p:sp>
      <p:sp>
        <p:nvSpPr>
          <p:cNvPr id="57" name="矩形 56"/>
          <p:cNvSpPr/>
          <p:nvPr/>
        </p:nvSpPr>
        <p:spPr>
          <a:xfrm>
            <a:off x="5580316" y="4864101"/>
            <a:ext cx="263357" cy="654050"/>
          </a:xfrm>
          <a:prstGeom prst="rect">
            <a:avLst/>
          </a:prstGeom>
          <a:solidFill>
            <a:srgbClr val="D575FB">
              <a:alpha val="75000"/>
            </a:srgbClr>
          </a:solidFill>
          <a:ln w="25400">
            <a:solidFill>
              <a:srgbClr val="A00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8" name="矩形 57"/>
          <p:cNvSpPr/>
          <p:nvPr/>
        </p:nvSpPr>
        <p:spPr>
          <a:xfrm>
            <a:off x="5253258" y="4864101"/>
            <a:ext cx="263357" cy="654050"/>
          </a:xfrm>
          <a:prstGeom prst="rect">
            <a:avLst/>
          </a:prstGeom>
          <a:solidFill>
            <a:srgbClr val="D575FB">
              <a:alpha val="75000"/>
            </a:srgbClr>
          </a:solidFill>
          <a:ln w="25400">
            <a:solidFill>
              <a:srgbClr val="A00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矩形 58"/>
          <p:cNvSpPr/>
          <p:nvPr/>
        </p:nvSpPr>
        <p:spPr>
          <a:xfrm>
            <a:off x="4926200" y="4870732"/>
            <a:ext cx="263357" cy="654050"/>
          </a:xfrm>
          <a:prstGeom prst="rect">
            <a:avLst/>
          </a:prstGeom>
          <a:solidFill>
            <a:srgbClr val="D575FB">
              <a:alpha val="75000"/>
            </a:srgbClr>
          </a:solidFill>
          <a:ln w="25400">
            <a:solidFill>
              <a:srgbClr val="A00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2" name="直接箭头连接符 61"/>
          <p:cNvCxnSpPr/>
          <p:nvPr/>
        </p:nvCxnSpPr>
        <p:spPr>
          <a:xfrm flipH="1" flipV="1">
            <a:off x="4898539" y="4447491"/>
            <a:ext cx="1" cy="1413006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8" name="矩形 67"/>
          <p:cNvSpPr/>
          <p:nvPr/>
        </p:nvSpPr>
        <p:spPr>
          <a:xfrm>
            <a:off x="4172218" y="4183721"/>
            <a:ext cx="174599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ECN Threshold (K)</a:t>
            </a:r>
            <a:endParaRPr lang="zh-CN" altLang="en-US" sz="1400" dirty="0">
              <a:latin typeface="+mj-lt"/>
            </a:endParaRPr>
          </a:p>
        </p:txBody>
      </p:sp>
      <p:cxnSp>
        <p:nvCxnSpPr>
          <p:cNvPr id="69" name="直接箭头连接符 68"/>
          <p:cNvCxnSpPr/>
          <p:nvPr/>
        </p:nvCxnSpPr>
        <p:spPr>
          <a:xfrm>
            <a:off x="5927570" y="5197757"/>
            <a:ext cx="768505" cy="0"/>
          </a:xfrm>
          <a:prstGeom prst="straightConnector1">
            <a:avLst/>
          </a:prstGeom>
          <a:ln w="25400" cap="rnd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2" name="矩形 71"/>
          <p:cNvSpPr/>
          <p:nvPr/>
        </p:nvSpPr>
        <p:spPr>
          <a:xfrm>
            <a:off x="1470740" y="4870732"/>
            <a:ext cx="263357" cy="654050"/>
          </a:xfrm>
          <a:prstGeom prst="rect">
            <a:avLst/>
          </a:prstGeom>
          <a:solidFill>
            <a:srgbClr val="D575FB">
              <a:alpha val="75000"/>
            </a:srgbClr>
          </a:solidFill>
          <a:ln w="25400">
            <a:solidFill>
              <a:srgbClr val="A004D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4" name="矩形 73"/>
          <p:cNvSpPr/>
          <p:nvPr/>
        </p:nvSpPr>
        <p:spPr>
          <a:xfrm>
            <a:off x="1367174" y="5818148"/>
            <a:ext cx="1625600" cy="58805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Enqueue</a:t>
            </a:r>
            <a:endParaRPr lang="zh-CN" altLang="en-US" dirty="0"/>
          </a:p>
        </p:txBody>
      </p:sp>
      <p:sp>
        <p:nvSpPr>
          <p:cNvPr id="75" name="椭圆 74"/>
          <p:cNvSpPr/>
          <p:nvPr/>
        </p:nvSpPr>
        <p:spPr>
          <a:xfrm>
            <a:off x="4539531" y="5086350"/>
            <a:ext cx="228560" cy="228560"/>
          </a:xfrm>
          <a:prstGeom prst="ellipse">
            <a:avLst/>
          </a:prstGeom>
          <a:solidFill>
            <a:srgbClr val="FF9797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6" name="矩形 75"/>
          <p:cNvSpPr/>
          <p:nvPr/>
        </p:nvSpPr>
        <p:spPr>
          <a:xfrm>
            <a:off x="3555671" y="5826046"/>
            <a:ext cx="1829265" cy="58805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Qlen</a:t>
            </a:r>
            <a:r>
              <a:rPr lang="en-US" altLang="zh-CN" dirty="0" smtClean="0"/>
              <a:t> &gt; K: Mark the packet</a:t>
            </a:r>
            <a:endParaRPr lang="zh-CN" altLang="en-US" dirty="0"/>
          </a:p>
        </p:txBody>
      </p:sp>
      <p:sp>
        <p:nvSpPr>
          <p:cNvPr id="77" name="矩形 76"/>
          <p:cNvSpPr/>
          <p:nvPr/>
        </p:nvSpPr>
        <p:spPr>
          <a:xfrm>
            <a:off x="5515384" y="5826046"/>
            <a:ext cx="2142716" cy="58805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Qlen</a:t>
            </a:r>
            <a:r>
              <a:rPr lang="en-US" altLang="zh-CN" dirty="0" smtClean="0"/>
              <a:t> &lt; K: Unmark the packet</a:t>
            </a:r>
            <a:endParaRPr lang="zh-CN" altLang="en-US" dirty="0"/>
          </a:p>
        </p:txBody>
      </p:sp>
      <p:sp>
        <p:nvSpPr>
          <p:cNvPr id="78" name="矩形 77"/>
          <p:cNvSpPr/>
          <p:nvPr/>
        </p:nvSpPr>
        <p:spPr>
          <a:xfrm>
            <a:off x="5624717" y="5833944"/>
            <a:ext cx="2142716" cy="588059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err="1" smtClean="0"/>
              <a:t>Dequeue</a:t>
            </a:r>
            <a:endParaRPr lang="zh-CN" altLang="en-US" dirty="0"/>
          </a:p>
        </p:txBody>
      </p:sp>
      <p:sp>
        <p:nvSpPr>
          <p:cNvPr id="83" name="矩形 82"/>
          <p:cNvSpPr/>
          <p:nvPr/>
        </p:nvSpPr>
        <p:spPr>
          <a:xfrm>
            <a:off x="7552124" y="3350571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Time</a:t>
            </a:r>
            <a:endParaRPr lang="zh-CN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78457845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22" presetClass="entr" presetSubtype="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1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22" presetClass="entr" presetSubtype="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up)">
                                      <p:cBhvr>
                                        <p:cTn id="14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500"/>
                            </p:stCondLst>
                            <p:childTnLst>
                              <p:par>
                                <p:cTn id="21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3.61111E-6 -3.7037E-7 L 0.33438 0.00023 " pathEditMode="relative" rAng="0" ptsTypes="AA">
                                      <p:cBhvr>
                                        <p:cTn id="2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16719" y="0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26" dur="500"/>
                                        <p:tgtEl>
                                          <p:spTgt spid="74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2" fill="hold">
                            <p:stCondLst>
                              <p:cond delay="1000"/>
                            </p:stCondLst>
                            <p:childTnLst>
                              <p:par>
                                <p:cTn id="3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42" presetClass="path" presetSubtype="0" accel="50000" decel="5000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-2.77778E-6 -4.44444E-6 L 0.42743 0.00093 " pathEditMode="relative" rAng="0" ptsTypes="AA">
                                      <p:cBhvr>
                                        <p:cTn id="39" dur="1000" fill="hold"/>
                                        <p:tgtEl>
                                          <p:spTgt spid="57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72" y="46"/>
                                    </p:animMotion>
                                  </p:childTnLst>
                                </p:cTn>
                              </p:par>
                              <p:par>
                                <p:cTn id="40" presetID="42" presetClass="path" presetSubtype="0" accel="50000" decel="50000" fill="hold" grpId="0" nodeType="withEffect">
                                  <p:stCondLst>
                                    <p:cond delay="250"/>
                                  </p:stCondLst>
                                  <p:childTnLst>
                                    <p:animMotion origin="layout" path="M 1.11111E-6 -4.44444E-6 L 0.46319 0.00093 " pathEditMode="relative" rAng="0" ptsTypes="AA">
                                      <p:cBhvr>
                                        <p:cTn id="41" dur="1000" fill="hold"/>
                                        <p:tgtEl>
                                          <p:spTgt spid="5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3160" y="46"/>
                                    </p:animMotion>
                                  </p:childTnLst>
                                </p:cTn>
                              </p:par>
                              <p:par>
                                <p:cTn id="42" presetID="42" presetClass="path" presetSubtype="0" accel="50000" decel="50000" fill="hold" grpId="0" nodeType="withEffect">
                                  <p:stCondLst>
                                    <p:cond delay="500"/>
                                  </p:stCondLst>
                                  <p:childTnLst>
                                    <p:animMotion origin="layout" path="M 5E-6 -3.7037E-7 L 0.51251 0.00023 " pathEditMode="relative" rAng="0" ptsTypes="AA">
                                      <p:cBhvr>
                                        <p:cTn id="43" dur="1000" fill="hold"/>
                                        <p:tgtEl>
                                          <p:spTgt spid="59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5625" y="0"/>
                                    </p:animMotion>
                                  </p:childTnLst>
                                </p:cTn>
                              </p:par>
                              <p:par>
                                <p:cTn id="44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0.33438 0.00023 L 0.44948 -0.00093 " pathEditMode="relative" rAng="0" ptsTypes="AA">
                                      <p:cBhvr>
                                        <p:cTn id="45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64" y="-69"/>
                                    </p:animMotion>
                                  </p:childTnLst>
                                </p:cTn>
                              </p:par>
                              <p:par>
                                <p:cTn id="46" presetID="42" presetClass="path" presetSubtype="0" accel="50000" decel="50000" fill="hold" grpId="1" nodeType="withEffect">
                                  <p:stCondLst>
                                    <p:cond delay="750"/>
                                  </p:stCondLst>
                                  <p:childTnLst>
                                    <p:animMotion origin="layout" path="M 2.22222E-6 -3.33333E-6 L 0.11563 -0.00139 " pathEditMode="relative" rAng="0" ptsTypes="AA">
                                      <p:cBhvr>
                                        <p:cTn id="47" dur="1000" fill="hold"/>
                                        <p:tgtEl>
                                          <p:spTgt spid="75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5799" y="-23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1" dur="500"/>
                                        <p:tgtEl>
                                          <p:spTgt spid="76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3" fill="hold">
                            <p:stCondLst>
                              <p:cond delay="500"/>
                            </p:stCondLst>
                            <p:childTnLst>
                              <p:par>
                                <p:cTn id="5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7" fill="hold">
                            <p:stCondLst>
                              <p:cond delay="1000"/>
                            </p:stCondLst>
                            <p:childTnLst>
                              <p:par>
                                <p:cTn id="58" presetID="10" presetClass="exit" presetSubtype="0" fill="hold" grpId="2" nodeType="afterEffect">
                                  <p:stCondLst>
                                    <p:cond delay="50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59" dur="500"/>
                                        <p:tgtEl>
                                          <p:spTgt spid="75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>
                      <p:stCondLst>
                        <p:cond delay="indefinite"/>
                      </p:stCondLst>
                      <p:childTnLst>
                        <p:par>
                          <p:cTn id="62" fill="hold">
                            <p:stCondLst>
                              <p:cond delay="0"/>
                            </p:stCondLst>
                            <p:childTnLst>
                              <p:par>
                                <p:cTn id="63" presetID="10" presetClass="exit" presetSubtype="0" fill="hold" grpId="1" nodeType="click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64" dur="500"/>
                                        <p:tgtEl>
                                          <p:spTgt spid="77"/>
                                        </p:tgtEl>
                                      </p:cBhvr>
                                    </p:animEffec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7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66" fill="hold">
                            <p:stCondLst>
                              <p:cond delay="500"/>
                            </p:stCondLst>
                            <p:childTnLst>
                              <p:par>
                                <p:cTn id="67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9" dur="500"/>
                                        <p:tgtEl>
                                          <p:spTgt spid="7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70" fill="hold">
                            <p:stCondLst>
                              <p:cond delay="1000"/>
                            </p:stCondLst>
                            <p:childTnLst>
                              <p:par>
                                <p:cTn id="71" presetID="42" presetClass="path" presetSubtype="0" accel="50000" decel="50000" fill="hold" grpId="2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0.44948 -0.00093 L 0.87691 0.00232 " pathEditMode="relative" rAng="0" ptsTypes="AA">
                                      <p:cBhvr>
                                        <p:cTn id="72" dur="1000" fill="hold"/>
                                        <p:tgtEl>
                                          <p:spTgt spid="72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21302" y="116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 animBg="1"/>
      <p:bldP spid="52" grpId="0"/>
      <p:bldP spid="57" grpId="0" animBg="1"/>
      <p:bldP spid="58" grpId="0" animBg="1"/>
      <p:bldP spid="59" grpId="0" animBg="1"/>
      <p:bldP spid="72" grpId="0" animBg="1"/>
      <p:bldP spid="72" grpId="1" animBg="1"/>
      <p:bldP spid="72" grpId="2" animBg="1"/>
      <p:bldP spid="74" grpId="0" animBg="1"/>
      <p:bldP spid="74" grpId="1" animBg="1"/>
      <p:bldP spid="75" grpId="0" animBg="1"/>
      <p:bldP spid="75" grpId="1" animBg="1"/>
      <p:bldP spid="75" grpId="2" animBg="1"/>
      <p:bldP spid="76" grpId="0" animBg="1"/>
      <p:bldP spid="76" grpId="1" animBg="1"/>
      <p:bldP spid="77" grpId="0" animBg="1"/>
      <p:bldP spid="77" grpId="1" animBg="1"/>
      <p:bldP spid="78" grpId="0" animBg="1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Basic Idea</a:t>
            </a:r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532791" y="2424025"/>
            <a:ext cx="3710942" cy="495500"/>
          </a:xfrm>
          <a:prstGeom prst="rect">
            <a:avLst/>
          </a:prstGeom>
          <a:solidFill>
            <a:srgbClr val="B5E5FD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矩形 4"/>
          <p:cNvSpPr/>
          <p:nvPr/>
        </p:nvSpPr>
        <p:spPr>
          <a:xfrm>
            <a:off x="1523998" y="2932500"/>
            <a:ext cx="3710942" cy="591017"/>
          </a:xfrm>
          <a:prstGeom prst="rect">
            <a:avLst/>
          </a:prstGeom>
          <a:solidFill>
            <a:srgbClr val="CDFFE4"/>
          </a:solidFill>
          <a:ln>
            <a:noFill/>
          </a:ln>
          <a:effectLst/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" name="直接箭头连接符 5"/>
          <p:cNvCxnSpPr/>
          <p:nvPr/>
        </p:nvCxnSpPr>
        <p:spPr>
          <a:xfrm>
            <a:off x="1546612" y="2658424"/>
            <a:ext cx="3312119" cy="14752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 rot="16200000">
            <a:off x="361703" y="2481134"/>
            <a:ext cx="1622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Queue length</a:t>
            </a:r>
            <a:endParaRPr lang="zh-CN" altLang="en-US" dirty="0">
              <a:latin typeface="+mj-lt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4334510" y="3158195"/>
            <a:ext cx="909223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600" dirty="0" smtClean="0">
                <a:latin typeface="+mj-lt"/>
              </a:rPr>
              <a:t>Backlog</a:t>
            </a:r>
            <a:endParaRPr lang="zh-CN" altLang="en-US" sz="1600" dirty="0">
              <a:latin typeface="+mj-lt"/>
            </a:endParaRPr>
          </a:p>
        </p:txBody>
      </p:sp>
      <p:cxnSp>
        <p:nvCxnSpPr>
          <p:cNvPr id="9" name="直接箭头连接符 8"/>
          <p:cNvCxnSpPr/>
          <p:nvPr/>
        </p:nvCxnSpPr>
        <p:spPr>
          <a:xfrm flipV="1">
            <a:off x="1523998" y="2460625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箭头连接符 9"/>
          <p:cNvCxnSpPr/>
          <p:nvPr/>
        </p:nvCxnSpPr>
        <p:spPr>
          <a:xfrm flipH="1" flipV="1">
            <a:off x="1784350" y="2460625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V="1">
            <a:off x="2095500" y="2460625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2" name="直接箭头连接符 11"/>
          <p:cNvCxnSpPr/>
          <p:nvPr/>
        </p:nvCxnSpPr>
        <p:spPr>
          <a:xfrm flipH="1" flipV="1">
            <a:off x="2355852" y="2460625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3" name="直接箭头连接符 12"/>
          <p:cNvCxnSpPr/>
          <p:nvPr/>
        </p:nvCxnSpPr>
        <p:spPr>
          <a:xfrm flipV="1">
            <a:off x="2675794" y="2463811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/>
          <p:cNvCxnSpPr/>
          <p:nvPr/>
        </p:nvCxnSpPr>
        <p:spPr>
          <a:xfrm flipH="1" flipV="1">
            <a:off x="2936146" y="2463811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箭头连接符 14"/>
          <p:cNvCxnSpPr/>
          <p:nvPr/>
        </p:nvCxnSpPr>
        <p:spPr>
          <a:xfrm flipV="1">
            <a:off x="3238503" y="2465053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箭头连接符 15"/>
          <p:cNvCxnSpPr/>
          <p:nvPr/>
        </p:nvCxnSpPr>
        <p:spPr>
          <a:xfrm flipH="1" flipV="1">
            <a:off x="3498855" y="2465053"/>
            <a:ext cx="311150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7" name="直接箭头连接符 16"/>
          <p:cNvCxnSpPr/>
          <p:nvPr/>
        </p:nvCxnSpPr>
        <p:spPr>
          <a:xfrm flipV="1">
            <a:off x="3818797" y="2462218"/>
            <a:ext cx="260352" cy="471875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直接箭头连接符 17"/>
          <p:cNvCxnSpPr/>
          <p:nvPr/>
        </p:nvCxnSpPr>
        <p:spPr>
          <a:xfrm flipH="1" flipV="1">
            <a:off x="4079149" y="2462219"/>
            <a:ext cx="310100" cy="470281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矩形 18"/>
          <p:cNvSpPr/>
          <p:nvPr/>
        </p:nvSpPr>
        <p:spPr>
          <a:xfrm>
            <a:off x="4291794" y="2644610"/>
            <a:ext cx="97013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Multiplex</a:t>
            </a:r>
            <a:endParaRPr lang="zh-CN" altLang="en-US" sz="1400" dirty="0">
              <a:latin typeface="+mj-lt"/>
            </a:endParaRPr>
          </a:p>
        </p:txBody>
      </p:sp>
      <p:cxnSp>
        <p:nvCxnSpPr>
          <p:cNvPr id="20" name="直接箭头连接符 19"/>
          <p:cNvCxnSpPr/>
          <p:nvPr/>
        </p:nvCxnSpPr>
        <p:spPr>
          <a:xfrm flipV="1">
            <a:off x="1523999" y="1606794"/>
            <a:ext cx="8792" cy="1925516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532791" y="3523517"/>
            <a:ext cx="6664571" cy="8793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矩形 39"/>
          <p:cNvSpPr/>
          <p:nvPr/>
        </p:nvSpPr>
        <p:spPr>
          <a:xfrm>
            <a:off x="4381506" y="2179746"/>
            <a:ext cx="1452642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ECN Threshold</a:t>
            </a:r>
            <a:endParaRPr lang="zh-CN" altLang="en-US" sz="1400" dirty="0">
              <a:latin typeface="+mj-lt"/>
            </a:endParaRPr>
          </a:p>
        </p:txBody>
      </p:sp>
      <p:cxnSp>
        <p:nvCxnSpPr>
          <p:cNvPr id="42" name="直接箭头连接符 41"/>
          <p:cNvCxnSpPr/>
          <p:nvPr/>
        </p:nvCxnSpPr>
        <p:spPr>
          <a:xfrm flipV="1">
            <a:off x="4649601" y="2401852"/>
            <a:ext cx="279678" cy="271324"/>
          </a:xfrm>
          <a:prstGeom prst="straightConnector1">
            <a:avLst/>
          </a:prstGeom>
          <a:ln w="12700" cap="rnd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8" name="直接箭头连接符 47"/>
          <p:cNvCxnSpPr/>
          <p:nvPr/>
        </p:nvCxnSpPr>
        <p:spPr>
          <a:xfrm flipH="1" flipV="1">
            <a:off x="2653164" y="2044107"/>
            <a:ext cx="189288" cy="528399"/>
          </a:xfrm>
          <a:prstGeom prst="straightConnector1">
            <a:avLst/>
          </a:prstGeom>
          <a:ln w="15875" cap="rnd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矩形 54"/>
          <p:cNvSpPr/>
          <p:nvPr/>
        </p:nvSpPr>
        <p:spPr>
          <a:xfrm>
            <a:off x="1935375" y="1668778"/>
            <a:ext cx="1160895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 smtClean="0">
                <a:solidFill>
                  <a:prstClr val="black"/>
                </a:solidFill>
                <a:latin typeface="Comic Sans MS"/>
              </a:rPr>
              <a:t>Enqueue</a:t>
            </a:r>
            <a:endParaRPr lang="zh-CN" altLang="en-US" dirty="0"/>
          </a:p>
        </p:txBody>
      </p:sp>
      <p:sp>
        <p:nvSpPr>
          <p:cNvPr id="60" name="矩形 59"/>
          <p:cNvSpPr/>
          <p:nvPr/>
        </p:nvSpPr>
        <p:spPr>
          <a:xfrm>
            <a:off x="3018213" y="1648891"/>
            <a:ext cx="1191352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err="1" smtClean="0">
                <a:solidFill>
                  <a:prstClr val="black"/>
                </a:solidFill>
                <a:latin typeface="Comic Sans MS"/>
              </a:rPr>
              <a:t>Dequeue</a:t>
            </a:r>
            <a:endParaRPr lang="zh-CN" altLang="en-US" dirty="0"/>
          </a:p>
        </p:txBody>
      </p:sp>
      <p:cxnSp>
        <p:nvCxnSpPr>
          <p:cNvPr id="61" name="直接箭头连接符 60"/>
          <p:cNvCxnSpPr/>
          <p:nvPr/>
        </p:nvCxnSpPr>
        <p:spPr>
          <a:xfrm flipV="1">
            <a:off x="3034885" y="2032338"/>
            <a:ext cx="353377" cy="537215"/>
          </a:xfrm>
          <a:prstGeom prst="straightConnector1">
            <a:avLst/>
          </a:prstGeom>
          <a:ln w="15875" cap="rnd">
            <a:solidFill>
              <a:schemeClr val="tx1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3" name="Picture 2" descr="“哭脸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4234199" y="1328226"/>
            <a:ext cx="529571" cy="53585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64" name="矩形 63"/>
          <p:cNvSpPr/>
          <p:nvPr/>
        </p:nvSpPr>
        <p:spPr>
          <a:xfrm>
            <a:off x="1236254" y="4017571"/>
            <a:ext cx="504336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2000" dirty="0" smtClean="0">
                <a:latin typeface="+mj-lt"/>
              </a:rPr>
              <a:t>The queue length is decreasing: </a:t>
            </a:r>
            <a:r>
              <a:rPr lang="en-US" altLang="zh-CN" sz="2000" dirty="0" smtClean="0">
                <a:solidFill>
                  <a:srgbClr val="0000FF"/>
                </a:solidFill>
                <a:latin typeface="+mj-lt"/>
              </a:rPr>
              <a:t>slope</a:t>
            </a:r>
            <a:r>
              <a:rPr lang="en-US" altLang="zh-CN" sz="2000" dirty="0" smtClean="0">
                <a:latin typeface="+mj-lt"/>
              </a:rPr>
              <a:t> &lt; 0</a:t>
            </a:r>
            <a:endParaRPr lang="zh-CN" altLang="en-US" sz="2000" dirty="0">
              <a:latin typeface="+mj-lt"/>
            </a:endParaRPr>
          </a:p>
        </p:txBody>
      </p:sp>
      <p:sp>
        <p:nvSpPr>
          <p:cNvPr id="66" name="矩形 65"/>
          <p:cNvSpPr/>
          <p:nvPr/>
        </p:nvSpPr>
        <p:spPr>
          <a:xfrm>
            <a:off x="7561508" y="3559078"/>
            <a:ext cx="712054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Time</a:t>
            </a:r>
            <a:endParaRPr lang="zh-CN" altLang="en-US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221289696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6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64" grpId="0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590871" y="-70130"/>
            <a:ext cx="8229600" cy="1143000"/>
          </a:xfrm>
        </p:spPr>
        <p:txBody>
          <a:bodyPr/>
          <a:lstStyle/>
          <a:p>
            <a:r>
              <a:rPr lang="en-US" altLang="zh-CN" dirty="0"/>
              <a:t>Our </a:t>
            </a:r>
            <a:r>
              <a:rPr lang="en-US" altLang="zh-CN" dirty="0" smtClean="0"/>
              <a:t>Solution</a:t>
            </a:r>
            <a:r>
              <a:rPr lang="en-US" altLang="zh-CN" dirty="0"/>
              <a:t>: CEDM</a:t>
            </a:r>
            <a:endParaRPr lang="zh-CN" altLang="en-US" dirty="0"/>
          </a:p>
        </p:txBody>
      </p:sp>
      <p:cxnSp>
        <p:nvCxnSpPr>
          <p:cNvPr id="7" name="直接箭头连接符 6"/>
          <p:cNvCxnSpPr/>
          <p:nvPr/>
        </p:nvCxnSpPr>
        <p:spPr>
          <a:xfrm>
            <a:off x="1103398" y="3494330"/>
            <a:ext cx="6387713" cy="28451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" name="矩形 7"/>
          <p:cNvSpPr/>
          <p:nvPr/>
        </p:nvSpPr>
        <p:spPr>
          <a:xfrm rot="16200000">
            <a:off x="-35742" y="3058984"/>
            <a:ext cx="16225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Queue length</a:t>
            </a:r>
            <a:endParaRPr lang="zh-CN" altLang="en-US" dirty="0">
              <a:latin typeface="+mj-lt"/>
            </a:endParaRPr>
          </a:p>
        </p:txBody>
      </p:sp>
      <p:cxnSp>
        <p:nvCxnSpPr>
          <p:cNvPr id="10" name="直接箭头连接符 9"/>
          <p:cNvCxnSpPr/>
          <p:nvPr/>
        </p:nvCxnSpPr>
        <p:spPr>
          <a:xfrm flipV="1">
            <a:off x="1158502" y="2363428"/>
            <a:ext cx="401422" cy="727559"/>
          </a:xfrm>
          <a:prstGeom prst="straightConnector1">
            <a:avLst/>
          </a:prstGeom>
          <a:ln w="25400" cap="rnd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直接箭头连接符 10"/>
          <p:cNvCxnSpPr/>
          <p:nvPr/>
        </p:nvCxnSpPr>
        <p:spPr>
          <a:xfrm flipH="1" flipV="1">
            <a:off x="1570699" y="2345035"/>
            <a:ext cx="491874" cy="74595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直接箭头连接符 20"/>
          <p:cNvCxnSpPr/>
          <p:nvPr/>
        </p:nvCxnSpPr>
        <p:spPr>
          <a:xfrm flipV="1">
            <a:off x="1126554" y="1562100"/>
            <a:ext cx="0" cy="2548060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2" name="直接箭头连接符 21"/>
          <p:cNvCxnSpPr/>
          <p:nvPr/>
        </p:nvCxnSpPr>
        <p:spPr>
          <a:xfrm flipV="1">
            <a:off x="1135346" y="4101367"/>
            <a:ext cx="6664571" cy="8793"/>
          </a:xfrm>
          <a:prstGeom prst="straightConnector1">
            <a:avLst/>
          </a:prstGeom>
          <a:ln w="25400" cap="rnd">
            <a:solidFill>
              <a:schemeClr val="tx1">
                <a:lumMod val="50000"/>
                <a:lumOff val="50000"/>
              </a:schemeClr>
            </a:solidFill>
            <a:tailEnd type="arrow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3" name="直接箭头连接符 32"/>
          <p:cNvCxnSpPr/>
          <p:nvPr/>
        </p:nvCxnSpPr>
        <p:spPr>
          <a:xfrm flipV="1">
            <a:off x="2062573" y="2379742"/>
            <a:ext cx="401422" cy="727559"/>
          </a:xfrm>
          <a:prstGeom prst="straightConnector1">
            <a:avLst/>
          </a:prstGeom>
          <a:ln w="25400" cap="rnd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/>
          <p:cNvCxnSpPr/>
          <p:nvPr/>
        </p:nvCxnSpPr>
        <p:spPr>
          <a:xfrm flipH="1" flipV="1">
            <a:off x="2474770" y="2361349"/>
            <a:ext cx="491874" cy="74595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5" name="直接箭头连接符 34"/>
          <p:cNvCxnSpPr/>
          <p:nvPr/>
        </p:nvCxnSpPr>
        <p:spPr>
          <a:xfrm flipV="1">
            <a:off x="2977419" y="2379742"/>
            <a:ext cx="401422" cy="727559"/>
          </a:xfrm>
          <a:prstGeom prst="straightConnector1">
            <a:avLst/>
          </a:prstGeom>
          <a:ln w="25400" cap="rnd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6" name="直接箭头连接符 35"/>
          <p:cNvCxnSpPr/>
          <p:nvPr/>
        </p:nvCxnSpPr>
        <p:spPr>
          <a:xfrm flipH="1" flipV="1">
            <a:off x="3389616" y="2361349"/>
            <a:ext cx="491874" cy="74595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7" name="直接箭头连接符 36"/>
          <p:cNvCxnSpPr/>
          <p:nvPr/>
        </p:nvCxnSpPr>
        <p:spPr>
          <a:xfrm flipV="1">
            <a:off x="3892265" y="2379742"/>
            <a:ext cx="401422" cy="727559"/>
          </a:xfrm>
          <a:prstGeom prst="straightConnector1">
            <a:avLst/>
          </a:prstGeom>
          <a:ln w="25400" cap="rnd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8" name="直接箭头连接符 37"/>
          <p:cNvCxnSpPr/>
          <p:nvPr/>
        </p:nvCxnSpPr>
        <p:spPr>
          <a:xfrm flipH="1" flipV="1">
            <a:off x="4304462" y="2361349"/>
            <a:ext cx="491874" cy="74595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9" name="直接箭头连接符 38"/>
          <p:cNvCxnSpPr/>
          <p:nvPr/>
        </p:nvCxnSpPr>
        <p:spPr>
          <a:xfrm flipV="1">
            <a:off x="4796336" y="2363428"/>
            <a:ext cx="401422" cy="727559"/>
          </a:xfrm>
          <a:prstGeom prst="straightConnector1">
            <a:avLst/>
          </a:prstGeom>
          <a:ln w="25400" cap="rnd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0" name="直接箭头连接符 39"/>
          <p:cNvCxnSpPr/>
          <p:nvPr/>
        </p:nvCxnSpPr>
        <p:spPr>
          <a:xfrm flipH="1" flipV="1">
            <a:off x="5208533" y="2345035"/>
            <a:ext cx="491874" cy="74595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箭头连接符 40"/>
          <p:cNvCxnSpPr/>
          <p:nvPr/>
        </p:nvCxnSpPr>
        <p:spPr>
          <a:xfrm flipV="1">
            <a:off x="5688188" y="2379742"/>
            <a:ext cx="401422" cy="727559"/>
          </a:xfrm>
          <a:prstGeom prst="straightConnector1">
            <a:avLst/>
          </a:prstGeom>
          <a:ln w="25400" cap="rnd">
            <a:solidFill>
              <a:srgbClr val="FF0000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2" name="直接箭头连接符 41"/>
          <p:cNvCxnSpPr/>
          <p:nvPr/>
        </p:nvCxnSpPr>
        <p:spPr>
          <a:xfrm flipH="1" flipV="1">
            <a:off x="6100385" y="2361349"/>
            <a:ext cx="491874" cy="745952"/>
          </a:xfrm>
          <a:prstGeom prst="straightConnector1">
            <a:avLst/>
          </a:prstGeom>
          <a:ln w="25400" cap="rnd">
            <a:solidFill>
              <a:srgbClr val="0000FF"/>
            </a:solidFill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3" name="矩形 42"/>
          <p:cNvSpPr/>
          <p:nvPr/>
        </p:nvSpPr>
        <p:spPr>
          <a:xfrm>
            <a:off x="7515687" y="3338115"/>
            <a:ext cx="39466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K</a:t>
            </a:r>
            <a:r>
              <a:rPr lang="en-US" altLang="zh-CN" baseline="-25000" dirty="0" smtClean="0">
                <a:latin typeface="+mj-lt"/>
              </a:rPr>
              <a:t>1</a:t>
            </a:r>
            <a:endParaRPr lang="zh-CN" altLang="en-US" baseline="-25000" dirty="0">
              <a:latin typeface="+mj-lt"/>
            </a:endParaRPr>
          </a:p>
        </p:txBody>
      </p:sp>
      <p:cxnSp>
        <p:nvCxnSpPr>
          <p:cNvPr id="45" name="直接箭头连接符 44"/>
          <p:cNvCxnSpPr/>
          <p:nvPr/>
        </p:nvCxnSpPr>
        <p:spPr>
          <a:xfrm>
            <a:off x="1149167" y="2676609"/>
            <a:ext cx="6387713" cy="28451"/>
          </a:xfrm>
          <a:prstGeom prst="straightConnector1">
            <a:avLst/>
          </a:prstGeom>
          <a:ln w="25400" cap="rnd">
            <a:solidFill>
              <a:srgbClr val="FF0000"/>
            </a:solidFill>
            <a:prstDash val="sysDash"/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6" name="矩形 45"/>
          <p:cNvSpPr/>
          <p:nvPr/>
        </p:nvSpPr>
        <p:spPr>
          <a:xfrm>
            <a:off x="7502863" y="2506168"/>
            <a:ext cx="420308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latin typeface="+mj-lt"/>
              </a:rPr>
              <a:t>K</a:t>
            </a:r>
            <a:r>
              <a:rPr lang="en-US" altLang="zh-CN" baseline="-25000" dirty="0" smtClean="0">
                <a:latin typeface="+mj-lt"/>
              </a:rPr>
              <a:t>2</a:t>
            </a:r>
            <a:endParaRPr lang="zh-CN" altLang="en-US" baseline="-25000" dirty="0">
              <a:latin typeface="+mj-lt"/>
            </a:endParaRPr>
          </a:p>
        </p:txBody>
      </p:sp>
      <p:sp>
        <p:nvSpPr>
          <p:cNvPr id="47" name="矩形 46"/>
          <p:cNvSpPr/>
          <p:nvPr/>
        </p:nvSpPr>
        <p:spPr>
          <a:xfrm>
            <a:off x="2100930" y="4397497"/>
            <a:ext cx="4591970" cy="5747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2000" dirty="0" smtClean="0">
                <a:solidFill>
                  <a:schemeClr val="tx1"/>
                </a:solidFill>
              </a:rPr>
              <a:t>If </a:t>
            </a:r>
            <a:r>
              <a:rPr lang="en-US" altLang="zh-CN" sz="2000" dirty="0" err="1" smtClean="0">
                <a:solidFill>
                  <a:schemeClr val="tx1"/>
                </a:solidFill>
              </a:rPr>
              <a:t>qlen</a:t>
            </a:r>
            <a:r>
              <a:rPr lang="en-US" altLang="zh-CN" sz="2000" dirty="0" smtClean="0">
                <a:solidFill>
                  <a:schemeClr val="tx1"/>
                </a:solidFill>
              </a:rPr>
              <a:t> &gt; K</a:t>
            </a:r>
            <a:r>
              <a:rPr lang="en-US" altLang="zh-CN" sz="2000" baseline="-25000" dirty="0" smtClean="0">
                <a:solidFill>
                  <a:schemeClr val="tx1"/>
                </a:solidFill>
              </a:rPr>
              <a:t>2</a:t>
            </a:r>
            <a:r>
              <a:rPr lang="en-US" altLang="zh-CN" sz="2000" dirty="0" smtClean="0">
                <a:solidFill>
                  <a:schemeClr val="tx1"/>
                </a:solidFill>
              </a:rPr>
              <a:t>, Mark packets anyway</a:t>
            </a:r>
          </a:p>
        </p:txBody>
      </p:sp>
      <p:pic>
        <p:nvPicPr>
          <p:cNvPr id="27" name="Picture 2" descr="“哭脸”的图片搜索结果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29404" y="896630"/>
            <a:ext cx="812298" cy="82193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8" name="椭圆 47"/>
          <p:cNvSpPr/>
          <p:nvPr/>
        </p:nvSpPr>
        <p:spPr>
          <a:xfrm>
            <a:off x="3201273" y="2177031"/>
            <a:ext cx="824394" cy="1114588"/>
          </a:xfrm>
          <a:prstGeom prst="ellipse">
            <a:avLst/>
          </a:prstGeom>
          <a:noFill/>
          <a:ln cap="rnd">
            <a:solidFill>
              <a:schemeClr val="tx1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5" name="矩形 24"/>
          <p:cNvSpPr/>
          <p:nvPr/>
        </p:nvSpPr>
        <p:spPr>
          <a:xfrm>
            <a:off x="1643198" y="1596888"/>
            <a:ext cx="3554560" cy="574727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sz="2000" dirty="0" smtClean="0">
                <a:solidFill>
                  <a:schemeClr val="tx1"/>
                </a:solidFill>
              </a:rPr>
              <a:t>Should be marked with ECN</a:t>
            </a:r>
          </a:p>
        </p:txBody>
      </p:sp>
    </p:spTree>
    <p:extLst>
      <p:ext uri="{BB962C8B-B14F-4D97-AF65-F5344CB8AC3E}">
        <p14:creationId xmlns:p14="http://schemas.microsoft.com/office/powerpoint/2010/main" val="4058679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1000"/>
                            </p:stCondLst>
                            <p:childTnLst>
                              <p:par>
                                <p:cTn id="13" presetID="10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22" presetClass="entr" presetSubtype="8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0" dur="500"/>
                                        <p:tgtEl>
                                          <p:spTgt spid="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1" fill="hold">
                            <p:stCondLst>
                              <p:cond delay="500"/>
                            </p:stCondLst>
                            <p:childTnLst>
                              <p:par>
                                <p:cTn id="22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4" dur="500"/>
                                        <p:tgtEl>
                                          <p:spTgt spid="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6" grpId="0"/>
      <p:bldP spid="47" grpId="0"/>
      <p:bldP spid="48" grpId="0" animBg="1"/>
      <p:bldP spid="25" grpId="0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/>
              <a:t>Our </a:t>
            </a:r>
            <a:r>
              <a:rPr lang="en-US" altLang="zh-CN" dirty="0" smtClean="0"/>
              <a:t>Solution</a:t>
            </a:r>
            <a:r>
              <a:rPr lang="en-US" altLang="zh-CN" dirty="0"/>
              <a:t>: CEDM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>
                <a:solidFill>
                  <a:srgbClr val="FF0000"/>
                </a:solidFill>
              </a:rPr>
              <a:t>C</a:t>
            </a:r>
            <a:r>
              <a:rPr lang="en-US" altLang="zh-CN" dirty="0"/>
              <a:t>ombined </a:t>
            </a:r>
            <a:r>
              <a:rPr lang="en-US" altLang="zh-CN" dirty="0" err="1">
                <a:solidFill>
                  <a:srgbClr val="FF0000"/>
                </a:solidFill>
              </a:rPr>
              <a:t>E</a:t>
            </a:r>
            <a:r>
              <a:rPr lang="en-US" altLang="zh-CN" dirty="0" err="1"/>
              <a:t>nqueue</a:t>
            </a:r>
            <a:r>
              <a:rPr lang="en-US" altLang="zh-CN" dirty="0"/>
              <a:t> and </a:t>
            </a:r>
            <a:r>
              <a:rPr lang="en-US" altLang="zh-CN" dirty="0" err="1">
                <a:solidFill>
                  <a:srgbClr val="FF0000"/>
                </a:solidFill>
              </a:rPr>
              <a:t>D</a:t>
            </a:r>
            <a:r>
              <a:rPr lang="en-US" altLang="zh-CN" dirty="0" err="1"/>
              <a:t>equeue</a:t>
            </a:r>
            <a:r>
              <a:rPr lang="en-US" altLang="zh-CN" dirty="0"/>
              <a:t> ECN </a:t>
            </a:r>
            <a:r>
              <a:rPr lang="en-US" altLang="zh-CN" dirty="0">
                <a:solidFill>
                  <a:srgbClr val="FF0000"/>
                </a:solidFill>
              </a:rPr>
              <a:t>M</a:t>
            </a:r>
            <a:r>
              <a:rPr lang="en-US" altLang="zh-CN" dirty="0"/>
              <a:t>arking</a:t>
            </a:r>
          </a:p>
          <a:p>
            <a:endParaRPr lang="zh-CN" altLang="en-US" dirty="0"/>
          </a:p>
        </p:txBody>
      </p:sp>
      <p:sp>
        <p:nvSpPr>
          <p:cNvPr id="4" name="矩形 3"/>
          <p:cNvSpPr/>
          <p:nvPr/>
        </p:nvSpPr>
        <p:spPr>
          <a:xfrm>
            <a:off x="1447800" y="3057525"/>
            <a:ext cx="2114549" cy="2953247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dirty="0" smtClean="0">
                <a:solidFill>
                  <a:srgbClr val="0000FF"/>
                </a:solidFill>
              </a:rPr>
              <a:t>Mark packet if</a:t>
            </a:r>
          </a:p>
          <a:p>
            <a:pPr algn="just"/>
            <a:r>
              <a:rPr lang="en-US" altLang="zh-CN" dirty="0" err="1" smtClean="0">
                <a:solidFill>
                  <a:srgbClr val="0000FF"/>
                </a:solidFill>
              </a:rPr>
              <a:t>qlen</a:t>
            </a:r>
            <a:r>
              <a:rPr lang="en-US" altLang="zh-CN" dirty="0" smtClean="0">
                <a:solidFill>
                  <a:srgbClr val="0000FF"/>
                </a:solidFill>
              </a:rPr>
              <a:t> &gt; K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2</a:t>
            </a:r>
          </a:p>
          <a:p>
            <a:pPr algn="just"/>
            <a:endParaRPr lang="en-US" altLang="zh-CN" dirty="0" smtClean="0">
              <a:solidFill>
                <a:srgbClr val="0000FF"/>
              </a:solidFill>
            </a:endParaRPr>
          </a:p>
          <a:p>
            <a:pPr algn="just"/>
            <a:r>
              <a:rPr lang="en-US" altLang="zh-CN" dirty="0" smtClean="0">
                <a:solidFill>
                  <a:srgbClr val="0000FF"/>
                </a:solidFill>
              </a:rPr>
              <a:t>Or else:</a:t>
            </a:r>
          </a:p>
          <a:p>
            <a:pPr algn="just"/>
            <a:r>
              <a:rPr lang="en-US" altLang="zh-CN" dirty="0" smtClean="0">
                <a:solidFill>
                  <a:srgbClr val="0000FF"/>
                </a:solidFill>
              </a:rPr>
              <a:t>Mark packet if</a:t>
            </a:r>
          </a:p>
          <a:p>
            <a:pPr marL="342900" indent="-342900" algn="just">
              <a:buFontTx/>
              <a:buAutoNum type="arabicPeriod"/>
            </a:pPr>
            <a:r>
              <a:rPr lang="en-US" altLang="zh-CN" dirty="0" err="1" smtClean="0">
                <a:solidFill>
                  <a:srgbClr val="0000FF"/>
                </a:solidFill>
              </a:rPr>
              <a:t>qlen</a:t>
            </a:r>
            <a:r>
              <a:rPr lang="en-US" altLang="zh-CN" dirty="0" smtClean="0">
                <a:solidFill>
                  <a:srgbClr val="0000FF"/>
                </a:solidFill>
              </a:rPr>
              <a:t> </a:t>
            </a:r>
            <a:r>
              <a:rPr lang="en-US" altLang="zh-CN" dirty="0">
                <a:solidFill>
                  <a:srgbClr val="0000FF"/>
                </a:solidFill>
              </a:rPr>
              <a:t>&gt;= </a:t>
            </a:r>
            <a:r>
              <a:rPr lang="en-US" altLang="zh-CN" dirty="0" smtClean="0">
                <a:solidFill>
                  <a:srgbClr val="0000FF"/>
                </a:solidFill>
              </a:rPr>
              <a:t>K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dirty="0" smtClean="0">
                <a:solidFill>
                  <a:srgbClr val="0000FF"/>
                </a:solidFill>
              </a:rPr>
              <a:t>  </a:t>
            </a:r>
            <a:r>
              <a:rPr lang="en-US" altLang="zh-CN" b="1" i="1" dirty="0" smtClean="0">
                <a:solidFill>
                  <a:srgbClr val="0000FF"/>
                </a:solidFill>
              </a:rPr>
              <a:t>and</a:t>
            </a:r>
          </a:p>
          <a:p>
            <a:pPr marL="342900" indent="-342900" algn="just">
              <a:buAutoNum type="arabicPeriod"/>
            </a:pPr>
            <a:r>
              <a:rPr lang="en-US" altLang="zh-CN" dirty="0" smtClean="0">
                <a:solidFill>
                  <a:srgbClr val="0000FF"/>
                </a:solidFill>
              </a:rPr>
              <a:t>slope &gt;= 0</a:t>
            </a:r>
          </a:p>
        </p:txBody>
      </p:sp>
      <p:sp>
        <p:nvSpPr>
          <p:cNvPr id="5" name="矩形 4"/>
          <p:cNvSpPr/>
          <p:nvPr/>
        </p:nvSpPr>
        <p:spPr>
          <a:xfrm>
            <a:off x="4695825" y="3057524"/>
            <a:ext cx="3419475" cy="1914525"/>
          </a:xfrm>
          <a:prstGeom prst="rect">
            <a:avLst/>
          </a:prstGeom>
        </p:spPr>
        <p:style>
          <a:lnRef idx="1">
            <a:schemeClr val="accent2"/>
          </a:lnRef>
          <a:fillRef idx="2">
            <a:schemeClr val="accent2"/>
          </a:fillRef>
          <a:effectRef idx="1">
            <a:schemeClr val="accent2"/>
          </a:effectRef>
          <a:fontRef idx="minor">
            <a:schemeClr val="dk1"/>
          </a:fontRef>
        </p:style>
        <p:txBody>
          <a:bodyPr rtlCol="0" anchor="ctr"/>
          <a:lstStyle/>
          <a:p>
            <a:pPr algn="just"/>
            <a:r>
              <a:rPr lang="en-US" altLang="zh-CN" dirty="0" smtClean="0">
                <a:solidFill>
                  <a:srgbClr val="0000FF"/>
                </a:solidFill>
              </a:rPr>
              <a:t>Unmark packet if</a:t>
            </a:r>
          </a:p>
          <a:p>
            <a:pPr marL="342900" indent="-342900" algn="just">
              <a:buAutoNum type="arabicPeriod"/>
            </a:pPr>
            <a:r>
              <a:rPr lang="en-US" altLang="zh-CN" dirty="0" err="1" smtClean="0">
                <a:solidFill>
                  <a:srgbClr val="0000FF"/>
                </a:solidFill>
              </a:rPr>
              <a:t>qlen</a:t>
            </a:r>
            <a:r>
              <a:rPr lang="en-US" altLang="zh-CN" dirty="0" smtClean="0">
                <a:solidFill>
                  <a:srgbClr val="0000FF"/>
                </a:solidFill>
              </a:rPr>
              <a:t> &lt; K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1</a:t>
            </a:r>
            <a:r>
              <a:rPr lang="en-US" altLang="zh-CN" dirty="0" smtClean="0">
                <a:solidFill>
                  <a:srgbClr val="0000FF"/>
                </a:solidFill>
              </a:rPr>
              <a:t>  </a:t>
            </a:r>
            <a:r>
              <a:rPr lang="en-US" altLang="zh-CN" b="1" i="1" dirty="0" smtClean="0">
                <a:solidFill>
                  <a:srgbClr val="0000FF"/>
                </a:solidFill>
              </a:rPr>
              <a:t>or</a:t>
            </a:r>
          </a:p>
          <a:p>
            <a:pPr marL="342900" indent="-342900" algn="just">
              <a:buAutoNum type="arabicPeriod"/>
            </a:pPr>
            <a:r>
              <a:rPr lang="en-US" altLang="zh-CN" dirty="0" err="1">
                <a:solidFill>
                  <a:srgbClr val="0000FF"/>
                </a:solidFill>
              </a:rPr>
              <a:t>q</a:t>
            </a:r>
            <a:r>
              <a:rPr lang="en-US" altLang="zh-CN" dirty="0" err="1" smtClean="0">
                <a:solidFill>
                  <a:srgbClr val="0000FF"/>
                </a:solidFill>
              </a:rPr>
              <a:t>len</a:t>
            </a:r>
            <a:r>
              <a:rPr lang="en-US" altLang="zh-CN" dirty="0" smtClean="0">
                <a:solidFill>
                  <a:srgbClr val="0000FF"/>
                </a:solidFill>
              </a:rPr>
              <a:t> &gt; K</a:t>
            </a:r>
            <a:r>
              <a:rPr lang="en-US" altLang="zh-CN" baseline="-25000" dirty="0" smtClean="0">
                <a:solidFill>
                  <a:srgbClr val="0000FF"/>
                </a:solidFill>
              </a:rPr>
              <a:t>2</a:t>
            </a:r>
            <a:r>
              <a:rPr lang="en-US" altLang="zh-CN" dirty="0" smtClean="0">
                <a:solidFill>
                  <a:srgbClr val="0000FF"/>
                </a:solidFill>
              </a:rPr>
              <a:t> </a:t>
            </a:r>
            <a:r>
              <a:rPr lang="en-US" altLang="zh-CN" b="1" dirty="0" smtClean="0">
                <a:solidFill>
                  <a:srgbClr val="0000FF"/>
                </a:solidFill>
              </a:rPr>
              <a:t>and</a:t>
            </a:r>
            <a:r>
              <a:rPr lang="en-US" altLang="zh-CN" dirty="0" smtClean="0">
                <a:solidFill>
                  <a:srgbClr val="0000FF"/>
                </a:solidFill>
              </a:rPr>
              <a:t> slope &lt; 0</a:t>
            </a:r>
            <a:endParaRPr lang="zh-CN" altLang="en-US" dirty="0">
              <a:solidFill>
                <a:srgbClr val="0000FF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447800" y="3067048"/>
            <a:ext cx="20408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+mn-lt"/>
              </a:rPr>
              <a:t>Packet </a:t>
            </a:r>
            <a:r>
              <a:rPr lang="en-US" altLang="zh-CN" sz="2000" dirty="0" err="1" smtClean="0">
                <a:latin typeface="+mn-lt"/>
              </a:rPr>
              <a:t>enqueue</a:t>
            </a:r>
            <a:endParaRPr lang="zh-CN" altLang="en-US" sz="2000" dirty="0">
              <a:latin typeface="+mn-lt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742221" y="3067048"/>
            <a:ext cx="205985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dirty="0" smtClean="0">
                <a:latin typeface="+mn-lt"/>
              </a:rPr>
              <a:t>Packet </a:t>
            </a:r>
            <a:r>
              <a:rPr lang="en-US" altLang="zh-CN" sz="2000" dirty="0" err="1" smtClean="0">
                <a:latin typeface="+mn-lt"/>
              </a:rPr>
              <a:t>dequeue</a:t>
            </a:r>
            <a:endParaRPr lang="zh-CN" altLang="en-US" sz="2000" dirty="0">
              <a:latin typeface="+mn-lt"/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5200649" y="5087442"/>
            <a:ext cx="408622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err="1">
                <a:latin typeface="Bell MT" panose="02020503060305020303" pitchFamily="18" charset="0"/>
              </a:rPr>
              <a:t>q</a:t>
            </a:r>
            <a:r>
              <a:rPr lang="en-US" altLang="zh-CN" dirty="0" err="1" smtClean="0">
                <a:latin typeface="Bell MT" panose="02020503060305020303" pitchFamily="18" charset="0"/>
              </a:rPr>
              <a:t>len</a:t>
            </a:r>
            <a:r>
              <a:rPr lang="en-US" altLang="zh-CN" dirty="0" smtClean="0">
                <a:latin typeface="Bell MT" panose="02020503060305020303" pitchFamily="18" charset="0"/>
              </a:rPr>
              <a:t>: queue length</a:t>
            </a:r>
          </a:p>
          <a:p>
            <a:r>
              <a:rPr lang="en-US" altLang="zh-CN" dirty="0" smtClean="0">
                <a:latin typeface="Bell MT" panose="02020503060305020303" pitchFamily="18" charset="0"/>
              </a:rPr>
              <a:t>slope</a:t>
            </a:r>
            <a:r>
              <a:rPr lang="en-US" altLang="zh-CN" dirty="0">
                <a:latin typeface="Bell MT" panose="02020503060305020303" pitchFamily="18" charset="0"/>
              </a:rPr>
              <a:t>:  derivative </a:t>
            </a:r>
            <a:r>
              <a:rPr lang="en-US" altLang="zh-CN" dirty="0" smtClean="0">
                <a:latin typeface="Bell MT" panose="02020503060305020303" pitchFamily="18" charset="0"/>
              </a:rPr>
              <a:t>of queue length</a:t>
            </a:r>
          </a:p>
          <a:p>
            <a:r>
              <a:rPr lang="en-US" altLang="zh-CN" dirty="0" smtClean="0">
                <a:latin typeface="Bell MT" panose="02020503060305020303" pitchFamily="18" charset="0"/>
              </a:rPr>
              <a:t>K: ECN threshold</a:t>
            </a:r>
          </a:p>
        </p:txBody>
      </p:sp>
    </p:spTree>
    <p:extLst>
      <p:ext uri="{BB962C8B-B14F-4D97-AF65-F5344CB8AC3E}">
        <p14:creationId xmlns:p14="http://schemas.microsoft.com/office/powerpoint/2010/main" val="410685344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Outline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Background &amp; Motivation</a:t>
            </a:r>
          </a:p>
          <a:p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Analysis</a:t>
            </a:r>
            <a:endParaRPr lang="en-US" altLang="zh-CN" dirty="0">
              <a:solidFill>
                <a:schemeClr val="bg1">
                  <a:lumMod val="65000"/>
                </a:schemeClr>
              </a:solidFill>
            </a:endParaRPr>
          </a:p>
          <a:p>
            <a:r>
              <a:rPr lang="en-US" altLang="zh-CN" dirty="0" smtClean="0">
                <a:solidFill>
                  <a:schemeClr val="bg1">
                    <a:lumMod val="65000"/>
                  </a:schemeClr>
                </a:solidFill>
              </a:rPr>
              <a:t>Solution</a:t>
            </a:r>
          </a:p>
          <a:p>
            <a:r>
              <a:rPr lang="en-US" altLang="zh-CN" dirty="0" smtClean="0">
                <a:solidFill>
                  <a:srgbClr val="FF0000"/>
                </a:solidFill>
              </a:rPr>
              <a:t>Evaluation</a:t>
            </a:r>
          </a:p>
          <a:p>
            <a:r>
              <a:rPr lang="en-US" altLang="zh-CN" dirty="0" smtClean="0"/>
              <a:t>Conclusion</a:t>
            </a:r>
          </a:p>
        </p:txBody>
      </p:sp>
    </p:spTree>
    <p:extLst>
      <p:ext uri="{BB962C8B-B14F-4D97-AF65-F5344CB8AC3E}">
        <p14:creationId xmlns:p14="http://schemas.microsoft.com/office/powerpoint/2010/main" val="327452480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Throughput</a:t>
            </a:r>
            <a:endParaRPr lang="zh-CN" altLang="en-US" dirty="0"/>
          </a:p>
        </p:txBody>
      </p:sp>
      <p:sp>
        <p:nvSpPr>
          <p:cNvPr id="4" name="圆角矩形 3"/>
          <p:cNvSpPr/>
          <p:nvPr/>
        </p:nvSpPr>
        <p:spPr>
          <a:xfrm>
            <a:off x="3764574" y="3591660"/>
            <a:ext cx="1459523" cy="826477"/>
          </a:xfrm>
          <a:prstGeom prst="round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Switch</a:t>
            </a:r>
          </a:p>
        </p:txBody>
      </p:sp>
      <p:sp>
        <p:nvSpPr>
          <p:cNvPr id="5" name="矩形 4"/>
          <p:cNvSpPr/>
          <p:nvPr/>
        </p:nvSpPr>
        <p:spPr>
          <a:xfrm>
            <a:off x="6358305" y="3736732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Receiver</a:t>
            </a:r>
            <a:endParaRPr lang="zh-CN" altLang="en-US" dirty="0"/>
          </a:p>
        </p:txBody>
      </p:sp>
      <p:sp>
        <p:nvSpPr>
          <p:cNvPr id="6" name="矩形 5"/>
          <p:cNvSpPr/>
          <p:nvPr/>
        </p:nvSpPr>
        <p:spPr>
          <a:xfrm>
            <a:off x="1513744" y="3323494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Sender 1</a:t>
            </a:r>
            <a:endParaRPr lang="zh-CN" altLang="en-US" dirty="0"/>
          </a:p>
        </p:txBody>
      </p:sp>
      <p:sp>
        <p:nvSpPr>
          <p:cNvPr id="7" name="矩形 6"/>
          <p:cNvSpPr/>
          <p:nvPr/>
        </p:nvSpPr>
        <p:spPr>
          <a:xfrm>
            <a:off x="1513743" y="4149971"/>
            <a:ext cx="1310053" cy="536331"/>
          </a:xfrm>
          <a:prstGeom prst="rect">
            <a:avLst/>
          </a:prstGeom>
        </p:spPr>
        <p:style>
          <a:lnRef idx="1">
            <a:schemeClr val="accent6"/>
          </a:lnRef>
          <a:fillRef idx="2">
            <a:schemeClr val="accent6"/>
          </a:fillRef>
          <a:effectRef idx="1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en-US" altLang="zh-CN" dirty="0" smtClean="0"/>
              <a:t>Sender 2</a:t>
            </a:r>
            <a:endParaRPr lang="zh-CN" altLang="en-US" dirty="0"/>
          </a:p>
        </p:txBody>
      </p:sp>
      <p:cxnSp>
        <p:nvCxnSpPr>
          <p:cNvPr id="8" name="直接连接符 7"/>
          <p:cNvCxnSpPr>
            <a:stCxn id="6" idx="3"/>
          </p:cNvCxnSpPr>
          <p:nvPr/>
        </p:nvCxnSpPr>
        <p:spPr>
          <a:xfrm>
            <a:off x="2823797" y="3591660"/>
            <a:ext cx="940777" cy="268165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9" name="直接连接符 8"/>
          <p:cNvCxnSpPr>
            <a:stCxn id="7" idx="3"/>
          </p:cNvCxnSpPr>
          <p:nvPr/>
        </p:nvCxnSpPr>
        <p:spPr>
          <a:xfrm flipV="1">
            <a:off x="2823796" y="4149971"/>
            <a:ext cx="940778" cy="268166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直接连接符 9"/>
          <p:cNvCxnSpPr>
            <a:endCxn id="5" idx="1"/>
          </p:cNvCxnSpPr>
          <p:nvPr/>
        </p:nvCxnSpPr>
        <p:spPr>
          <a:xfrm>
            <a:off x="5224097" y="4004897"/>
            <a:ext cx="1134208" cy="1"/>
          </a:xfrm>
          <a:prstGeom prst="line">
            <a:avLst/>
          </a:prstGeom>
          <a:ln w="25400" cap="rnd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1" name="任意多边形 10"/>
          <p:cNvSpPr/>
          <p:nvPr/>
        </p:nvSpPr>
        <p:spPr>
          <a:xfrm>
            <a:off x="2823796" y="3486152"/>
            <a:ext cx="3534509" cy="429724"/>
          </a:xfrm>
          <a:custGeom>
            <a:avLst/>
            <a:gdLst>
              <a:gd name="connsiteX0" fmla="*/ 0 w 5644661"/>
              <a:gd name="connsiteY0" fmla="*/ 0 h 659424"/>
              <a:gd name="connsiteX1" fmla="*/ 2584938 w 5644661"/>
              <a:gd name="connsiteY1" fmla="*/ 518747 h 659424"/>
              <a:gd name="connsiteX2" fmla="*/ 5644661 w 5644661"/>
              <a:gd name="connsiteY2" fmla="*/ 659424 h 65942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44661" h="659424">
                <a:moveTo>
                  <a:pt x="0" y="0"/>
                </a:moveTo>
                <a:cubicBezTo>
                  <a:pt x="822080" y="204421"/>
                  <a:pt x="1644161" y="408843"/>
                  <a:pt x="2584938" y="518747"/>
                </a:cubicBezTo>
                <a:cubicBezTo>
                  <a:pt x="3525715" y="628651"/>
                  <a:pt x="4585188" y="644037"/>
                  <a:pt x="5644661" y="65942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" name="任意多边形 11"/>
          <p:cNvSpPr/>
          <p:nvPr/>
        </p:nvSpPr>
        <p:spPr>
          <a:xfrm>
            <a:off x="2841382" y="4121362"/>
            <a:ext cx="3516924" cy="411075"/>
          </a:xfrm>
          <a:custGeom>
            <a:avLst/>
            <a:gdLst>
              <a:gd name="connsiteX0" fmla="*/ 0 w 5688623"/>
              <a:gd name="connsiteY0" fmla="*/ 411075 h 411075"/>
              <a:gd name="connsiteX1" fmla="*/ 2769577 w 5688623"/>
              <a:gd name="connsiteY1" fmla="*/ 41799 h 411075"/>
              <a:gd name="connsiteX2" fmla="*/ 5688623 w 5688623"/>
              <a:gd name="connsiteY2" fmla="*/ 24214 h 411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</a:cxnLst>
            <a:rect l="l" t="t" r="r" b="b"/>
            <a:pathLst>
              <a:path w="5688623" h="411075">
                <a:moveTo>
                  <a:pt x="0" y="411075"/>
                </a:moveTo>
                <a:cubicBezTo>
                  <a:pt x="910736" y="258675"/>
                  <a:pt x="1821473" y="106276"/>
                  <a:pt x="2769577" y="41799"/>
                </a:cubicBezTo>
                <a:cubicBezTo>
                  <a:pt x="3717681" y="-22678"/>
                  <a:pt x="4703152" y="768"/>
                  <a:pt x="5688623" y="24214"/>
                </a:cubicBezTo>
              </a:path>
            </a:pathLst>
          </a:custGeom>
          <a:noFill/>
          <a:ln w="31750">
            <a:solidFill>
              <a:srgbClr val="FF0000"/>
            </a:solidFill>
            <a:tailEnd type="arrow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矩形 12"/>
          <p:cNvSpPr/>
          <p:nvPr/>
        </p:nvSpPr>
        <p:spPr>
          <a:xfrm>
            <a:off x="5361496" y="3539229"/>
            <a:ext cx="7857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10Gbps</a:t>
            </a:r>
            <a:endParaRPr lang="zh-CN" altLang="en-US" sz="1400" dirty="0">
              <a:latin typeface="+mj-lt"/>
            </a:endParaRPr>
          </a:p>
        </p:txBody>
      </p:sp>
      <p:sp>
        <p:nvSpPr>
          <p:cNvPr id="14" name="矩形 13"/>
          <p:cNvSpPr/>
          <p:nvPr/>
        </p:nvSpPr>
        <p:spPr>
          <a:xfrm>
            <a:off x="3079161" y="3215216"/>
            <a:ext cx="78579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sz="1400" dirty="0" smtClean="0">
                <a:latin typeface="+mj-lt"/>
              </a:rPr>
              <a:t>10Gbps</a:t>
            </a:r>
            <a:endParaRPr lang="zh-CN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64700899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Throughput</a:t>
            </a:r>
            <a:endParaRPr lang="zh-CN" altLang="en-US" dirty="0"/>
          </a:p>
        </p:txBody>
      </p:sp>
      <p:pic>
        <p:nvPicPr>
          <p:cNvPr id="15" name="图片 1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00289" y="2324100"/>
            <a:ext cx="8343421" cy="2363824"/>
          </a:xfrm>
          <a:prstGeom prst="rect">
            <a:avLst/>
          </a:prstGeom>
        </p:spPr>
      </p:pic>
      <p:sp>
        <p:nvSpPr>
          <p:cNvPr id="16" name="矩形 15"/>
          <p:cNvSpPr/>
          <p:nvPr/>
        </p:nvSpPr>
        <p:spPr>
          <a:xfrm>
            <a:off x="590872" y="5222378"/>
            <a:ext cx="3966150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Throughput loss is reduced by 1.6X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  <p:sp>
        <p:nvSpPr>
          <p:cNvPr id="17" name="矩形 16"/>
          <p:cNvSpPr/>
          <p:nvPr/>
        </p:nvSpPr>
        <p:spPr>
          <a:xfrm>
            <a:off x="4638836" y="5222378"/>
            <a:ext cx="3804247" cy="369332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altLang="zh-CN" dirty="0" smtClean="0">
                <a:solidFill>
                  <a:srgbClr val="0000FF"/>
                </a:solidFill>
                <a:latin typeface="+mn-lt"/>
              </a:rPr>
              <a:t>Throughput loss is reduced by 6X</a:t>
            </a:r>
            <a:endParaRPr lang="zh-CN" altLang="en-US" dirty="0">
              <a:solidFill>
                <a:srgbClr val="0000FF"/>
              </a:solidFill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37595581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err="1" smtClean="0"/>
              <a:t>Incast</a:t>
            </a:r>
            <a:r>
              <a:rPr lang="en-US" altLang="zh-CN" dirty="0" smtClean="0"/>
              <a:t> performance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96418" y="2429435"/>
            <a:ext cx="5302382" cy="3839492"/>
          </a:xfrm>
          <a:prstGeom prst="rect">
            <a:avLst/>
          </a:prstGeom>
        </p:spPr>
      </p:pic>
      <p:sp>
        <p:nvSpPr>
          <p:cNvPr id="6" name="文本框 5"/>
          <p:cNvSpPr txBox="1"/>
          <p:nvPr/>
        </p:nvSpPr>
        <p:spPr>
          <a:xfrm>
            <a:off x="6360459" y="2841084"/>
            <a:ext cx="279698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Bell MT" panose="02020503060305020303" pitchFamily="18" charset="0"/>
              </a:rPr>
              <a:t>Buffer size: 150KB</a:t>
            </a:r>
          </a:p>
          <a:p>
            <a:r>
              <a:rPr lang="en-US" altLang="zh-CN" dirty="0" smtClean="0">
                <a:latin typeface="Bell MT" panose="02020503060305020303" pitchFamily="18" charset="0"/>
              </a:rPr>
              <a:t>Link rate: 10Gbps</a:t>
            </a:r>
            <a:endParaRPr lang="zh-CN" altLang="en-US" dirty="0">
              <a:latin typeface="Bell MT" panose="02020503060305020303" pitchFamily="18" charset="0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5778846" y="1421971"/>
            <a:ext cx="2796988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latin typeface="Bell MT" panose="02020503060305020303" pitchFamily="18" charset="0"/>
              </a:rPr>
              <a:t>DCTCP: K=19 packets</a:t>
            </a:r>
            <a:endParaRPr lang="zh-CN" altLang="en-US" dirty="0">
              <a:latin typeface="Bell MT" panose="02020503060305020303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8" name="文本框 7"/>
              <p:cNvSpPr txBox="1"/>
              <p:nvPr/>
            </p:nvSpPr>
            <p:spPr>
              <a:xfrm>
                <a:off x="5778846" y="1791303"/>
                <a:ext cx="3849247" cy="646331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r>
                  <a:rPr lang="en-US" altLang="zh-CN" dirty="0" smtClean="0">
                    <a:latin typeface="Bell MT" panose="02020503060305020303" pitchFamily="18" charset="0"/>
                  </a:rPr>
                  <a:t>DCTCP+CEDM:</a:t>
                </a:r>
              </a:p>
              <a:p>
                <a:r>
                  <a:rPr lang="en-US" altLang="zh-CN" dirty="0" smtClean="0">
                    <a:latin typeface="Bell MT" panose="02020503060305020303" pitchFamily="18" charset="0"/>
                  </a:rPr>
                  <a:t>     K=14 packets (</a:t>
                </a:r>
                <a14:m>
                  <m:oMath xmlns:m="http://schemas.openxmlformats.org/officeDocument/2006/math"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0.17×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𝐶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×</m:t>
                    </m:r>
                    <m:r>
                      <a:rPr lang="en-US" altLang="zh-CN" b="0" i="1" smtClean="0">
                        <a:latin typeface="Cambria Math" panose="02040503050406030204" pitchFamily="18" charset="0"/>
                      </a:rPr>
                      <m:t>𝑅𝑇𝑇</m:t>
                    </m:r>
                  </m:oMath>
                </a14:m>
                <a:r>
                  <a:rPr lang="en-US" altLang="zh-CN" dirty="0" smtClean="0">
                    <a:latin typeface="Bell MT" panose="02020503060305020303" pitchFamily="18" charset="0"/>
                  </a:rPr>
                  <a:t>)</a:t>
                </a:r>
                <a:endParaRPr lang="zh-CN" altLang="en-US" dirty="0">
                  <a:latin typeface="Bell MT" panose="02020503060305020303" pitchFamily="18" charset="0"/>
                </a:endParaRPr>
              </a:p>
            </p:txBody>
          </p:sp>
        </mc:Choice>
        <mc:Fallback xmlns="">
          <p:sp>
            <p:nvSpPr>
              <p:cNvPr id="8" name="文本框 7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778846" y="1791303"/>
                <a:ext cx="3849247" cy="646331"/>
              </a:xfrm>
              <a:prstGeom prst="rect">
                <a:avLst/>
              </a:prstGeom>
              <a:blipFill>
                <a:blip r:embed="rId4"/>
                <a:stretch>
                  <a:fillRect l="-1426" t="-5660" b="-14151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94630736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Large-scale simulations</a:t>
            </a:r>
          </a:p>
          <a:p>
            <a:pPr lvl="1"/>
            <a:r>
              <a:rPr lang="en-US" altLang="zh-CN" dirty="0" smtClean="0"/>
              <a:t>Leaf-spine topology with 144 servers</a:t>
            </a:r>
          </a:p>
          <a:p>
            <a:pPr lvl="1"/>
            <a:r>
              <a:rPr lang="en-US" altLang="zh-CN" dirty="0" smtClean="0"/>
              <a:t>10/40Gbps network</a:t>
            </a: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26926" y="3296583"/>
            <a:ext cx="6664499" cy="28295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768683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/>
              <a:t>Large-scale simulations</a:t>
            </a:r>
          </a:p>
          <a:p>
            <a:pPr lvl="1"/>
            <a:r>
              <a:rPr lang="en-US" altLang="zh-CN" dirty="0" smtClean="0"/>
              <a:t>Two widely used flow size distributions</a:t>
            </a:r>
          </a:p>
          <a:p>
            <a:pPr lvl="2"/>
            <a:r>
              <a:rPr lang="en-US" altLang="zh-CN" dirty="0" smtClean="0"/>
              <a:t>Data mining workload</a:t>
            </a:r>
          </a:p>
          <a:p>
            <a:pPr lvl="2"/>
            <a:r>
              <a:rPr lang="en-US" altLang="zh-CN" dirty="0" smtClean="0"/>
              <a:t>Web search workload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834078" y="3225708"/>
            <a:ext cx="5475843" cy="31705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6751051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Large-scale simulations</a:t>
            </a:r>
          </a:p>
        </p:txBody>
      </p:sp>
      <p:graphicFrame>
        <p:nvGraphicFramePr>
          <p:cNvPr id="5" name="表格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70649337"/>
              </p:ext>
            </p:extLst>
          </p:nvPr>
        </p:nvGraphicFramePr>
        <p:xfrm>
          <a:off x="885823" y="2987675"/>
          <a:ext cx="6657976" cy="1483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328988">
                  <a:extLst>
                    <a:ext uri="{9D8B030D-6E8A-4147-A177-3AD203B41FA5}">
                      <a16:colId xmlns:a16="http://schemas.microsoft.com/office/drawing/2014/main" val="1927546789"/>
                    </a:ext>
                  </a:extLst>
                </a:gridCol>
                <a:gridCol w="3328988">
                  <a:extLst>
                    <a:ext uri="{9D8B030D-6E8A-4147-A177-3AD203B41FA5}">
                      <a16:colId xmlns:a16="http://schemas.microsoft.com/office/drawing/2014/main" val="2051613474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Protocols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ECN</a:t>
                      </a:r>
                      <a:r>
                        <a:rPr lang="en-US" altLang="zh-CN" baseline="0" dirty="0" smtClean="0"/>
                        <a:t> threshold (packet)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754473064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DCTCP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K=65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842351389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DCTCP+CEDM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K=12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0532097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DCTCP</a:t>
                      </a:r>
                      <a:endParaRPr lang="zh-CN" altLang="en-US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altLang="zh-CN" dirty="0" smtClean="0"/>
                        <a:t>K=12</a:t>
                      </a:r>
                      <a:endParaRPr lang="zh-CN" altLang="en-US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684691195"/>
                  </a:ext>
                </a:extLst>
              </a:tr>
            </a:tbl>
          </a:graphicData>
        </a:graphic>
      </p:graphicFrame>
      <p:sp>
        <p:nvSpPr>
          <p:cNvPr id="6" name="矩形 5"/>
          <p:cNvSpPr/>
          <p:nvPr/>
        </p:nvSpPr>
        <p:spPr>
          <a:xfrm>
            <a:off x="4667250" y="4095470"/>
            <a:ext cx="2733675" cy="375565"/>
          </a:xfrm>
          <a:prstGeom prst="rect">
            <a:avLst/>
          </a:prstGeom>
          <a:noFill/>
          <a:ln cap="rnd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7" name="矩形 6"/>
              <p:cNvSpPr/>
              <p:nvPr/>
            </p:nvSpPr>
            <p:spPr>
              <a:xfrm>
                <a:off x="2964201" y="5144420"/>
                <a:ext cx="5696368" cy="46166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 algn="ctr"/>
                <a:r>
                  <a:rPr lang="en-US" altLang="zh-CN" sz="2400" dirty="0" smtClean="0">
                    <a:latin typeface="+mj-lt"/>
                  </a:rPr>
                  <a:t>Theoretical setting:</a:t>
                </a:r>
                <a:r>
                  <a:rPr lang="en-US" altLang="zh-CN" sz="2400" dirty="0" smtClean="0"/>
                  <a:t> </a:t>
                </a:r>
                <a14:m>
                  <m:oMath xmlns:m="http://schemas.openxmlformats.org/officeDocument/2006/math">
                    <m:r>
                      <a:rPr lang="en-US" altLang="zh-CN" sz="2400" i="1" smtClean="0">
                        <a:latin typeface="Cambria Math" panose="02040503050406030204" pitchFamily="18" charset="0"/>
                      </a:rPr>
                      <m:t>0.17</m:t>
                    </m:r>
                    <m:r>
                      <a:rPr lang="en-US" altLang="zh-CN" sz="2400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𝐶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</m:t>
                    </m:r>
                    <m:r>
                      <a:rPr lang="en-US" altLang="zh-CN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𝑅𝑇𝑇</m:t>
                    </m:r>
                  </m:oMath>
                </a14:m>
                <a:r>
                  <a:rPr lang="en-US" altLang="zh-CN" sz="2400" dirty="0" smtClean="0">
                    <a:latin typeface="+mj-lt"/>
                  </a:rPr>
                  <a:t> </a:t>
                </a:r>
                <a:r>
                  <a:rPr lang="en-US" altLang="zh-CN" sz="2400" baseline="30000" dirty="0" smtClean="0">
                    <a:latin typeface="+mj-lt"/>
                  </a:rPr>
                  <a:t>[2]</a:t>
                </a:r>
                <a:endParaRPr lang="zh-CN" altLang="en-US" sz="2400" baseline="30000" dirty="0">
                  <a:latin typeface="+mj-lt"/>
                </a:endParaRPr>
              </a:p>
            </p:txBody>
          </p:sp>
        </mc:Choice>
        <mc:Fallback xmlns="">
          <p:sp>
            <p:nvSpPr>
              <p:cNvPr id="7" name="矩形 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964201" y="5144420"/>
                <a:ext cx="5696368" cy="461665"/>
              </a:xfrm>
              <a:prstGeom prst="rect">
                <a:avLst/>
              </a:prstGeom>
              <a:blipFill>
                <a:blip r:embed="rId3"/>
                <a:stretch>
                  <a:fillRect t="-9211" b="-30263"/>
                </a:stretch>
              </a:blipFill>
            </p:spPr>
            <p:txBody>
              <a:bodyPr/>
              <a:lstStyle/>
              <a:p>
                <a:r>
                  <a:rPr lang="zh-CN" altLang="en-US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下箭头 7"/>
          <p:cNvSpPr/>
          <p:nvPr/>
        </p:nvSpPr>
        <p:spPr>
          <a:xfrm>
            <a:off x="5881686" y="4633902"/>
            <a:ext cx="304800" cy="371475"/>
          </a:xfrm>
          <a:prstGeom prst="down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右箭头 8"/>
          <p:cNvSpPr/>
          <p:nvPr/>
        </p:nvSpPr>
        <p:spPr>
          <a:xfrm rot="18852762">
            <a:off x="6816851" y="3045730"/>
            <a:ext cx="1119545" cy="288771"/>
          </a:xfrm>
          <a:prstGeom prst="rightArrow">
            <a:avLst/>
          </a:prstGeom>
        </p:spPr>
        <p:style>
          <a:lnRef idx="1">
            <a:schemeClr val="accent4"/>
          </a:lnRef>
          <a:fillRef idx="3">
            <a:schemeClr val="accent4"/>
          </a:fillRef>
          <a:effectRef idx="2">
            <a:schemeClr val="accent4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" name="矩形 9"/>
          <p:cNvSpPr/>
          <p:nvPr/>
        </p:nvSpPr>
        <p:spPr>
          <a:xfrm>
            <a:off x="3571641" y="2372381"/>
            <a:ext cx="5572359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000" dirty="0" smtClean="0">
                <a:latin typeface="+mn-lt"/>
              </a:rPr>
              <a:t>Recommended settings in 10Gbps network </a:t>
            </a:r>
            <a:r>
              <a:rPr lang="en-US" altLang="zh-CN" sz="2000" baseline="30000" dirty="0" smtClean="0">
                <a:latin typeface="+mn-lt"/>
              </a:rPr>
              <a:t>[1]</a:t>
            </a:r>
            <a:endParaRPr lang="zh-CN" altLang="en-US" sz="2000" baseline="30000" dirty="0">
              <a:latin typeface="+mn-lt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5038725" y="3351451"/>
            <a:ext cx="1844066" cy="375565"/>
          </a:xfrm>
          <a:prstGeom prst="rect">
            <a:avLst/>
          </a:prstGeom>
          <a:noFill/>
          <a:ln cap="rnd">
            <a:solidFill>
              <a:srgbClr val="FF0000"/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2" name="矩形 11"/>
          <p:cNvSpPr/>
          <p:nvPr/>
        </p:nvSpPr>
        <p:spPr>
          <a:xfrm>
            <a:off x="1075516" y="5661825"/>
            <a:ext cx="6794940" cy="95410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just"/>
            <a:r>
              <a:rPr lang="en-US" altLang="zh-CN" sz="1400" dirty="0" smtClean="0">
                <a:latin typeface="+mj-lt"/>
              </a:rPr>
              <a:t>[1] M</a:t>
            </a:r>
            <a:r>
              <a:rPr lang="en-US" altLang="zh-CN" sz="1400" dirty="0">
                <a:latin typeface="+mj-lt"/>
              </a:rPr>
              <a:t>. </a:t>
            </a:r>
            <a:r>
              <a:rPr lang="en-US" altLang="zh-CN" sz="1400" dirty="0" err="1">
                <a:latin typeface="+mj-lt"/>
              </a:rPr>
              <a:t>Alizadeh</a:t>
            </a:r>
            <a:r>
              <a:rPr lang="en-US" altLang="zh-CN" sz="1400" dirty="0">
                <a:latin typeface="+mj-lt"/>
              </a:rPr>
              <a:t>, A. Greenberg, D. A. </a:t>
            </a:r>
            <a:r>
              <a:rPr lang="en-US" altLang="zh-CN" sz="1400" dirty="0" err="1">
                <a:latin typeface="+mj-lt"/>
              </a:rPr>
              <a:t>Maltz</a:t>
            </a:r>
            <a:r>
              <a:rPr lang="en-US" altLang="zh-CN" sz="1400" dirty="0">
                <a:latin typeface="+mj-lt"/>
              </a:rPr>
              <a:t>, J. </a:t>
            </a:r>
            <a:r>
              <a:rPr lang="en-US" altLang="zh-CN" sz="1400" dirty="0" err="1">
                <a:latin typeface="+mj-lt"/>
              </a:rPr>
              <a:t>Padhye</a:t>
            </a:r>
            <a:r>
              <a:rPr lang="en-US" altLang="zh-CN" sz="1400" dirty="0">
                <a:latin typeface="+mj-lt"/>
              </a:rPr>
              <a:t>, P. Patel, B. </a:t>
            </a:r>
            <a:r>
              <a:rPr lang="en-US" altLang="zh-CN" sz="1400" dirty="0" err="1" smtClean="0">
                <a:latin typeface="+mj-lt"/>
              </a:rPr>
              <a:t>Prabhakar</a:t>
            </a:r>
            <a:r>
              <a:rPr lang="en-US" altLang="zh-CN" sz="1400" dirty="0">
                <a:latin typeface="+mj-lt"/>
              </a:rPr>
              <a:t>, S. </a:t>
            </a:r>
            <a:r>
              <a:rPr lang="en-US" altLang="zh-CN" sz="1400" dirty="0" err="1">
                <a:latin typeface="+mj-lt"/>
              </a:rPr>
              <a:t>Sengupta</a:t>
            </a:r>
            <a:r>
              <a:rPr lang="en-US" altLang="zh-CN" sz="1400" dirty="0">
                <a:latin typeface="+mj-lt"/>
              </a:rPr>
              <a:t>, and M. </a:t>
            </a:r>
            <a:r>
              <a:rPr lang="en-US" altLang="zh-CN" sz="1400" dirty="0" err="1">
                <a:latin typeface="+mj-lt"/>
              </a:rPr>
              <a:t>Sridharan</a:t>
            </a:r>
            <a:r>
              <a:rPr lang="en-US" altLang="zh-CN" sz="1400" dirty="0">
                <a:latin typeface="+mj-lt"/>
              </a:rPr>
              <a:t>, “Data Center TCP (DCTCP),” </a:t>
            </a:r>
            <a:r>
              <a:rPr lang="en-US" altLang="zh-CN" sz="1400" dirty="0" smtClean="0">
                <a:latin typeface="+mj-lt"/>
              </a:rPr>
              <a:t>in SIGCOMM</a:t>
            </a:r>
            <a:r>
              <a:rPr lang="en-US" altLang="zh-CN" sz="1400" dirty="0">
                <a:latin typeface="+mj-lt"/>
              </a:rPr>
              <a:t>, 2010</a:t>
            </a:r>
            <a:r>
              <a:rPr lang="en-US" altLang="zh-CN" sz="1400" dirty="0" smtClean="0">
                <a:latin typeface="+mj-lt"/>
              </a:rPr>
              <a:t>.</a:t>
            </a:r>
          </a:p>
          <a:p>
            <a:pPr algn="just"/>
            <a:r>
              <a:rPr lang="en-US" altLang="zh-CN" sz="1400" dirty="0" smtClean="0">
                <a:latin typeface="+mj-lt"/>
              </a:rPr>
              <a:t>[</a:t>
            </a:r>
            <a:r>
              <a:rPr lang="en-US" altLang="zh-CN" sz="1400" dirty="0">
                <a:latin typeface="+mj-lt"/>
              </a:rPr>
              <a:t>2] M. </a:t>
            </a:r>
            <a:r>
              <a:rPr lang="en-US" altLang="zh-CN" sz="1400" dirty="0" err="1">
                <a:latin typeface="+mj-lt"/>
              </a:rPr>
              <a:t>Alizadeh</a:t>
            </a:r>
            <a:r>
              <a:rPr lang="en-US" altLang="zh-CN" sz="1400" dirty="0">
                <a:latin typeface="+mj-lt"/>
              </a:rPr>
              <a:t>, A. </a:t>
            </a:r>
            <a:r>
              <a:rPr lang="en-US" altLang="zh-CN" sz="1400" dirty="0" err="1">
                <a:latin typeface="+mj-lt"/>
              </a:rPr>
              <a:t>Javanmard</a:t>
            </a:r>
            <a:r>
              <a:rPr lang="en-US" altLang="zh-CN" sz="1400" dirty="0">
                <a:latin typeface="+mj-lt"/>
              </a:rPr>
              <a:t>, and B. </a:t>
            </a:r>
            <a:r>
              <a:rPr lang="en-US" altLang="zh-CN" sz="1400" dirty="0" err="1">
                <a:latin typeface="+mj-lt"/>
              </a:rPr>
              <a:t>Prabhakar</a:t>
            </a:r>
            <a:r>
              <a:rPr lang="en-US" altLang="zh-CN" sz="1400" dirty="0">
                <a:latin typeface="+mj-lt"/>
              </a:rPr>
              <a:t>, “Analysis of </a:t>
            </a:r>
            <a:r>
              <a:rPr lang="en-US" altLang="zh-CN" sz="1400" dirty="0" smtClean="0">
                <a:latin typeface="+mj-lt"/>
              </a:rPr>
              <a:t>DCTCP: Stability</a:t>
            </a:r>
            <a:r>
              <a:rPr lang="en-US" altLang="zh-CN" sz="1400" dirty="0">
                <a:latin typeface="+mj-lt"/>
              </a:rPr>
              <a:t>, Convergence, and Fairness,” in SIGMETRICS, 2011.</a:t>
            </a:r>
            <a:endParaRPr lang="zh-CN" altLang="en-US" sz="1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192508573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Large-scale simulations</a:t>
            </a:r>
          </a:p>
          <a:p>
            <a:pPr lvl="1"/>
            <a:r>
              <a:rPr lang="en-US" altLang="zh-CN" dirty="0" smtClean="0"/>
              <a:t>Large flows</a:t>
            </a:r>
          </a:p>
        </p:txBody>
      </p:sp>
      <p:pic>
        <p:nvPicPr>
          <p:cNvPr id="6" name="图片 5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05375" y="2865629"/>
            <a:ext cx="3781425" cy="2418926"/>
          </a:xfrm>
          <a:prstGeom prst="rect">
            <a:avLst/>
          </a:prstGeom>
        </p:spPr>
      </p:pic>
      <p:pic>
        <p:nvPicPr>
          <p:cNvPr id="7" name="图片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44688" y="2112988"/>
            <a:ext cx="2089687" cy="698381"/>
          </a:xfrm>
          <a:prstGeom prst="rect">
            <a:avLst/>
          </a:prstGeom>
        </p:spPr>
      </p:pic>
      <p:pic>
        <p:nvPicPr>
          <p:cNvPr id="8" name="图片 7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90872" y="2865629"/>
            <a:ext cx="3698640" cy="241892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07163" y="5544470"/>
            <a:ext cx="3219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+mj-lt"/>
              </a:rPr>
              <a:t>Data mining workload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61667" y="5544470"/>
            <a:ext cx="32688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+mj-lt"/>
              </a:rPr>
              <a:t>Web search workload</a:t>
            </a:r>
            <a:endParaRPr lang="zh-CN" altLang="en-US" sz="2400" dirty="0"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42035537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Evaluation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Large-scale simulations</a:t>
            </a:r>
          </a:p>
          <a:p>
            <a:pPr lvl="1"/>
            <a:r>
              <a:rPr lang="en-US" altLang="zh-CN" dirty="0" smtClean="0"/>
              <a:t>Small flows</a:t>
            </a:r>
          </a:p>
        </p:txBody>
      </p:sp>
      <p:pic>
        <p:nvPicPr>
          <p:cNvPr id="7" name="图片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25295" y="1809281"/>
            <a:ext cx="2089687" cy="698381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907163" y="5544470"/>
            <a:ext cx="3219151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+mj-lt"/>
              </a:rPr>
              <a:t>Data mining workload</a:t>
            </a:r>
            <a:endParaRPr lang="zh-CN" altLang="en-US" sz="2400" dirty="0">
              <a:latin typeface="+mj-lt"/>
            </a:endParaRPr>
          </a:p>
        </p:txBody>
      </p:sp>
      <p:sp>
        <p:nvSpPr>
          <p:cNvPr id="10" name="矩形 9"/>
          <p:cNvSpPr/>
          <p:nvPr/>
        </p:nvSpPr>
        <p:spPr>
          <a:xfrm>
            <a:off x="5161667" y="5544470"/>
            <a:ext cx="3268845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400" dirty="0" smtClean="0">
                <a:latin typeface="+mj-lt"/>
              </a:rPr>
              <a:t>Web search workload</a:t>
            </a:r>
            <a:endParaRPr lang="zh-CN" altLang="en-US" sz="2400" dirty="0">
              <a:latin typeface="+mj-lt"/>
            </a:endParaRPr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7665" y="2709673"/>
            <a:ext cx="3719559" cy="242531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977196" y="2709387"/>
            <a:ext cx="3637786" cy="233857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31467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Conclusion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sz="2400" dirty="0" smtClean="0"/>
              <a:t>Reveal the buffer underflow problem caused by</a:t>
            </a:r>
          </a:p>
          <a:p>
            <a:pPr lvl="1"/>
            <a:r>
              <a:rPr lang="en-US" altLang="zh-CN" sz="2000" dirty="0"/>
              <a:t>I</a:t>
            </a:r>
            <a:r>
              <a:rPr lang="en-US" altLang="zh-CN" sz="2000" dirty="0" smtClean="0"/>
              <a:t>nstantaneous-queue-length-based </a:t>
            </a:r>
            <a:r>
              <a:rPr lang="en-US" altLang="zh-CN" sz="2000" dirty="0"/>
              <a:t>ECN marking </a:t>
            </a:r>
            <a:r>
              <a:rPr lang="en-US" altLang="zh-CN" sz="2000" dirty="0" smtClean="0"/>
              <a:t>scheme</a:t>
            </a:r>
          </a:p>
          <a:p>
            <a:pPr lvl="1"/>
            <a:r>
              <a:rPr lang="en-US" altLang="zh-CN" sz="2000" dirty="0"/>
              <a:t>B</a:t>
            </a:r>
            <a:r>
              <a:rPr lang="en-US" altLang="zh-CN" sz="2000" dirty="0" smtClean="0"/>
              <a:t>atching-scheme-induced </a:t>
            </a:r>
            <a:r>
              <a:rPr lang="en-US" altLang="zh-CN" sz="2000" dirty="0"/>
              <a:t>micro-burst </a:t>
            </a:r>
            <a:r>
              <a:rPr lang="en-US" altLang="zh-CN" sz="2000" dirty="0" smtClean="0"/>
              <a:t>traffic</a:t>
            </a:r>
          </a:p>
          <a:p>
            <a:pPr lvl="1"/>
            <a:endParaRPr lang="en-US" altLang="zh-CN" sz="2000" dirty="0" smtClean="0"/>
          </a:p>
          <a:p>
            <a:r>
              <a:rPr lang="en-US" altLang="zh-CN" sz="2400" dirty="0" smtClean="0"/>
              <a:t>Theoretically </a:t>
            </a:r>
            <a:r>
              <a:rPr lang="en-US" altLang="zh-CN" sz="2400" dirty="0"/>
              <a:t>deduce </a:t>
            </a:r>
            <a:r>
              <a:rPr lang="en-US" altLang="zh-CN" sz="2400" dirty="0" smtClean="0"/>
              <a:t>the amplitude of queue </a:t>
            </a:r>
            <a:r>
              <a:rPr lang="en-US" altLang="zh-CN" sz="2400" dirty="0"/>
              <a:t>length </a:t>
            </a:r>
            <a:r>
              <a:rPr lang="en-US" altLang="zh-CN" sz="2400" dirty="0" smtClean="0"/>
              <a:t>oscillations</a:t>
            </a:r>
          </a:p>
          <a:p>
            <a:endParaRPr lang="en-US" altLang="zh-CN" sz="2400" dirty="0" smtClean="0"/>
          </a:p>
          <a:p>
            <a:r>
              <a:rPr lang="en-US" altLang="zh-CN" sz="2400" dirty="0" smtClean="0"/>
              <a:t>CEDM: a simple ECN marking scheme</a:t>
            </a:r>
          </a:p>
          <a:p>
            <a:pPr lvl="1"/>
            <a:r>
              <a:rPr lang="en-US" altLang="zh-CN" sz="2000" dirty="0"/>
              <a:t>E</a:t>
            </a:r>
            <a:r>
              <a:rPr lang="en-US" altLang="zh-CN" sz="2000" dirty="0" smtClean="0"/>
              <a:t>xclude transient queue occupancy </a:t>
            </a:r>
            <a:r>
              <a:rPr lang="en-US" altLang="zh-CN" sz="2000" dirty="0"/>
              <a:t>caused by multiplexing of micro-burst </a:t>
            </a:r>
            <a:r>
              <a:rPr lang="en-US" altLang="zh-CN" sz="2000" dirty="0" smtClean="0"/>
              <a:t>traffic</a:t>
            </a:r>
          </a:p>
          <a:p>
            <a:pPr lvl="1"/>
            <a:r>
              <a:rPr lang="en-US" altLang="zh-CN" sz="2000" dirty="0" smtClean="0"/>
              <a:t>High throughput under low ECN threshold</a:t>
            </a:r>
          </a:p>
        </p:txBody>
      </p:sp>
    </p:spTree>
    <p:extLst>
      <p:ext uri="{BB962C8B-B14F-4D97-AF65-F5344CB8AC3E}">
        <p14:creationId xmlns:p14="http://schemas.microsoft.com/office/powerpoint/2010/main" val="32034754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“q&amp;a”的图片搜索结果"/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936749" y="2268537"/>
            <a:ext cx="4806951" cy="20172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552639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Backup Slide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Average queue length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20898" y="2457450"/>
            <a:ext cx="8569547" cy="335248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4070359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Backup Slide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2:1 oversubscribed network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67504" y="2088830"/>
            <a:ext cx="6009672" cy="2021004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46198" y="4298527"/>
            <a:ext cx="6452283" cy="20211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3342111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Backup Slide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Parameter sensitivity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872" y="2990850"/>
            <a:ext cx="7700364" cy="220010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3644584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zh-CN" dirty="0" smtClean="0"/>
              <a:t>Backup Slide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altLang="zh-CN" dirty="0" smtClean="0"/>
              <a:t>Effective of slope and double threshold</a:t>
            </a:r>
            <a:endParaRPr lang="zh-CN" altLang="en-US" dirty="0"/>
          </a:p>
        </p:txBody>
      </p:sp>
      <p:pic>
        <p:nvPicPr>
          <p:cNvPr id="4" name="图片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65117" y="2278559"/>
            <a:ext cx="5981077" cy="1903070"/>
          </a:xfrm>
          <a:prstGeom prst="rect">
            <a:avLst/>
          </a:prstGeom>
        </p:spPr>
      </p:pic>
      <p:pic>
        <p:nvPicPr>
          <p:cNvPr id="5" name="图片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665117" y="4383277"/>
            <a:ext cx="6081110" cy="19810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5642876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主题1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自定义 1">
      <a:majorFont>
        <a:latin typeface="Comic Sans MS"/>
        <a:ea typeface="宋体"/>
        <a:cs typeface=""/>
      </a:majorFont>
      <a:minorFont>
        <a:latin typeface="Comic Sans MS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主题1" id="{5095AEE2-8EAA-4B6D-9C96-F4A3F850CF54}" vid="{DB6F2196-8AE4-4A7E-983C-D8B4C67EA695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主题1</Template>
  <TotalTime>8438</TotalTime>
  <Words>2679</Words>
  <Application>Microsoft Office PowerPoint</Application>
  <PresentationFormat>全屏显示(4:3)</PresentationFormat>
  <Paragraphs>439</Paragraphs>
  <Slides>38</Slides>
  <Notes>30</Notes>
  <HiddenSlides>0</HiddenSlides>
  <MMClips>0</MMClips>
  <ScaleCrop>false</ScaleCrop>
  <HeadingPairs>
    <vt:vector size="6" baseType="variant">
      <vt:variant>
        <vt:lpstr>已用的字体</vt:lpstr>
      </vt:variant>
      <vt:variant>
        <vt:i4>10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38</vt:i4>
      </vt:variant>
    </vt:vector>
  </HeadingPairs>
  <TitlesOfParts>
    <vt:vector size="49" baseType="lpstr">
      <vt:lpstr>等线</vt:lpstr>
      <vt:lpstr>宋体</vt:lpstr>
      <vt:lpstr>微软雅黑</vt:lpstr>
      <vt:lpstr>Arial</vt:lpstr>
      <vt:lpstr>Bell MT</vt:lpstr>
      <vt:lpstr>Calibri</vt:lpstr>
      <vt:lpstr>Cambria Math</vt:lpstr>
      <vt:lpstr>Comic Sans MS</vt:lpstr>
      <vt:lpstr>Times New Roman</vt:lpstr>
      <vt:lpstr>Wingdings</vt:lpstr>
      <vt:lpstr>主题1</vt:lpstr>
      <vt:lpstr>Improving ECN Marking Scheme with Micro-burst Traffic in Data Center Networks</vt:lpstr>
      <vt:lpstr>Outline</vt:lpstr>
      <vt:lpstr>Data Center Networks</vt:lpstr>
      <vt:lpstr>Data Center Networks</vt:lpstr>
      <vt:lpstr>Data Center Networks</vt:lpstr>
      <vt:lpstr>ECN Marking in DCN</vt:lpstr>
      <vt:lpstr>Buffer Underflow Problem</vt:lpstr>
      <vt:lpstr>Buffer Underflow Problem</vt:lpstr>
      <vt:lpstr>Buffer Underflow Problem</vt:lpstr>
      <vt:lpstr>Buffer Underflow Problem</vt:lpstr>
      <vt:lpstr>Brief Summary</vt:lpstr>
      <vt:lpstr>Outline</vt:lpstr>
      <vt:lpstr>Analysis</vt:lpstr>
      <vt:lpstr>Analysis</vt:lpstr>
      <vt:lpstr>Analysis</vt:lpstr>
      <vt:lpstr>Outline</vt:lpstr>
      <vt:lpstr>What Can We Do?</vt:lpstr>
      <vt:lpstr>Queue Composition</vt:lpstr>
      <vt:lpstr>Queue Composition</vt:lpstr>
      <vt:lpstr>Basic Idea</vt:lpstr>
      <vt:lpstr>Basic Idea</vt:lpstr>
      <vt:lpstr>Our Solution: CEDM</vt:lpstr>
      <vt:lpstr>Our Solution: CEDM</vt:lpstr>
      <vt:lpstr>Outline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Evaluation</vt:lpstr>
      <vt:lpstr>Conclusion</vt:lpstr>
      <vt:lpstr>PowerPoint 演示文稿</vt:lpstr>
      <vt:lpstr>Backup Slide</vt:lpstr>
      <vt:lpstr>Backup Slide</vt:lpstr>
      <vt:lpstr>Backup Slide</vt:lpstr>
      <vt:lpstr>Backup Slide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df shan</dc:creator>
  <cp:lastModifiedBy>a registor</cp:lastModifiedBy>
  <cp:revision>1351</cp:revision>
  <dcterms:created xsi:type="dcterms:W3CDTF">2017-03-09T02:08:27Z</dcterms:created>
  <dcterms:modified xsi:type="dcterms:W3CDTF">2017-05-04T15:17:49Z</dcterms:modified>
</cp:coreProperties>
</file>